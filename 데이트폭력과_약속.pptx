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44f97d95-1922-52e4-aaa8-a8d1ee956f30}">
          <p14:sldIdLst>
            <p14:sldId id="256"/>
            <p14:sldId id="257"/>
            <p14:sldId id="258"/>
          </p14:sldIdLst>
        </p14:section>
        <p14:section name="1. 목적·정의·필요성" id="{18b436b5-fd58-60cc-88cf-6c391d7d76b0}">
          <p14:sldIdLst>
            <p14:sldId id="259"/>
            <p14:sldId id="260"/>
            <p14:sldId id="261"/>
          </p14:sldIdLst>
        </p14:section>
        <p14:section name="2. 늘어나는 이유" id="{465347b6-4626-c19c-fff0-045504929de8}">
          <p14:sldIdLst>
            <p14:sldId id="262"/>
            <p14:sldId id="263"/>
            <p14:sldId id="264"/>
            <p14:sldId id="265"/>
            <p14:sldId id="266"/>
          </p14:sldIdLst>
        </p14:section>
        <p14:section name="3. 폭력 유형" id="{16559b1a-3576-622d-52f0-59e822277047}">
          <p14:sldIdLst>
            <p14:sldId id="267"/>
            <p14:sldId id="268"/>
            <p14:sldId id="269"/>
            <p14:sldId id="270"/>
            <p14:sldId id="271"/>
            <p14:sldId id="272"/>
            <p14:sldId id="273"/>
            <p14:sldId id="274"/>
          </p14:sldIdLst>
        </p14:section>
        <p14:section name="4. 대처·예방·신고" id="{83bf1b72-d5b1-68aa-ee92-e0280b330560}">
          <p14:sldIdLst>
            <p14:sldId id="275"/>
            <p14:sldId id="276"/>
            <p14:sldId id="277"/>
            <p14:sldId id="278"/>
          </p14:sldIdLst>
        </p14:section>
        <p14:section name="5. 노력과 다짐" id="{15bb7baf-6b49-67da-49a9-10c6912bd563}">
          <p14:sldIdLst>
            <p14:sldId id="279"/>
            <p14:sldId id="280"/>
            <p14:sldId id="281"/>
          </p14:sldIdLst>
        </p14:section>
        <p14:section name="6. 참고 영상" id="{bcc11a10-a502-d568-031a-8d5175708d22}">
          <p14:sldIdLst>
            <p14:sldId id="282"/>
          </p14:sldIdLst>
        </p14:section>
        <p14:section name="7. 내가 강사라면" id="{e9ce4703-e6fa-a833-eaa1-23482f46705b}">
          <p14:sldIdLst>
            <p14:sldId id="283"/>
          </p14:sldIdLst>
        </p14:section>
        <p14:section name="마무리" id="{4125908a-d27c-e5a3-b5c6-3d988b19cd57}">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4A1D3F"/>
                </a:solidFill>
                <a:latin typeface="+mn-lt"/>
              </a:defRPr>
            </a:pPr>
            <a:r>
              <a:rPr sz="1400" b="0" i="0" u="none" strike="noStrike">
                <a:solidFill>
                  <a:srgbClr val="4A1D3F"/>
                </a:solidFill>
                <a:latin typeface="+mn-lt"/>
              </a:rPr>
              <a:t>교제(데이트)폭력 검거 인원 (명)</a:t>
            </a:r>
          </a:p>
        </c:rich>
      </c:tx>
      <c:layout/>
      <c:overlay val="0"/>
    </c:title>
    <c:autoTitleDeleted val="0"/>
    <c:plotArea>
      <c:layout/>
      <c:lineChart>
        <c:varyColors val="0"/>
        <c:ser>
          <c:idx val="0"/>
          <c:order val="0"/>
          <c:tx>
            <c:strRef>
              <c:f>Sheet1!$B$1</c:f>
              <c:strCache>
                <c:ptCount val="1"/>
                <c:pt idx="0">
                  <c:v>검거 인원</c:v>
                </c:pt>
              </c:strCache>
            </c:strRef>
          </c:tx>
          <c:spPr>
            <a:solidFill>
              <a:srgbClr val="4A1D3F"/>
            </a:solidFill>
            <a:ln w="38100" cap="flat">
              <a:solidFill>
                <a:srgbClr val="4A1D3F"/>
              </a:solidFill>
              <a:prstDash val="solid"/>
              <a:round/>
            </a:ln>
            <a:effectLst/>
          </c:spPr>
          <c:invertIfNegative val="0"/>
          <c:dLbls>
            <c:numFmt formatCode="#,##0" sourceLinked="0"/>
            <c:txPr>
              <a:bodyPr/>
              <a:lstStyle/>
              <a:p>
                <a:pPr>
                  <a:defRPr b="0" i="0" strike="noStrike" sz="1000" u="none">
                    <a:solidFill>
                      <a:srgbClr val="2B1B2E"/>
                    </a:solidFill>
                    <a:latin typeface="+mn-lt"/>
                  </a:defRPr>
                </a:pPr>
              </a:p>
            </c:txPr>
            <c:dLblPos val="t"/>
            <c:showLegendKey val="0"/>
            <c:showVal val="1"/>
            <c:showCatName val="0"/>
            <c:showSerName val="0"/>
            <c:showPercent val="0"/>
            <c:showBubbleSize val="0"/>
            <c:showLeaderLines val="0"/>
          </c:dLbls>
          <c:marker>
            <c:symbol val="circle"/>
            <c:size val="8"/>
            <c:spPr>
              <a:solidFill>
                <a:srgbClr val="4A1D3F"/>
              </a:solidFill>
              <a:ln w="9525" cap="flat">
                <a:solidFill>
                  <a:srgbClr val="4A1D3F"/>
                </a:solidFill>
                <a:prstDash val="solid"/>
                <a:round/>
              </a:ln>
              <a:effectLst/>
            </c:spPr>
          </c:marker>
          <c:cat>
            <c:multiLvlStrRef>
              <c:f>Sheet1!$A$2:$A$11</c:f>
              <c:multiLvlStrCache>
                <c:ptCount val="10"/>
                <c:lvl>
                  <c:pt idx="0">
                    <c:v>2016</c:v>
                  </c:pt>
                  <c:pt idx="1">
                    <c:v>2017</c:v>
                  </c:pt>
                  <c:pt idx="2">
                    <c:v>2018</c:v>
                  </c:pt>
                  <c:pt idx="3">
                    <c:v>2019</c:v>
                  </c:pt>
                  <c:pt idx="4">
                    <c:v>2020</c:v>
                  </c:pt>
                  <c:pt idx="5">
                    <c:v>2021</c:v>
                  </c:pt>
                  <c:pt idx="6">
                    <c:v>2022</c:v>
                  </c:pt>
                  <c:pt idx="7">
                    <c:v>2023</c:v>
                  </c:pt>
                  <c:pt idx="8">
                    <c:v>2024</c:v>
                  </c:pt>
                  <c:pt idx="9">
                    <c:v>2025</c:v>
                  </c:pt>
                </c:lvl>
              </c:multiLvlStrCache>
            </c:multiLvlStrRef>
          </c:cat>
          <c:val>
            <c:numRef>
              <c:f>Sheet1!$B$2:$B$11</c:f>
              <c:numCache>
                <c:formatCode>General</c:formatCode>
                <c:ptCount val="10"/>
                <c:pt idx="0">
                  <c:v>8367</c:v>
                </c:pt>
                <c:pt idx="1">
                  <c:v>10303</c:v>
                </c:pt>
                <c:pt idx="2">
                  <c:v>10245</c:v>
                </c:pt>
                <c:pt idx="3">
                  <c:v>9858</c:v>
                </c:pt>
                <c:pt idx="4">
                  <c:v>8951</c:v>
                </c:pt>
                <c:pt idx="5">
                  <c:v>10975</c:v>
                </c:pt>
                <c:pt idx="6">
                  <c:v>12828</c:v>
                </c:pt>
                <c:pt idx="7">
                  <c:v>13921</c:v>
                </c:pt>
                <c:pt idx="8">
                  <c:v>14900</c:v>
                </c:pt>
                <c:pt idx="9">
                  <c:v>14526</c:v>
                </c:pt>
              </c:numCache>
            </c:numRef>
          </c:val>
          <c:smooth val="0"/>
        </c:ser>
        <c:dLbls>
          <c:numFmt formatCode="#,##0" sourceLinked="0"/>
          <c:txPr>
            <a:bodyPr/>
            <a:lstStyle/>
            <a:p>
              <a:pPr>
                <a:defRPr b="0" i="0" strike="noStrike" sz="1000" u="none">
                  <a:solidFill>
                    <a:srgbClr val="2B1B2E"/>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A6C80"/>
                </a:solidFill>
                <a:latin typeface="+mn-lt"/>
              </a:defRPr>
            </a:pPr>
            <a:endParaRPr lang="en-US"/>
          </a:p>
        </c:txPr>
        <c:crossAx val="2094734552"/>
        <c:crosses val="autoZero"/>
        <c:auto val="1"/>
        <c:lblAlgn val="ctr"/>
        <c:noMultiLvlLbl val="1"/>
      </c:catAx>
      <c:valAx>
        <c:axId val="2094734552"/>
        <c:scaling>
          <c:orientation val="minMax"/>
          <c:min val="6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A6C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1D3F"/>
                </a:solidFill>
                <a:latin typeface="+mn-lt"/>
              </a:defRPr>
            </a:pPr>
            <a:r>
              <a:rPr sz="1300" b="0" i="0" u="none" strike="noStrike">
                <a:solidFill>
                  <a:srgbClr val="4A1D3F"/>
                </a:solidFill>
                <a:latin typeface="+mn-lt"/>
              </a:rPr>
              <a:t>교제폭력 112 신고 (건)</a:t>
            </a:r>
          </a:p>
        </c:rich>
      </c:tx>
      <c:layout/>
      <c:overlay val="0"/>
    </c:title>
    <c:autoTitleDeleted val="0"/>
    <c:plotArea>
      <c:layout/>
      <c:barChart>
        <c:barDir val="col"/>
        <c:grouping val="clustered"/>
        <c:varyColors val="0"/>
        <c:ser>
          <c:idx val="0"/>
          <c:order val="0"/>
          <c:tx>
            <c:strRef>
              <c:f>Sheet1!$B$1</c:f>
              <c:strCache>
                <c:ptCount val="1"/>
                <c:pt idx="0">
                  <c:v>112 신고</c:v>
                </c:pt>
              </c:strCache>
            </c:strRef>
          </c:tx>
          <c:spPr>
            <a:solidFill>
              <a:srgbClr val="E8505B"/>
            </a:solidFill>
            <a:effectLst/>
          </c:spPr>
          <c:invertIfNegative val="0"/>
          <c:dLbls>
            <c:numFmt formatCode="#,##0" sourceLinked="0"/>
            <c:txPr>
              <a:bodyPr/>
              <a:lstStyle/>
              <a:p>
                <a:pPr>
                  <a:defRPr b="0" i="0" strike="noStrike" sz="1100" u="none">
                    <a:solidFill>
                      <a:srgbClr val="2B1B2E"/>
                    </a:solidFill>
                    <a:latin typeface="+mn-lt"/>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57305</c:v>
                </c:pt>
                <c:pt idx="1">
                  <c:v>70790</c:v>
                </c:pt>
                <c:pt idx="2">
                  <c:v>77150</c:v>
                </c:pt>
                <c:pt idx="3">
                  <c:v>88394</c:v>
                </c:pt>
                <c:pt idx="4">
                  <c:v>105327</c:v>
                </c:pt>
              </c:numCache>
            </c:numRef>
          </c:val>
        </c:ser>
        <c:dLbls>
          <c:numFmt formatCode="#,##0" sourceLinked="0"/>
          <c:txPr>
            <a:bodyPr/>
            <a:lstStyle/>
            <a:p>
              <a:pPr>
                <a:defRPr b="0" i="0" strike="noStrike" sz="1100" u="none">
                  <a:solidFill>
                    <a:srgbClr val="2B1B2E"/>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7A6C8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A6C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1D3F"/>
                </a:solidFill>
                <a:latin typeface="+mn-lt"/>
              </a:defRPr>
            </a:pPr>
            <a:r>
              <a:rPr sz="1300" b="0" i="0" u="none" strike="noStrike">
                <a:solidFill>
                  <a:srgbClr val="4A1D3F"/>
                </a:solidFill>
                <a:latin typeface="+mn-lt"/>
              </a:rPr>
              <a:t>교제폭력으로 검거된 10대 (명)</a:t>
            </a:r>
          </a:p>
        </c:rich>
      </c:tx>
      <c:layout/>
      <c:overlay val="0"/>
    </c:title>
    <c:autoTitleDeleted val="0"/>
    <c:plotArea>
      <c:layout/>
      <c:barChart>
        <c:barDir val="col"/>
        <c:grouping val="clustered"/>
        <c:varyColors val="0"/>
        <c:ser>
          <c:idx val="0"/>
          <c:order val="0"/>
          <c:tx>
            <c:strRef>
              <c:f>Sheet1!$B$1</c:f>
              <c:strCache>
                <c:ptCount val="1"/>
                <c:pt idx="0">
                  <c:v>10대 검거</c:v>
                </c:pt>
              </c:strCache>
            </c:strRef>
          </c:tx>
          <c:spPr>
            <a:solidFill>
              <a:srgbClr val="4A1D3F"/>
            </a:solidFill>
            <a:effectLst/>
          </c:spPr>
          <c:invertIfNegative val="0"/>
          <c:dLbls>
            <c:numFmt formatCode="#,##0" sourceLinked="0"/>
            <c:txPr>
              <a:bodyPr/>
              <a:lstStyle/>
              <a:p>
                <a:pPr>
                  <a:defRPr b="0" i="0" strike="noStrike" sz="1400" u="none">
                    <a:solidFill>
                      <a:srgbClr val="2B1B2E"/>
                    </a:solidFill>
                    <a:latin typeface="+mn-lt"/>
                  </a:defRPr>
                </a:pPr>
              </a:p>
            </c:txPr>
            <c:showLegendKey val="0"/>
            <c:showVal val="1"/>
            <c:showCatName val="0"/>
            <c:showSerName val="0"/>
            <c:showPercent val="0"/>
            <c:showBubbleSize val="0"/>
            <c:showLeaderLines val="0"/>
          </c:dLbls>
          <c:cat>
            <c:multiLvlStrRef>
              <c:f>Sheet1!$A$2:$A$3</c:f>
              <c:multiLvlStrCache>
                <c:ptCount val="2"/>
                <c:lvl>
                  <c:pt idx="0">
                    <c:v>2020</c:v>
                  </c:pt>
                  <c:pt idx="1">
                    <c:v>2024</c:v>
                  </c:pt>
                </c:lvl>
              </c:multiLvlStrCache>
            </c:multiLvlStrRef>
          </c:cat>
          <c:val>
            <c:numRef>
              <c:f>Sheet1!$B$2:$B$3</c:f>
              <c:numCache>
                <c:formatCode>General</c:formatCode>
                <c:ptCount val="2"/>
                <c:pt idx="0">
                  <c:v>280</c:v>
                </c:pt>
                <c:pt idx="1">
                  <c:v>626</c:v>
                </c:pt>
              </c:numCache>
            </c:numRef>
          </c:val>
        </c:ser>
        <c:dLbls>
          <c:numFmt formatCode="#,##0" sourceLinked="0"/>
          <c:txPr>
            <a:bodyPr/>
            <a:lstStyle/>
            <a:p>
              <a:pPr>
                <a:defRPr b="0" i="0" strike="noStrike" sz="1400" u="none">
                  <a:solidFill>
                    <a:srgbClr val="2B1B2E"/>
                  </a:solidFill>
                  <a:latin typeface="+mn-lt"/>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7A6C8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A6C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[도입 1분] 자기소개. 오늘 주제는 ‘사귀는 사이에서 일어나는 폭력’과 ‘관계에서 지켜야 할 약속’입니다. 연애 경험이 없어도 친구·형제의 일로 마주칠 수 있는 주제라고 소개합니다.
교육 목표: ① 교제폭력의 유형·신호와 법을 안다 ② 통제는 사랑이 아니라는 태도를 갖는다 ③ 피해·목격 시 대처하고 도움을 요청할 수 있다.
50분 구성: 도입 5분 / 정의·현실·유형 15분 / 사례·대처·신고 20분 / 관계 기술·다짐 10분.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[도입 2분] 트라우마를 고려한 안내입니다. 교실 안에 실제 피해·가해 경험이 있는 학생이 있다고 전제하세요.
강사 유의사항
- 피해 경험을 공개적으로 말하게 하거나 손을 들게 하지 않습니다.
- ‘왜 안 헤어졌어?’ 같은 피해자 비난, ‘남자는/여자는’ 같은 성별 대결 표현을 쓰지 않습니다.
- 학생이 피해를 털어놓으면 비밀 보장을 약속하지 말고 학교의 신고의무자(교원)·상담교사에게 즉시 연계합니다(청소년성보호법 제34조: 학교의 장과 종사자는 아동·청소년대상 성범죄를 알게 되면 즉시 신고).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[도입] 시간이 부족하면 3장의 활동과 6장 영상을 줄이고, 4장(대처·신고)은 반드시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[1장 2분] 법적 근거: 성폭력방지법 제5조 — 국가기관·지자체·각급 학교 등은 성교육·성폭력 예방교육을 매년 실시해야 합니다. 학교폭력예방법 제2조는 학생 대상 성폭력·사이버폭력을 학교폭력에 포함합니다.
첫 연애를 시작하는 시기에 관계의 기준이 만들어지기 때문에 학교에서의 교육이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[1장 2분] 교제폭력은 법률 용어가 아니라 ‘친밀한 관계에서의 폭력’을 가리키는 말입니다. WHO는 ‘친밀한 파트너 폭력(IPV)’으로 정의하며 신체·성적·심리적 피해와 통제 행동을 함께 포함합니다.
성폭력은 상대의 동의 없이 성적 행위를 하거나 강요해 피해를 주는 모든 행위로 불법촬영·딥페이크 등 디지털 성범죄를 포함합니다.
핵심: 폭력은 화가 나서 ‘터지는’ 것이 아니라 상대를 통제하기 위해 ‘사용’됩니다.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[1장 3분] 동의는 ‘거절하지 않음’이 아니라 ‘적극적인 예’입니다. 침묵·망설임·취하거나 잠든 상태는 동의가 아닙니다.
법 기준(보호의 관점으로 설명): 13세 미만은 동의와 관계없이 처벌(형법 제305조 제1항). 13~16세 미만은 상대가 19세 이상 성인이면 동의해도 처벌(제305조 제2항, 2020년 신설·헌재 합헌) — 성인의 그루밍으로부터 청소년을 보호하기 위한 조항입니다.
청소년의 성적 사진·영상은 스스로 찍어 보냈어도 성착취물이며, 요구해 찍게 한 것도 ‘제작’으로 처벌됩니다.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 3분] 왼쪽: 10년간 검거 인원. 2016~2020년은 ‘데이트폭력’, 2021년부터는 ‘교제폭력’으로 집계됐고 2022년부터는 형사입건자만 집계해 실제 규모는 더 클 수 있습니다. 2020년은 자료에 따라 8,951~8,982명으로 보도됩니다. 2020년 소폭 감소 뒤 다시 꾸준히 늘었습니다.
오른쪽: 112 신고는 5년 만에 1.84배(57,305 → 105,327건), 하루 약 289건. 신고는 크게 늘었지만 검거는 1만 명대에 머물러 신고 대비 검거율은 13.8%입니다.
신고 증가는 폭력 증가와 신고 인식 향상이 함께 반영된 결과라는 점을 균형 있게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 2분] WHO 생태학적 모델처럼 원인을 개인·관계·또래·사회 여러 층에서 봅니다.
- 스마트폰: 위치 공유, 메시지 감시, 불법촬영까지 24시간 통제가 쉬워졌습니다.
- 착각: 질투·집착을 사랑의 증거로 여기는 문화와 미디어.
- 약한 처벌: 구속률 2%대, 신고의 절반 이상이 현장 종결.
- 신고 인식: ‘개인 문제’가 아닌 범죄라는 인식으로 숨은 피해가 드러남.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 2분] 54.4%: 2023년 교제폭력 신고 중 정식 사건이 되지 못하고 현장에서 끝난 비율(국회입법조사처). 2.2%: 최근 5년 검거 5만 6,079명 중 구속 비율. 411명: 2025년 10번 이상 다시 신고한 피해자.
이유는 ‘반의사불벌’: 교제폭력은 별도 법이 없어 폭행·협박죄로 처리되는데, 이 죄들은 피해자가 처벌을 원치 않으면 처벌할 수 없습니다. 가해자의 회유·협박으로 합의가 이뤄지고 폭력이 반복됩니다. 국회에는 교제폭력 특례법안 4건, 가정폭력처벌법 전부개정안 3건이 계류 중입니다(2026.10).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 2분] 10대는 교제폭력 검거 인원이 2020년 이후 매년 늘어난 유일한 연령대입니다(2022년부터 형사입건자만 집계).
딥페이크 성범죄 피의자 61.8%가 10대(2024.11~2025.10 경찰 집중단속 1,449명). ‘장난’, ‘호기심’이어도 2024년 10월부터 소지·시청만으로 처벌됩니다. 14세 미만 촉법소년도 보호처분 대상입니다.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 2분] 성평등가족부 「2025 가정폭력 실태조사」: 배우자·동거 파트너와 헤어진 여성 59.6%가 이별 전후 폭력을, 29.1%가 스토킹을 겪었고, 피해자의 80.9%는 누구에게도 도움을 요청하지 않았습니다. 성인 대상 조사이지만 ‘이별 시기에 폭력이 집중된다’는 패턴은 교제살인 사건에서도 반복됩니다. 상대를 소유로 여기는 사람에게 이별은 통제를 잃는 순간이기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2분] 예시를 하나씩 읽어 주며 ‘이것도 폭력인가?’ 반응을 살핍니다. 신체적 폭력만 폭력이 아니라는 점이 핵심입니다.
신체: 때리기, 밀치기, 물건 던지기 / 언어·정서: 욕설, 무시, ‘헤어지면 죽겠다’ 협박 / 성적: 원치 않는 스킨십·성관계 강요 / 통제·감시: 휴대폰 검사, 위치 공유 강요, 옷차림·친구 간섭 / 경제: 돈 빌리고 안 갚기, 비용 떠넘기기 / 디지털·스토킹: 사진 유포 협박, 몰래 촬영, 계속 연락·찾아오기.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2분] 덜루스(Duluth) 가정폭력개입프로젝트의 ‘권력과 통제의 바퀴’를 청소년 교제 상황에 맞게 재구성했습니다. 바퀴살(일상의 통제)은 하나하나 사소해 보이지만 함께 굴러가며 상대의 자유를 빼앗습니다. 테두리(신체·성적 폭력)는 가끔 일어나도 ‘또 그럴 수 있다’는 두려움으로 통제 전체를 단단하게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2분] ‘강압적 통제(coercive control, Stark 2007)’: 때리지 않아도 감시·고립·위협·모욕을 반복해 상대의 자유를 빼앗는 패턴입니다. 영국은 2015년 중대범죄법 제76조로 범죄화했고(최대 징역 5년), 한국은 아직 도입되지 않았습니다.
질문: ‘이 중 들어 본 말이 있나요? (손들지 말고 마음속으로만)’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3분] 청소년 교제폭력은 스마트폰을 통해 24시간 이어집니다.
법: 청소년 성적 촬영물 제작(요구해 찍게 한 경우 포함) 무기 또는 5년 이상 / 구입·소지·시청 1년 이상(청소년성보호법 §11) / 딥페이크 제작·유포 7년 이하, 소지·시청 3년 이하(성폭력처벌법 §14의2, 2024.10) / 촬영물 이용 협박 1년 이상(§14의3).
피해 학생이 ‘내가 보냈으니 내 잘못’이라고 생각하지 않도록, 책임은 요구·유포한 사람에게 있다고 반드시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2분] 레노어 워커(Walker, 1979)의 ‘폭력의 순환’. ‘왜 안 헤어져?’라는 질문이 피해자를 탓하는 말이 될 수 있는 이유를 설명합니다. 화해기에 ‘이제 변했다’고 믿게 되면서 순환이 반복되고, 반복될수록 폭력은 더 잦고 심해집니다. 모든 관계가 이 순서대로 움직이지는 않는다는 점도 덧붙이세요.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5분 활동] 짝 또는 모둠별로 ‘폭력이다 / 아니다 / 모르겠다’를 고르고 이유를 말하게 합니다.
해설 — A: 감시·통제(디지털 교제폭력). B: 고립시키기·정서적 학대(서운함 표현과 금지·처벌은 다름). C: 성적 강요 — 사귀는 사이여도 동의 없는 스킨십은 성폭력. D: 촬영물 유포 협박 — 올리지 않아도 협박만으로 범죄이며 청소년 촬영물이면 처벌이 더 무겁습니다.
판단 기준: ① 상대가 두려워하거나 눈치를 보는가 ② 선택의 자유를 빼앗는가 ③ 반복되는가.
실제 경험 공유를 요구하지 마세요. 모든 상황은 교육용 가상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2분] 실제 사건은 범행 수법을 묘사하지 않고 피해자 실명·사진을 쓰지 않습니다(2차 피해 방지).
법원은 피해자 가족의 소송으로 자신의 학적이 위태로워질까 봐 범행을 결심한 것으로 판단했습니다. 2심은 계획성과 잔혹성을 들어 형을 늘렸습니다.
질문: ‘헤어지자는 말을 꺼내기 전에 어떤 준비를 하면 안전할까요?’ → 안전한 이별 수칙으로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[3장 2분] 법원은 살인의 고의를 인정하지 않고 상해치사를 적용했습니다. 교제폭력 전용 양형기준이 없어 상해치사 기준(기본 3~5년, 가중 4~8년)으로 판단된다는 비판이 나왔고, 교제폭력처벌법 제정 요구로 이어졌습니다. 피해자가 학생들과 가까운 나이였다는 점을 짚되, 공포감보다 ‘폭력은 반복되며 심해진다’는 순환 모델과 연결하세요.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[4장 2분] 핵심은 ‘혼자 감당하지 않기’. 증거는 신고 여부를 나중에 정하더라도 미리 남겨 두면 선택지가 넓어집니다. 날짜가 보이게 캡처, 대화방은 나가지 않기, 원본 파일 보관·백업, 진단서·상처 사진, 날짜별 기록. 디지털 성범죄는 1366·디성센터에 삭제 지원을 요청할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[4장 3분] 방관자 개입(5D, Right To Be): 직접 맞서지 않아도 안전한 방법이 다섯 가지 있다는 것이 핵심. 직접 말하기는 나와 친구가 안전할 때만.
2차 피해가 되는 말: ‘왜 아직도 안 헤어졌어?’, ‘네가 먼저 뭐라 했겠지’, 단톡방에 소문내기, 가해자에게 직접 따지러 가기(여성폭력방지기본법 제3조의 2차 피해).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[4장 2분] 흐름을 보여 주어 신고에 대한 막연한 두려움을 줄입니다.
학생 간 폭력·성폭력·사이버폭력은 학교폭력예방법상 학교폭력에 해당해 학교 절차(교육지원청 학교폭력대책심의위원회)와 수사가 함께 진행될 수 있습니다. 피해 학생 보호조치: 심리상담, 일시보호, 학급 교체 등. 신고자 비밀은 보호됩니다.
스토킹처벌법: 긴급응급조치(즉시 접근금지), 잠정조치(100m 접근금지, 연락 금지, 전자발찌, 유치). 2026년 제주 사건처럼 신고 후에도 위험이 이어질 수 있으므로 보호조치를 적극 요청하도록 안내합니다.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[4장 1분] 휴대폰에 번호를 저장할 시간을 줍니다. 문자 신고(112, #0117)는 말하기 어려운 상황에서 쓸 수 있고, 모든 기관은 익명 상담이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[5장 4분] ‘하지 마라’보다 ‘이렇게 하자’를 연습시킵니다.
① 나-전달법: 상황 + 내 감정 + 부탁. ‘너는 왜 맨날 연락이 없어?’ → ‘연락이 없으면 나는 걱정돼. 늦으면 미리 말해 줄래?’ (짝과 1분 연습)
② 경계 말하기: ‘비밀번호는 공유하고 싶지 않아. 너를 못 믿어서가 아니야.’
③ 안전한 이별: 사람 많은 공개 장소에서, 만나기 전 친구·보호자에게 알리기, ‘마지막으로 한 번만’ 단둘이 만남 거절, 협박 메시지는 지우지 말고 보관, 위협이 있으면 112·117.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[5장 2분] 개인 활동. 점수를 발표하지 않습니다. 체크하지 못한 항목은 ‘나쁜 사람’이라는 뜻이 아니라 ‘연습이 필요한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[5장 2분] 마음속으로 읽거나 학습지로 배부해 서명하게 할 수 있습니다. 강제로 낭독시키지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[6장 5분] 시간에 맞춰 1편만 상영합니다(권장: ①). 시청 전에 아래 질문을 먼저 보여 주세요. ②는 실제 사건 보도이므로 시청 전 내용 안내(트리거 주의)를 합니다. 수업 전 링크 재생 여부를 반드시 확인하세요. ①은 성평등가족부 교육자료실에서 제목으로 검색합니다.
추가 질문: 피해자가 바로 도움을 요청하지 못한 이유는? 내가 친구라면 5D 중 무엇을 할 수 있을까?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[7장 3분] AI(Claude)에게 ‘네가 성폭력 예방강사라면 학생들에게 무엇을 가르치고 싶냐’고 물은 답을 정리했습니다.
1. 사랑은 묻는 것 — 좋아할수록 더 자주 묻고, ‘싫어’를 들었을 때 멈추는 것이 존중의 시작.
2. 걱정의 얼굴을 한 통제를 알아보기 — 감시·집착은 ‘사랑해서’라는 말과 함께 옵니다.
3. “네 잘못이 아니야” — 피해를 말한 친구에게 가장 먼저 해야 할 말.
4. 친구의 한마디가 지킨다 — 피해자 80%가 도움을 청하지 못합니다. 먼저 묻는 한 사람이 되기.
5. 잘 헤어지는 것도 사랑 — 이별을 받아들이는 연습이 가장 위험한 순간을 막습니다.
발표자 본인의 생각을 한 가지 덧붙여 마무리하면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 1분] 마지막 메시지와 도움 번호를 다시 안내합니다. 개별 상담을 원하는 학생은 담임·상담교사와 연계하고, 피해 사실을 들었다면 학교 신고의무자에게 즉시 전달합니다(청소년성보호법 제34조). 가능하면 사전·사후 간단 설문으로 인식 변화를 확인하세요.
참고 자료: 경찰청 교제폭력·스토킹 통계(박정현 의원실 2026, 이은주 의원실 2021) / 성평등가족부 「2025 성폭력 안전실태조사」「2025 가정폭력 실태조사」 / 여성가족부 「2024 디지털성범죄 피해지원 보고서」 / 한국여성의전화 「2024 분노의 게이지」 / 경찰청 국가수사본부 딥페이크 집중단속(2025.11) / 국회입법조사처 / WHO(2002) / Stark(2007) / Walker(1979) / DAIP Duluth 모델 / 형법·청소년성보호법·성폭력처벌법·스토킹처벌법·학교폭력예방법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1" type="title" hasCustomPrompt="1"/>
          </p:nvPr>
        </p:nvSpPr>
        <p:spPr>
          <a:xfrm>
            <a:off x="731520" y="2103120"/>
            <a:ext cx="1069848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731520" y="3474720"/>
            <a:ext cx="10698480" cy="731520"/>
          </a:xfrm>
          <a:prstGeom prst="rect">
            <a:avLst/>
          </a:prstGeom>
          <a:noFill/>
          <a:ln/>
        </p:spPr>
        <p:txBody>
          <a:bodyPr wrap="square" rtlCol="0"/>
          <a:lstStyle>
            <a:lvl1pPr algn="l" indent="0" marL="0">
              <a:buNone/>
              <a:defRPr lang="en-US" sz="2200" dirty="0">
                <a:solidFill>
                  <a:schemeClr val="accent3"/>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448495" y="0"/>
            <a:ext cx="2743200" cy="2057400"/>
          </a:xfrm>
          <a:prstGeom prst="rect">
            <a:avLst/>
          </a:prstGeom>
        </p:spPr>
      </p:pic>
      <p:sp>
        <p:nvSpPr>
          <p:cNvPr id="3" name="Text 0"/>
          <p:cNvSpPr/>
          <p:nvPr>
            <p:ph idx="101" type="title" hasCustomPrompt="1"/>
          </p:nvPr>
        </p:nvSpPr>
        <p:spPr>
          <a:xfrm>
            <a:off x="548640" y="365760"/>
            <a:ext cx="96926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4" name="Text 0"/>
          <p:cNvSpPr/>
          <p:nvPr/>
        </p:nvSpPr>
        <p:spPr>
          <a:xfrm>
            <a:off x="548640" y="6355080"/>
            <a:ext cx="5486400" cy="320040"/>
          </a:xfrm>
          <a:prstGeom prst="rect">
            <a:avLst/>
          </a:prstGeom>
          <a:noFill/>
          <a:ln/>
        </p:spPr>
        <p:txBody>
          <a:bodyPr wrap="square" lIns="0" tIns="0" rIns="0" bIns="0" rtlCol="0" anchor="ctr"/>
          <a:lstStyle/>
          <a:p>
            <a:pPr indent="0" marL="0">
              <a:buNone/>
            </a:pPr>
            <a:r>
              <a:rPr lang="en-US" sz="1000" dirty="0">
                <a:solidFill>
                  <a:schemeClr val="accent6"/>
                </a:solidFill>
              </a:rPr>
              <a:t>데이트(교제)폭력과 약속 · 성폭력예방교육</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4.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image-7-1.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4.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4.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4.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4.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4.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4.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4.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shp.mogef.go.kr/shp/front/usr/search/selectEduContentsSubAjax.do" TargetMode="External"/><Relationship Id="rId5" Type="http://schemas.openxmlformats.org/officeDocument/2006/relationships/hyperlink" Target="https://www.youtube.com/watch?v=huUTDSiDpM8" TargetMode="External"/><Relationship Id="rId7" Type="http://schemas.openxmlformats.org/officeDocument/2006/relationships/hyperlink" Target="https://news.seoul.go.kr/welfare/archives/tag/%eb%8d%b0%ec%9d%b4%ed%8a%b8%ed%8f%ad%eb%a0%a5" TargetMode="External"/><Relationship Id="rId1" Type="http://schemas.openxmlformats.org/officeDocument/2006/relationships/image" Target="../media/image-27-1.png"/><Relationship Id="rId2" Type="http://schemas.openxmlformats.org/officeDocument/2006/relationships/image" Target="../media/image-27-2.png"/><Relationship Id="rId4" Type="http://schemas.openxmlformats.org/officeDocument/2006/relationships/image" Target="../media/image-27-3.png"/><Relationship Id="rId6" Type="http://schemas.openxmlformats.org/officeDocument/2006/relationships/image" Target="../media/image-27-4.png"/><Relationship Id="rId8" Type="http://schemas.openxmlformats.org/officeDocument/2006/relationships/image" Target="../media/image-27-5.png"/><Relationship Id="rId9" Type="http://schemas.openxmlformats.org/officeDocument/2006/relationships/slideLayout" Target="../slideLayouts/slideLayout4.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4.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3.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mise icon" descr="preencoded.png">    </p:cNvPr>
          <p:cNvPicPr>
            <a:picLocks noChangeAspect="1"/>
          </p:cNvPicPr>
          <p:nvPr/>
        </p:nvPicPr>
        <p:blipFill>
          <a:blip r:embed="rId1"/>
          <a:stretch>
            <a:fillRect/>
          </a:stretch>
        </p:blipFill>
        <p:spPr>
          <a:xfrm>
            <a:off x="731520" y="822960"/>
            <a:ext cx="1005840" cy="1005840"/>
          </a:xfrm>
          <a:prstGeom prst="rect">
            <a:avLst/>
          </a:prstGeom>
        </p:spPr>
      </p:pic>
      <p:sp>
        <p:nvSpPr>
          <p:cNvPr id="3" name="Illustration frame"/>
          <p:cNvSpPr/>
          <p:nvPr/>
        </p:nvSpPr>
        <p:spPr>
          <a:xfrm>
            <a:off x="8458200" y="1188720"/>
            <a:ext cx="3108960" cy="3108960"/>
          </a:xfrm>
          <a:prstGeom prst="ellipse">
            <a:avLst/>
          </a:prstGeom>
          <a:solidFill>
            <a:schemeClr val="bg1">
              <a:alpha val="12000"/>
            </a:schemeClr>
          </a:solidFill>
          <a:ln w="19050">
            <a:solidFill>
              <a:schemeClr val="accent3"/>
            </a:solidFill>
            <a:prstDash val="dash"/>
          </a:ln>
        </p:spPr>
      </p:sp>
      <p:pic>
        <p:nvPicPr>
          <p:cNvPr id="4" name="Illustration" descr="preencoded.png">    </p:cNvPr>
          <p:cNvPicPr>
            <a:picLocks noChangeAspect="1"/>
          </p:cNvPicPr>
          <p:nvPr/>
        </p:nvPicPr>
        <p:blipFill>
          <a:blip r:embed="rId2"/>
          <a:stretch>
            <a:fillRect/>
          </a:stretch>
        </p:blipFill>
        <p:spPr>
          <a:xfrm>
            <a:off x="8961120" y="1691640"/>
            <a:ext cx="2103120" cy="2103120"/>
          </a:xfrm>
          <a:prstGeom prst="rect">
            <a:avLst/>
          </a:prstGeom>
        </p:spPr>
      </p:pic>
      <p:pic>
        <p:nvPicPr>
          <p:cNvPr id="5" name="Illustration" descr="preencoded.png">    </p:cNvPr>
          <p:cNvPicPr>
            <a:picLocks noChangeAspect="1"/>
          </p:cNvPicPr>
          <p:nvPr/>
        </p:nvPicPr>
        <p:blipFill>
          <a:blip r:embed="rId3"/>
          <a:stretch>
            <a:fillRect/>
          </a:stretch>
        </p:blipFill>
        <p:spPr>
          <a:xfrm>
            <a:off x="10972800" y="822960"/>
            <a:ext cx="822960" cy="822960"/>
          </a:xfrm>
          <a:prstGeom prst="rect">
            <a:avLst/>
          </a:prstGeom>
        </p:spPr>
      </p:pic>
      <p:pic>
        <p:nvPicPr>
          <p:cNvPr id="6" name="Illustration" descr="preencoded.png">    </p:cNvPr>
          <p:cNvPicPr>
            <a:picLocks noChangeAspect="1"/>
          </p:cNvPicPr>
          <p:nvPr/>
        </p:nvPicPr>
        <p:blipFill>
          <a:blip r:embed="rId4"/>
          <a:stretch>
            <a:fillRect/>
          </a:stretch>
        </p:blipFill>
        <p:spPr>
          <a:xfrm>
            <a:off x="8229600" y="3977640"/>
            <a:ext cx="640080" cy="640080"/>
          </a:xfrm>
          <a:prstGeom prst="rect">
            <a:avLst/>
          </a:prstGeom>
        </p:spPr>
      </p:pic>
      <p:sp>
        <p:nvSpPr>
          <p:cNvPr id="7" name="Text 0"/>
          <p:cNvSpPr/>
          <p:nvPr>
            <p:ph idx="101" type="title" hasCustomPrompt="1"/>
          </p:nvPr>
        </p:nvSpPr>
        <p:spPr>
          <a:xfrm>
            <a:off x="731520" y="2103120"/>
            <a:ext cx="10698480" cy="1280160"/>
          </a:xfrm>
          <a:prstGeom prst="rect">
            <a:avLst/>
          </a:prstGeom>
          <a:noFill/>
          <a:ln/>
        </p:spPr>
        <p:txBody>
          <a:bodyPr wrap="square" rtlCol="0" anchor="ctr"/>
          <a:lstStyle/>
          <a:p>
            <a:pPr algn="l" indent="0" marL="0">
              <a:buNone/>
            </a:pPr>
            <a:r>
              <a:rPr lang="en-US" sz="4800" b="1" dirty="0">
                <a:solidFill>
                  <a:schemeClr val="bg1"/>
                </a:solidFill>
              </a:rPr>
              <a:t>데이트(교제)폭력과 약속</a:t>
            </a:r>
            <a:endParaRPr lang="en-US" sz="4800" dirty="0"/>
          </a:p>
        </p:txBody>
      </p:sp>
      <p:sp>
        <p:nvSpPr>
          <p:cNvPr id="8" name="Text 0"/>
          <p:cNvSpPr/>
          <p:nvPr>
            <p:ph idx="102" type="body" hasCustomPrompt="1"/>
          </p:nvPr>
        </p:nvSpPr>
        <p:spPr>
          <a:xfrm>
            <a:off x="731520" y="3474720"/>
            <a:ext cx="10698480" cy="731520"/>
          </a:xfrm>
          <a:prstGeom prst="rect">
            <a:avLst/>
          </a:prstGeom>
          <a:noFill/>
          <a:ln/>
        </p:spPr>
        <p:txBody>
          <a:bodyPr wrap="square" rtlCol="0" anchor="t"/>
          <a:lstStyle/>
          <a:p>
            <a:pPr algn="l" indent="0" marL="0">
              <a:buNone/>
            </a:pPr>
            <a:r>
              <a:rPr lang="en-US" sz="2200" dirty="0">
                <a:solidFill>
                  <a:schemeClr val="accent3"/>
                </a:solidFill>
              </a:rPr>
              <a:t>중·고등학생 대상 성폭력·교제폭력 예방교육</a:t>
            </a:r>
            <a:endParaRPr lang="en-US" sz="2200" dirty="0"/>
          </a:p>
        </p:txBody>
      </p:sp>
      <p:sp>
        <p:nvSpPr>
          <p:cNvPr id="9" name="Text 3"/>
          <p:cNvSpPr txBox="1"/>
          <p:nvPr/>
        </p:nvSpPr>
        <p:spPr>
          <a:xfrm>
            <a:off x="731520" y="5669280"/>
            <a:ext cx="5486400" cy="457200"/>
          </a:xfrm>
          <a:prstGeom prst="rect">
            <a:avLst/>
          </a:prstGeom>
          <a:noFill/>
          <a:ln/>
        </p:spPr>
        <p:txBody>
          <a:bodyPr wrap="square" lIns="0" tIns="0" rIns="0" bIns="0" rtlCol="0" anchor="ctr"/>
          <a:lstStyle/>
          <a:p>
            <a:pPr indent="0" marL="0">
              <a:buNone/>
            </a:pPr>
            <a:r>
              <a:rPr lang="en-US" sz="1600" dirty="0">
                <a:solidFill>
                  <a:schemeClr val="bg1"/>
                </a:solidFill>
              </a:rPr>
              <a:t>강사: ____________</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시작 전, 오늘 우리의 약속</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도입</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2606040" cy="4206240"/>
          </a:xfrm>
          <a:prstGeom prst="roundRect">
            <a:avLst>
              <a:gd name="adj" fmla="val 7018"/>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7" name="Illustration" descr="preencoded.png">    </p:cNvPr>
          <p:cNvPicPr>
            <a:picLocks noChangeAspect="1"/>
          </p:cNvPicPr>
          <p:nvPr/>
        </p:nvPicPr>
        <p:blipFill>
          <a:blip r:embed="rId2"/>
          <a:stretch>
            <a:fillRect/>
          </a:stretch>
        </p:blipFill>
        <p:spPr>
          <a:xfrm>
            <a:off x="1074420" y="2271713"/>
            <a:ext cx="1554480" cy="1554480"/>
          </a:xfrm>
          <a:prstGeom prst="rect">
            <a:avLst/>
          </a:prstGeom>
        </p:spPr>
      </p:pic>
      <p:sp>
        <p:nvSpPr>
          <p:cNvPr id="8" name="Text 3"/>
          <p:cNvSpPr txBox="1"/>
          <p:nvPr/>
        </p:nvSpPr>
        <p:spPr>
          <a:xfrm>
            <a:off x="731520" y="4009073"/>
            <a:ext cx="2240280" cy="502920"/>
          </a:xfrm>
          <a:prstGeom prst="rect">
            <a:avLst/>
          </a:prstGeom>
          <a:noFill/>
          <a:ln/>
        </p:spPr>
        <p:txBody>
          <a:bodyPr wrap="square" lIns="0" tIns="0" rIns="0" bIns="0" rtlCol="0" anchor="ctr"/>
          <a:lstStyle/>
          <a:p>
            <a:pPr algn="ctr" indent="0" marL="0">
              <a:buNone/>
            </a:pPr>
            <a:r>
              <a:rPr lang="en-US" sz="1900" b="1" dirty="0">
                <a:solidFill>
                  <a:schemeClr val="tx2"/>
                </a:solidFill>
              </a:rPr>
              <a:t>말하지 않아도 OK</a:t>
            </a:r>
            <a:endParaRPr lang="en-US" sz="1900" dirty="0"/>
          </a:p>
        </p:txBody>
      </p:sp>
      <p:sp>
        <p:nvSpPr>
          <p:cNvPr id="9" name="Text 4"/>
          <p:cNvSpPr txBox="1"/>
          <p:nvPr/>
        </p:nvSpPr>
        <p:spPr>
          <a:xfrm>
            <a:off x="777240" y="4603433"/>
            <a:ext cx="2148840" cy="394335"/>
          </a:xfrm>
          <a:prstGeom prst="rect">
            <a:avLst/>
          </a:prstGeom>
          <a:noFill/>
          <a:ln/>
        </p:spPr>
        <p:txBody>
          <a:bodyPr wrap="square" lIns="0" tIns="0" rIns="0" bIns="0" rtlCol="0" anchor="t"/>
          <a:lstStyle/>
          <a:p>
            <a:pPr algn="ctr" indent="0" marL="0">
              <a:buNone/>
            </a:pPr>
            <a:r>
              <a:rPr lang="en-US" sz="1500" dirty="0">
                <a:solidFill>
                  <a:schemeClr val="tx1"/>
                </a:solidFill>
              </a:rPr>
              <a:t>내 경험은 비밀로 둬도 괜찮아요</a:t>
            </a:r>
            <a:endParaRPr lang="en-US" sz="1500" dirty="0"/>
          </a:p>
        </p:txBody>
      </p:sp>
      <p:sp>
        <p:nvSpPr>
          <p:cNvPr id="10" name="Card"/>
          <p:cNvSpPr/>
          <p:nvPr/>
        </p:nvSpPr>
        <p:spPr>
          <a:xfrm>
            <a:off x="3337560" y="1463040"/>
            <a:ext cx="2606040" cy="4206240"/>
          </a:xfrm>
          <a:prstGeom prst="roundRect">
            <a:avLst>
              <a:gd name="adj" fmla="val 7018"/>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1" name="Illustration" descr="preencoded.png">    </p:cNvPr>
          <p:cNvPicPr>
            <a:picLocks noChangeAspect="1"/>
          </p:cNvPicPr>
          <p:nvPr/>
        </p:nvPicPr>
        <p:blipFill>
          <a:blip r:embed="rId3"/>
          <a:stretch>
            <a:fillRect/>
          </a:stretch>
        </p:blipFill>
        <p:spPr>
          <a:xfrm>
            <a:off x="3863340" y="2271713"/>
            <a:ext cx="1554480" cy="1554480"/>
          </a:xfrm>
          <a:prstGeom prst="rect">
            <a:avLst/>
          </a:prstGeom>
        </p:spPr>
      </p:pic>
      <p:sp>
        <p:nvSpPr>
          <p:cNvPr id="12" name="Text 6"/>
          <p:cNvSpPr txBox="1"/>
          <p:nvPr/>
        </p:nvSpPr>
        <p:spPr>
          <a:xfrm>
            <a:off x="3520440" y="4009073"/>
            <a:ext cx="2240280" cy="502920"/>
          </a:xfrm>
          <a:prstGeom prst="rect">
            <a:avLst/>
          </a:prstGeom>
          <a:noFill/>
          <a:ln/>
        </p:spPr>
        <p:txBody>
          <a:bodyPr wrap="square" lIns="0" tIns="0" rIns="0" bIns="0" rtlCol="0" anchor="ctr"/>
          <a:lstStyle/>
          <a:p>
            <a:pPr algn="ctr" indent="0" marL="0">
              <a:buNone/>
            </a:pPr>
            <a:r>
              <a:rPr lang="en-US" sz="1900" b="1" dirty="0">
                <a:solidFill>
                  <a:schemeClr val="tx2"/>
                </a:solidFill>
              </a:rPr>
              <a:t>힘들면 쉬어도 OK</a:t>
            </a:r>
            <a:endParaRPr lang="en-US" sz="1900" dirty="0"/>
          </a:p>
        </p:txBody>
      </p:sp>
      <p:sp>
        <p:nvSpPr>
          <p:cNvPr id="13" name="Text 7"/>
          <p:cNvSpPr txBox="1"/>
          <p:nvPr/>
        </p:nvSpPr>
        <p:spPr>
          <a:xfrm>
            <a:off x="3566160" y="4603433"/>
            <a:ext cx="2148840" cy="394335"/>
          </a:xfrm>
          <a:prstGeom prst="rect">
            <a:avLst/>
          </a:prstGeom>
          <a:noFill/>
          <a:ln/>
        </p:spPr>
        <p:txBody>
          <a:bodyPr wrap="square" lIns="0" tIns="0" rIns="0" bIns="0" rtlCol="0" anchor="t"/>
          <a:lstStyle/>
          <a:p>
            <a:pPr algn="ctr" indent="0" marL="0">
              <a:buNone/>
            </a:pPr>
            <a:r>
              <a:rPr lang="en-US" sz="1500" dirty="0">
                <a:solidFill>
                  <a:schemeClr val="tx1"/>
                </a:solidFill>
              </a:rPr>
              <a:t>잠시 쉬거나 고개를 숙여도 돼요</a:t>
            </a:r>
            <a:endParaRPr lang="en-US" sz="1500" dirty="0"/>
          </a:p>
        </p:txBody>
      </p:sp>
      <p:sp>
        <p:nvSpPr>
          <p:cNvPr id="14" name="Card"/>
          <p:cNvSpPr/>
          <p:nvPr/>
        </p:nvSpPr>
        <p:spPr>
          <a:xfrm>
            <a:off x="6126480" y="1463040"/>
            <a:ext cx="2606040" cy="4206240"/>
          </a:xfrm>
          <a:prstGeom prst="roundRect">
            <a:avLst>
              <a:gd name="adj" fmla="val 7018"/>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5" name="Illustration" descr="preencoded.png">    </p:cNvPr>
          <p:cNvPicPr>
            <a:picLocks noChangeAspect="1"/>
          </p:cNvPicPr>
          <p:nvPr/>
        </p:nvPicPr>
        <p:blipFill>
          <a:blip r:embed="rId4"/>
          <a:stretch>
            <a:fillRect/>
          </a:stretch>
        </p:blipFill>
        <p:spPr>
          <a:xfrm>
            <a:off x="6652260" y="2271713"/>
            <a:ext cx="1554480" cy="1554480"/>
          </a:xfrm>
          <a:prstGeom prst="rect">
            <a:avLst/>
          </a:prstGeom>
        </p:spPr>
      </p:pic>
      <p:sp>
        <p:nvSpPr>
          <p:cNvPr id="16" name="Text 9"/>
          <p:cNvSpPr txBox="1"/>
          <p:nvPr/>
        </p:nvSpPr>
        <p:spPr>
          <a:xfrm>
            <a:off x="6309360" y="4009073"/>
            <a:ext cx="2240280" cy="502920"/>
          </a:xfrm>
          <a:prstGeom prst="rect">
            <a:avLst/>
          </a:prstGeom>
          <a:noFill/>
          <a:ln/>
        </p:spPr>
        <p:txBody>
          <a:bodyPr wrap="square" lIns="0" tIns="0" rIns="0" bIns="0" rtlCol="0" anchor="ctr"/>
          <a:lstStyle/>
          <a:p>
            <a:pPr algn="ctr" indent="0" marL="0">
              <a:buNone/>
            </a:pPr>
            <a:r>
              <a:rPr lang="en-US" sz="1900" b="1" dirty="0">
                <a:solidFill>
                  <a:schemeClr val="tx2"/>
                </a:solidFill>
              </a:rPr>
              <a:t>서로 존중하기</a:t>
            </a:r>
            <a:endParaRPr lang="en-US" sz="1900" dirty="0"/>
          </a:p>
        </p:txBody>
      </p:sp>
      <p:sp>
        <p:nvSpPr>
          <p:cNvPr id="17" name="Text 10"/>
          <p:cNvSpPr txBox="1"/>
          <p:nvPr/>
        </p:nvSpPr>
        <p:spPr>
          <a:xfrm>
            <a:off x="6355080" y="4603433"/>
            <a:ext cx="2148840" cy="394335"/>
          </a:xfrm>
          <a:prstGeom prst="rect">
            <a:avLst/>
          </a:prstGeom>
          <a:noFill/>
          <a:ln/>
        </p:spPr>
        <p:txBody>
          <a:bodyPr wrap="square" lIns="0" tIns="0" rIns="0" bIns="0" rtlCol="0" anchor="t"/>
          <a:lstStyle/>
          <a:p>
            <a:pPr algn="ctr" indent="0" marL="0">
              <a:buNone/>
            </a:pPr>
            <a:r>
              <a:rPr lang="en-US" sz="1500" dirty="0">
                <a:solidFill>
                  <a:schemeClr val="tx1"/>
                </a:solidFill>
              </a:rPr>
              <a:t>다른 생각을 비웃지 않아요</a:t>
            </a:r>
            <a:endParaRPr lang="en-US" sz="1500" dirty="0"/>
          </a:p>
        </p:txBody>
      </p:sp>
      <p:sp>
        <p:nvSpPr>
          <p:cNvPr id="18" name="Card"/>
          <p:cNvSpPr/>
          <p:nvPr/>
        </p:nvSpPr>
        <p:spPr>
          <a:xfrm>
            <a:off x="8915400" y="1463040"/>
            <a:ext cx="2606040" cy="4206240"/>
          </a:xfrm>
          <a:prstGeom prst="roundRect">
            <a:avLst>
              <a:gd name="adj" fmla="val 7018"/>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9" name="Illustration" descr="preencoded.png">    </p:cNvPr>
          <p:cNvPicPr>
            <a:picLocks noChangeAspect="1"/>
          </p:cNvPicPr>
          <p:nvPr/>
        </p:nvPicPr>
        <p:blipFill>
          <a:blip r:embed="rId5"/>
          <a:stretch>
            <a:fillRect/>
          </a:stretch>
        </p:blipFill>
        <p:spPr>
          <a:xfrm>
            <a:off x="9441180" y="2271713"/>
            <a:ext cx="1554480" cy="1554480"/>
          </a:xfrm>
          <a:prstGeom prst="rect">
            <a:avLst/>
          </a:prstGeom>
        </p:spPr>
      </p:pic>
      <p:sp>
        <p:nvSpPr>
          <p:cNvPr id="20" name="Text 12"/>
          <p:cNvSpPr txBox="1"/>
          <p:nvPr/>
        </p:nvSpPr>
        <p:spPr>
          <a:xfrm>
            <a:off x="9098280" y="4009073"/>
            <a:ext cx="2240280" cy="502920"/>
          </a:xfrm>
          <a:prstGeom prst="rect">
            <a:avLst/>
          </a:prstGeom>
          <a:noFill/>
          <a:ln/>
        </p:spPr>
        <p:txBody>
          <a:bodyPr wrap="square" lIns="0" tIns="0" rIns="0" bIns="0" rtlCol="0" anchor="ctr"/>
          <a:lstStyle/>
          <a:p>
            <a:pPr algn="ctr" indent="0" marL="0">
              <a:buNone/>
            </a:pPr>
            <a:r>
              <a:rPr lang="en-US" sz="1900" b="1" dirty="0">
                <a:solidFill>
                  <a:schemeClr val="tx2"/>
                </a:solidFill>
              </a:rPr>
              <a:t>도움은 언제든</a:t>
            </a:r>
            <a:endParaRPr lang="en-US" sz="1900" dirty="0"/>
          </a:p>
        </p:txBody>
      </p:sp>
      <p:sp>
        <p:nvSpPr>
          <p:cNvPr id="21" name="Text 13"/>
          <p:cNvSpPr txBox="1"/>
          <p:nvPr/>
        </p:nvSpPr>
        <p:spPr>
          <a:xfrm>
            <a:off x="9144000" y="4603433"/>
            <a:ext cx="2148840" cy="394335"/>
          </a:xfrm>
          <a:prstGeom prst="rect">
            <a:avLst/>
          </a:prstGeom>
          <a:noFill/>
          <a:ln/>
        </p:spPr>
        <p:txBody>
          <a:bodyPr wrap="square" lIns="0" tIns="0" rIns="0" bIns="0" rtlCol="0" anchor="t"/>
          <a:lstStyle/>
          <a:p>
            <a:pPr algn="ctr" indent="0" marL="0">
              <a:buNone/>
            </a:pPr>
            <a:r>
              <a:rPr lang="en-US" sz="1500" dirty="0">
                <a:solidFill>
                  <a:schemeClr val="tx1"/>
                </a:solidFill>
              </a:rPr>
              <a:t>끝나고 강사·상담 선생님께</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오늘 함께 이야기할 내용</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도입</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5394960" cy="914400"/>
          </a:xfrm>
          <a:prstGeom prst="roundRect">
            <a:avLst>
              <a:gd name="adj" fmla="val 20000"/>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7" name="Text 3"/>
          <p:cNvSpPr txBox="1"/>
          <p:nvPr/>
        </p:nvSpPr>
        <p:spPr>
          <a:xfrm>
            <a:off x="822960" y="146304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01</a:t>
            </a:r>
            <a:endParaRPr lang="en-US" sz="2800" dirty="0"/>
          </a:p>
        </p:txBody>
      </p:sp>
      <p:sp>
        <p:nvSpPr>
          <p:cNvPr id="8" name="Text 4"/>
          <p:cNvSpPr txBox="1"/>
          <p:nvPr/>
        </p:nvSpPr>
        <p:spPr>
          <a:xfrm>
            <a:off x="1691640" y="1463040"/>
            <a:ext cx="3291840" cy="914400"/>
          </a:xfrm>
          <a:prstGeom prst="rect">
            <a:avLst/>
          </a:prstGeom>
          <a:noFill/>
          <a:ln/>
        </p:spPr>
        <p:txBody>
          <a:bodyPr wrap="square" lIns="0" tIns="0" rIns="0" bIns="0" rtlCol="0" anchor="ctr"/>
          <a:lstStyle/>
          <a:p>
            <a:pPr indent="0" marL="0">
              <a:buNone/>
            </a:pPr>
            <a:r>
              <a:rPr lang="en-US" sz="2000" dirty="0">
                <a:solidFill>
                  <a:schemeClr val="tx1"/>
                </a:solidFill>
              </a:rPr>
              <a:t>목적·정의·필요성</a:t>
            </a:r>
            <a:endParaRPr lang="en-US" sz="2000" dirty="0"/>
          </a:p>
        </p:txBody>
      </p:sp>
      <p:pic>
        <p:nvPicPr>
          <p:cNvPr id="9" name="Illustration" descr="preencoded.png">    </p:cNvPr>
          <p:cNvPicPr>
            <a:picLocks noChangeAspect="1"/>
          </p:cNvPicPr>
          <p:nvPr/>
        </p:nvPicPr>
        <p:blipFill>
          <a:blip r:embed="rId2"/>
          <a:stretch>
            <a:fillRect/>
          </a:stretch>
        </p:blipFill>
        <p:spPr>
          <a:xfrm>
            <a:off x="5120640" y="1627632"/>
            <a:ext cx="585216" cy="585216"/>
          </a:xfrm>
          <a:prstGeom prst="rect">
            <a:avLst/>
          </a:prstGeom>
        </p:spPr>
      </p:pic>
      <p:sp>
        <p:nvSpPr>
          <p:cNvPr id="10" name="Card"/>
          <p:cNvSpPr/>
          <p:nvPr/>
        </p:nvSpPr>
        <p:spPr>
          <a:xfrm>
            <a:off x="548640" y="2560320"/>
            <a:ext cx="5394960" cy="914400"/>
          </a:xfrm>
          <a:prstGeom prst="roundRect">
            <a:avLst>
              <a:gd name="adj" fmla="val 20000"/>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11" name="Text 6"/>
          <p:cNvSpPr txBox="1"/>
          <p:nvPr/>
        </p:nvSpPr>
        <p:spPr>
          <a:xfrm>
            <a:off x="822960" y="256032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02</a:t>
            </a:r>
            <a:endParaRPr lang="en-US" sz="2800" dirty="0"/>
          </a:p>
        </p:txBody>
      </p:sp>
      <p:sp>
        <p:nvSpPr>
          <p:cNvPr id="12" name="Text 7"/>
          <p:cNvSpPr txBox="1"/>
          <p:nvPr/>
        </p:nvSpPr>
        <p:spPr>
          <a:xfrm>
            <a:off x="1691640" y="2560320"/>
            <a:ext cx="3291840" cy="914400"/>
          </a:xfrm>
          <a:prstGeom prst="rect">
            <a:avLst/>
          </a:prstGeom>
          <a:noFill/>
          <a:ln/>
        </p:spPr>
        <p:txBody>
          <a:bodyPr wrap="square" lIns="0" tIns="0" rIns="0" bIns="0" rtlCol="0" anchor="ctr"/>
          <a:lstStyle/>
          <a:p>
            <a:pPr indent="0" marL="0">
              <a:buNone/>
            </a:pPr>
            <a:r>
              <a:rPr lang="en-US" sz="2000" dirty="0">
                <a:solidFill>
                  <a:schemeClr val="tx1"/>
                </a:solidFill>
              </a:rPr>
              <a:t>늘어나는 이유</a:t>
            </a:r>
            <a:endParaRPr lang="en-US" sz="2000" dirty="0"/>
          </a:p>
        </p:txBody>
      </p:sp>
      <p:pic>
        <p:nvPicPr>
          <p:cNvPr id="13" name="Illustration" descr="preencoded.png">    </p:cNvPr>
          <p:cNvPicPr>
            <a:picLocks noChangeAspect="1"/>
          </p:cNvPicPr>
          <p:nvPr/>
        </p:nvPicPr>
        <p:blipFill>
          <a:blip r:embed="rId3"/>
          <a:stretch>
            <a:fillRect/>
          </a:stretch>
        </p:blipFill>
        <p:spPr>
          <a:xfrm>
            <a:off x="5120640" y="2724912"/>
            <a:ext cx="585216" cy="585216"/>
          </a:xfrm>
          <a:prstGeom prst="rect">
            <a:avLst/>
          </a:prstGeom>
        </p:spPr>
      </p:pic>
      <p:sp>
        <p:nvSpPr>
          <p:cNvPr id="14" name="Card"/>
          <p:cNvSpPr/>
          <p:nvPr/>
        </p:nvSpPr>
        <p:spPr>
          <a:xfrm>
            <a:off x="548640" y="3657600"/>
            <a:ext cx="5394960" cy="914400"/>
          </a:xfrm>
          <a:prstGeom prst="roundRect">
            <a:avLst>
              <a:gd name="adj" fmla="val 20000"/>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15" name="Text 9"/>
          <p:cNvSpPr txBox="1"/>
          <p:nvPr/>
        </p:nvSpPr>
        <p:spPr>
          <a:xfrm>
            <a:off x="822960" y="365760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03</a:t>
            </a:r>
            <a:endParaRPr lang="en-US" sz="2800" dirty="0"/>
          </a:p>
        </p:txBody>
      </p:sp>
      <p:sp>
        <p:nvSpPr>
          <p:cNvPr id="16" name="Text 10"/>
          <p:cNvSpPr txBox="1"/>
          <p:nvPr/>
        </p:nvSpPr>
        <p:spPr>
          <a:xfrm>
            <a:off x="1691640" y="3657600"/>
            <a:ext cx="3291840" cy="914400"/>
          </a:xfrm>
          <a:prstGeom prst="rect">
            <a:avLst/>
          </a:prstGeom>
          <a:noFill/>
          <a:ln/>
        </p:spPr>
        <p:txBody>
          <a:bodyPr wrap="square" lIns="0" tIns="0" rIns="0" bIns="0" rtlCol="0" anchor="ctr"/>
          <a:lstStyle/>
          <a:p>
            <a:pPr indent="0" marL="0">
              <a:buNone/>
            </a:pPr>
            <a:r>
              <a:rPr lang="en-US" sz="2000" dirty="0">
                <a:solidFill>
                  <a:schemeClr val="tx1"/>
                </a:solidFill>
              </a:rPr>
              <a:t>폭력의 유형</a:t>
            </a:r>
            <a:endParaRPr lang="en-US" sz="2000" dirty="0"/>
          </a:p>
        </p:txBody>
      </p:sp>
      <p:pic>
        <p:nvPicPr>
          <p:cNvPr id="17" name="Illustration" descr="preencoded.png">    </p:cNvPr>
          <p:cNvPicPr>
            <a:picLocks noChangeAspect="1"/>
          </p:cNvPicPr>
          <p:nvPr/>
        </p:nvPicPr>
        <p:blipFill>
          <a:blip r:embed="rId4"/>
          <a:stretch>
            <a:fillRect/>
          </a:stretch>
        </p:blipFill>
        <p:spPr>
          <a:xfrm>
            <a:off x="5120640" y="3822192"/>
            <a:ext cx="585216" cy="585216"/>
          </a:xfrm>
          <a:prstGeom prst="rect">
            <a:avLst/>
          </a:prstGeom>
        </p:spPr>
      </p:pic>
      <p:sp>
        <p:nvSpPr>
          <p:cNvPr id="18" name="Card"/>
          <p:cNvSpPr/>
          <p:nvPr/>
        </p:nvSpPr>
        <p:spPr>
          <a:xfrm>
            <a:off x="548640" y="4754880"/>
            <a:ext cx="5394960" cy="914400"/>
          </a:xfrm>
          <a:prstGeom prst="roundRect">
            <a:avLst>
              <a:gd name="adj" fmla="val 20000"/>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19" name="Text 12"/>
          <p:cNvSpPr txBox="1"/>
          <p:nvPr/>
        </p:nvSpPr>
        <p:spPr>
          <a:xfrm>
            <a:off x="822960" y="475488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04</a:t>
            </a:r>
            <a:endParaRPr lang="en-US" sz="2800" dirty="0"/>
          </a:p>
        </p:txBody>
      </p:sp>
      <p:sp>
        <p:nvSpPr>
          <p:cNvPr id="20" name="Text 13"/>
          <p:cNvSpPr txBox="1"/>
          <p:nvPr/>
        </p:nvSpPr>
        <p:spPr>
          <a:xfrm>
            <a:off x="1691640" y="4754880"/>
            <a:ext cx="3291840" cy="914400"/>
          </a:xfrm>
          <a:prstGeom prst="rect">
            <a:avLst/>
          </a:prstGeom>
          <a:noFill/>
          <a:ln/>
        </p:spPr>
        <p:txBody>
          <a:bodyPr wrap="square" lIns="0" tIns="0" rIns="0" bIns="0" rtlCol="0" anchor="ctr"/>
          <a:lstStyle/>
          <a:p>
            <a:pPr indent="0" marL="0">
              <a:buNone/>
            </a:pPr>
            <a:r>
              <a:rPr lang="en-US" sz="2000" dirty="0">
                <a:solidFill>
                  <a:schemeClr val="tx1"/>
                </a:solidFill>
              </a:rPr>
              <a:t>대처·예방·신고</a:t>
            </a:r>
            <a:endParaRPr lang="en-US" sz="2000" dirty="0"/>
          </a:p>
        </p:txBody>
      </p:sp>
      <p:pic>
        <p:nvPicPr>
          <p:cNvPr id="21" name="Illustration" descr="preencoded.png">    </p:cNvPr>
          <p:cNvPicPr>
            <a:picLocks noChangeAspect="1"/>
          </p:cNvPicPr>
          <p:nvPr/>
        </p:nvPicPr>
        <p:blipFill>
          <a:blip r:embed="rId5"/>
          <a:stretch>
            <a:fillRect/>
          </a:stretch>
        </p:blipFill>
        <p:spPr>
          <a:xfrm>
            <a:off x="5120640" y="4919472"/>
            <a:ext cx="585216" cy="585216"/>
          </a:xfrm>
          <a:prstGeom prst="rect">
            <a:avLst/>
          </a:prstGeom>
        </p:spPr>
      </p:pic>
      <p:sp>
        <p:nvSpPr>
          <p:cNvPr id="22" name="Card"/>
          <p:cNvSpPr/>
          <p:nvPr/>
        </p:nvSpPr>
        <p:spPr>
          <a:xfrm>
            <a:off x="6217920" y="1463040"/>
            <a:ext cx="5394960" cy="914400"/>
          </a:xfrm>
          <a:prstGeom prst="roundRect">
            <a:avLst>
              <a:gd name="adj" fmla="val 20000"/>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23" name="Text 15"/>
          <p:cNvSpPr txBox="1"/>
          <p:nvPr/>
        </p:nvSpPr>
        <p:spPr>
          <a:xfrm>
            <a:off x="6492240" y="146304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05</a:t>
            </a:r>
            <a:endParaRPr lang="en-US" sz="2800" dirty="0"/>
          </a:p>
        </p:txBody>
      </p:sp>
      <p:sp>
        <p:nvSpPr>
          <p:cNvPr id="24" name="Text 16"/>
          <p:cNvSpPr txBox="1"/>
          <p:nvPr/>
        </p:nvSpPr>
        <p:spPr>
          <a:xfrm>
            <a:off x="7360920" y="1463040"/>
            <a:ext cx="3291840" cy="914400"/>
          </a:xfrm>
          <a:prstGeom prst="rect">
            <a:avLst/>
          </a:prstGeom>
          <a:noFill/>
          <a:ln/>
        </p:spPr>
        <p:txBody>
          <a:bodyPr wrap="square" lIns="0" tIns="0" rIns="0" bIns="0" rtlCol="0" anchor="ctr"/>
          <a:lstStyle/>
          <a:p>
            <a:pPr indent="0" marL="0">
              <a:buNone/>
            </a:pPr>
            <a:r>
              <a:rPr lang="en-US" sz="2000" dirty="0">
                <a:solidFill>
                  <a:schemeClr val="tx1"/>
                </a:solidFill>
              </a:rPr>
              <a:t>나의 노력과 다짐</a:t>
            </a:r>
            <a:endParaRPr lang="en-US" sz="2000" dirty="0"/>
          </a:p>
        </p:txBody>
      </p:sp>
      <p:pic>
        <p:nvPicPr>
          <p:cNvPr id="25" name="Illustration" descr="preencoded.png">    </p:cNvPr>
          <p:cNvPicPr>
            <a:picLocks noChangeAspect="1"/>
          </p:cNvPicPr>
          <p:nvPr/>
        </p:nvPicPr>
        <p:blipFill>
          <a:blip r:embed="rId6"/>
          <a:stretch>
            <a:fillRect/>
          </a:stretch>
        </p:blipFill>
        <p:spPr>
          <a:xfrm>
            <a:off x="10789920" y="1627632"/>
            <a:ext cx="585216" cy="585216"/>
          </a:xfrm>
          <a:prstGeom prst="rect">
            <a:avLst/>
          </a:prstGeom>
        </p:spPr>
      </p:pic>
      <p:sp>
        <p:nvSpPr>
          <p:cNvPr id="26" name="Card"/>
          <p:cNvSpPr/>
          <p:nvPr/>
        </p:nvSpPr>
        <p:spPr>
          <a:xfrm>
            <a:off x="6217920" y="2560320"/>
            <a:ext cx="5394960" cy="914400"/>
          </a:xfrm>
          <a:prstGeom prst="roundRect">
            <a:avLst>
              <a:gd name="adj" fmla="val 20000"/>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27" name="Text 18"/>
          <p:cNvSpPr txBox="1"/>
          <p:nvPr/>
        </p:nvSpPr>
        <p:spPr>
          <a:xfrm>
            <a:off x="6492240" y="256032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06</a:t>
            </a:r>
            <a:endParaRPr lang="en-US" sz="2800" dirty="0"/>
          </a:p>
        </p:txBody>
      </p:sp>
      <p:sp>
        <p:nvSpPr>
          <p:cNvPr id="28" name="Text 19"/>
          <p:cNvSpPr txBox="1"/>
          <p:nvPr/>
        </p:nvSpPr>
        <p:spPr>
          <a:xfrm>
            <a:off x="7360920" y="2560320"/>
            <a:ext cx="3291840" cy="914400"/>
          </a:xfrm>
          <a:prstGeom prst="rect">
            <a:avLst/>
          </a:prstGeom>
          <a:noFill/>
          <a:ln/>
        </p:spPr>
        <p:txBody>
          <a:bodyPr wrap="square" lIns="0" tIns="0" rIns="0" bIns="0" rtlCol="0" anchor="ctr"/>
          <a:lstStyle/>
          <a:p>
            <a:pPr indent="0" marL="0">
              <a:buNone/>
            </a:pPr>
            <a:r>
              <a:rPr lang="en-US" sz="2000" dirty="0">
                <a:solidFill>
                  <a:schemeClr val="tx1"/>
                </a:solidFill>
              </a:rPr>
              <a:t>참고 영상</a:t>
            </a:r>
            <a:endParaRPr lang="en-US" sz="2000" dirty="0"/>
          </a:p>
        </p:txBody>
      </p:sp>
      <p:pic>
        <p:nvPicPr>
          <p:cNvPr id="29" name="Illustration" descr="preencoded.png">    </p:cNvPr>
          <p:cNvPicPr>
            <a:picLocks noChangeAspect="1"/>
          </p:cNvPicPr>
          <p:nvPr/>
        </p:nvPicPr>
        <p:blipFill>
          <a:blip r:embed="rId7"/>
          <a:stretch>
            <a:fillRect/>
          </a:stretch>
        </p:blipFill>
        <p:spPr>
          <a:xfrm>
            <a:off x="10789920" y="2724912"/>
            <a:ext cx="585216" cy="585216"/>
          </a:xfrm>
          <a:prstGeom prst="rect">
            <a:avLst/>
          </a:prstGeom>
        </p:spPr>
      </p:pic>
      <p:sp>
        <p:nvSpPr>
          <p:cNvPr id="30" name="Card"/>
          <p:cNvSpPr/>
          <p:nvPr/>
        </p:nvSpPr>
        <p:spPr>
          <a:xfrm>
            <a:off x="6217920" y="3657600"/>
            <a:ext cx="5394960" cy="914400"/>
          </a:xfrm>
          <a:prstGeom prst="roundRect">
            <a:avLst>
              <a:gd name="adj" fmla="val 20000"/>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31" name="Text 21"/>
          <p:cNvSpPr txBox="1"/>
          <p:nvPr/>
        </p:nvSpPr>
        <p:spPr>
          <a:xfrm>
            <a:off x="6492240" y="3657600"/>
            <a:ext cx="822960" cy="914400"/>
          </a:xfrm>
          <a:prstGeom prst="rect">
            <a:avLst/>
          </a:prstGeom>
          <a:noFill/>
          <a:ln/>
        </p:spPr>
        <p:txBody>
          <a:bodyPr wrap="square" lIns="0" tIns="0" rIns="0" bIns="0" rtlCol="0" anchor="ctr"/>
          <a:lstStyle/>
          <a:p>
            <a:pPr indent="0" marL="0">
              <a:buNone/>
            </a:pPr>
            <a:r>
              <a:rPr lang="en-US" sz="2800" b="1" dirty="0">
                <a:solidFill>
                  <a:schemeClr val="accent1"/>
                </a:solidFill>
              </a:rPr>
              <a:t>07</a:t>
            </a:r>
            <a:endParaRPr lang="en-US" sz="2800" dirty="0"/>
          </a:p>
        </p:txBody>
      </p:sp>
      <p:sp>
        <p:nvSpPr>
          <p:cNvPr id="32" name="Text 22"/>
          <p:cNvSpPr txBox="1"/>
          <p:nvPr/>
        </p:nvSpPr>
        <p:spPr>
          <a:xfrm>
            <a:off x="7360920" y="3657600"/>
            <a:ext cx="3291840" cy="914400"/>
          </a:xfrm>
          <a:prstGeom prst="rect">
            <a:avLst/>
          </a:prstGeom>
          <a:noFill/>
          <a:ln/>
        </p:spPr>
        <p:txBody>
          <a:bodyPr wrap="square" lIns="0" tIns="0" rIns="0" bIns="0" rtlCol="0" anchor="ctr"/>
          <a:lstStyle/>
          <a:p>
            <a:pPr indent="0" marL="0">
              <a:buNone/>
            </a:pPr>
            <a:r>
              <a:rPr lang="en-US" sz="2000" dirty="0">
                <a:solidFill>
                  <a:schemeClr val="tx1"/>
                </a:solidFill>
              </a:rPr>
              <a:t>내가 강사라면</a:t>
            </a:r>
            <a:endParaRPr lang="en-US" sz="2000" dirty="0"/>
          </a:p>
        </p:txBody>
      </p:sp>
      <p:pic>
        <p:nvPicPr>
          <p:cNvPr id="33" name="Illustration" descr="preencoded.png">    </p:cNvPr>
          <p:cNvPicPr>
            <a:picLocks noChangeAspect="1"/>
          </p:cNvPicPr>
          <p:nvPr/>
        </p:nvPicPr>
        <p:blipFill>
          <a:blip r:embed="rId8"/>
          <a:stretch>
            <a:fillRect/>
          </a:stretch>
        </p:blipFill>
        <p:spPr>
          <a:xfrm>
            <a:off x="10789920" y="3822192"/>
            <a:ext cx="585216" cy="585216"/>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이 교육, 왜 할까요?</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1. 목적·정의·필요성</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3474720" cy="4206240"/>
          </a:xfrm>
          <a:prstGeom prst="roundRect">
            <a:avLst>
              <a:gd name="adj" fmla="val 5263"/>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7" name="Illustration" descr="preencoded.png">    </p:cNvPr>
          <p:cNvPicPr>
            <a:picLocks noChangeAspect="1"/>
          </p:cNvPicPr>
          <p:nvPr/>
        </p:nvPicPr>
        <p:blipFill>
          <a:blip r:embed="rId2"/>
          <a:stretch>
            <a:fillRect/>
          </a:stretch>
        </p:blipFill>
        <p:spPr>
          <a:xfrm>
            <a:off x="1417320" y="2017395"/>
            <a:ext cx="1737360" cy="1737360"/>
          </a:xfrm>
          <a:prstGeom prst="rect">
            <a:avLst/>
          </a:prstGeom>
        </p:spPr>
      </p:pic>
      <p:sp>
        <p:nvSpPr>
          <p:cNvPr id="8" name="Text 3"/>
          <p:cNvSpPr txBox="1"/>
          <p:nvPr/>
        </p:nvSpPr>
        <p:spPr>
          <a:xfrm>
            <a:off x="731520" y="3937635"/>
            <a:ext cx="3108960" cy="502920"/>
          </a:xfrm>
          <a:prstGeom prst="rect">
            <a:avLst/>
          </a:prstGeom>
          <a:noFill/>
          <a:ln/>
        </p:spPr>
        <p:txBody>
          <a:bodyPr wrap="square" lIns="0" tIns="0" rIns="0" bIns="0" rtlCol="0" anchor="ctr"/>
          <a:lstStyle/>
          <a:p>
            <a:pPr algn="ctr" indent="0" marL="0">
              <a:buNone/>
            </a:pPr>
            <a:r>
              <a:rPr lang="en-US" sz="2100" b="1" dirty="0">
                <a:solidFill>
                  <a:schemeClr val="tx2"/>
                </a:solidFill>
              </a:rPr>
              <a:t>법이 정한 교육</a:t>
            </a:r>
            <a:endParaRPr lang="en-US" sz="2100" dirty="0"/>
          </a:p>
        </p:txBody>
      </p:sp>
      <p:sp>
        <p:nvSpPr>
          <p:cNvPr id="9" name="Text 4"/>
          <p:cNvSpPr txBox="1"/>
          <p:nvPr/>
        </p:nvSpPr>
        <p:spPr>
          <a:xfrm>
            <a:off x="777240" y="4531995"/>
            <a:ext cx="3017520" cy="720090"/>
          </a:xfrm>
          <a:prstGeom prst="rect">
            <a:avLst/>
          </a:prstGeom>
          <a:noFill/>
          <a:ln/>
        </p:spPr>
        <p:txBody>
          <a:bodyPr wrap="square" lIns="0" tIns="0" rIns="0" bIns="0" rtlCol="0" anchor="t"/>
          <a:lstStyle/>
          <a:p>
            <a:pPr algn="ctr" indent="0" marL="0">
              <a:buNone/>
            </a:pPr>
            <a:r>
              <a:rPr lang="en-US" sz="1700" dirty="0">
                <a:solidFill>
                  <a:schemeClr val="tx1"/>
                </a:solidFill>
              </a:rPr>
              <a:t>모든 학교는 매년</a:t>
            </a:r>
            <a:endParaRPr lang="en-US" sz="1700" dirty="0"/>
          </a:p>
          <a:p>
            <a:pPr algn="ctr" indent="0" marL="0">
              <a:buNone/>
            </a:pPr>
            <a:r>
              <a:rPr lang="en-US" sz="1700" dirty="0">
                <a:solidFill>
                  <a:schemeClr val="tx1"/>
                </a:solidFill>
              </a:rPr>
              <a:t>예방교육을 해요</a:t>
            </a:r>
            <a:endParaRPr lang="en-US" sz="1700" dirty="0"/>
          </a:p>
        </p:txBody>
      </p:sp>
      <p:sp>
        <p:nvSpPr>
          <p:cNvPr id="10" name="Card"/>
          <p:cNvSpPr/>
          <p:nvPr/>
        </p:nvSpPr>
        <p:spPr>
          <a:xfrm>
            <a:off x="4297680" y="1463040"/>
            <a:ext cx="3474720" cy="4206240"/>
          </a:xfrm>
          <a:prstGeom prst="roundRect">
            <a:avLst>
              <a:gd name="adj" fmla="val 5263"/>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1" name="Illustration" descr="preencoded.png">    </p:cNvPr>
          <p:cNvPicPr>
            <a:picLocks noChangeAspect="1"/>
          </p:cNvPicPr>
          <p:nvPr/>
        </p:nvPicPr>
        <p:blipFill>
          <a:blip r:embed="rId3"/>
          <a:stretch>
            <a:fillRect/>
          </a:stretch>
        </p:blipFill>
        <p:spPr>
          <a:xfrm>
            <a:off x="5166360" y="2017395"/>
            <a:ext cx="1737360" cy="1737360"/>
          </a:xfrm>
          <a:prstGeom prst="rect">
            <a:avLst/>
          </a:prstGeom>
        </p:spPr>
      </p:pic>
      <p:sp>
        <p:nvSpPr>
          <p:cNvPr id="12" name="Text 6"/>
          <p:cNvSpPr txBox="1"/>
          <p:nvPr/>
        </p:nvSpPr>
        <p:spPr>
          <a:xfrm>
            <a:off x="4480560" y="3937635"/>
            <a:ext cx="3108960" cy="502920"/>
          </a:xfrm>
          <a:prstGeom prst="rect">
            <a:avLst/>
          </a:prstGeom>
          <a:noFill/>
          <a:ln/>
        </p:spPr>
        <p:txBody>
          <a:bodyPr wrap="square" lIns="0" tIns="0" rIns="0" bIns="0" rtlCol="0" anchor="ctr"/>
          <a:lstStyle/>
          <a:p>
            <a:pPr algn="ctr" indent="0" marL="0">
              <a:buNone/>
            </a:pPr>
            <a:r>
              <a:rPr lang="en-US" sz="2100" b="1" dirty="0">
                <a:solidFill>
                  <a:schemeClr val="tx2"/>
                </a:solidFill>
              </a:rPr>
              <a:t>존중을 배우는 시간</a:t>
            </a:r>
            <a:endParaRPr lang="en-US" sz="2100" dirty="0"/>
          </a:p>
        </p:txBody>
      </p:sp>
      <p:sp>
        <p:nvSpPr>
          <p:cNvPr id="13" name="Text 7"/>
          <p:cNvSpPr txBox="1"/>
          <p:nvPr/>
        </p:nvSpPr>
        <p:spPr>
          <a:xfrm>
            <a:off x="4526280" y="4531995"/>
            <a:ext cx="3017520" cy="720090"/>
          </a:xfrm>
          <a:prstGeom prst="rect">
            <a:avLst/>
          </a:prstGeom>
          <a:noFill/>
          <a:ln/>
        </p:spPr>
        <p:txBody>
          <a:bodyPr wrap="square" lIns="0" tIns="0" rIns="0" bIns="0" rtlCol="0" anchor="t"/>
          <a:lstStyle/>
          <a:p>
            <a:pPr algn="ctr" indent="0" marL="0">
              <a:buNone/>
            </a:pPr>
            <a:r>
              <a:rPr lang="en-US" sz="1700" dirty="0">
                <a:solidFill>
                  <a:schemeClr val="tx1"/>
                </a:solidFill>
              </a:rPr>
              <a:t>좋아하는 마음을</a:t>
            </a:r>
            <a:endParaRPr lang="en-US" sz="1700" dirty="0"/>
          </a:p>
          <a:p>
            <a:pPr algn="ctr" indent="0" marL="0">
              <a:buNone/>
            </a:pPr>
            <a:r>
              <a:rPr lang="en-US" sz="1700" dirty="0">
                <a:solidFill>
                  <a:schemeClr val="tx1"/>
                </a:solidFill>
              </a:rPr>
              <a:t>건강하게 표현하는 법</a:t>
            </a:r>
            <a:endParaRPr lang="en-US" sz="1700" dirty="0"/>
          </a:p>
        </p:txBody>
      </p:sp>
      <p:sp>
        <p:nvSpPr>
          <p:cNvPr id="14" name="Card"/>
          <p:cNvSpPr/>
          <p:nvPr/>
        </p:nvSpPr>
        <p:spPr>
          <a:xfrm>
            <a:off x="8046720" y="1463040"/>
            <a:ext cx="3474720" cy="4206240"/>
          </a:xfrm>
          <a:prstGeom prst="roundRect">
            <a:avLst>
              <a:gd name="adj" fmla="val 5263"/>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5" name="Illustration" descr="preencoded.png">    </p:cNvPr>
          <p:cNvPicPr>
            <a:picLocks noChangeAspect="1"/>
          </p:cNvPicPr>
          <p:nvPr/>
        </p:nvPicPr>
        <p:blipFill>
          <a:blip r:embed="rId4"/>
          <a:stretch>
            <a:fillRect/>
          </a:stretch>
        </p:blipFill>
        <p:spPr>
          <a:xfrm>
            <a:off x="8915400" y="2017395"/>
            <a:ext cx="1737360" cy="1737360"/>
          </a:xfrm>
          <a:prstGeom prst="rect">
            <a:avLst/>
          </a:prstGeom>
        </p:spPr>
      </p:pic>
      <p:sp>
        <p:nvSpPr>
          <p:cNvPr id="16" name="Text 9"/>
          <p:cNvSpPr txBox="1"/>
          <p:nvPr/>
        </p:nvSpPr>
        <p:spPr>
          <a:xfrm>
            <a:off x="8229600" y="3937635"/>
            <a:ext cx="3108960" cy="502920"/>
          </a:xfrm>
          <a:prstGeom prst="rect">
            <a:avLst/>
          </a:prstGeom>
          <a:noFill/>
          <a:ln/>
        </p:spPr>
        <p:txBody>
          <a:bodyPr wrap="square" lIns="0" tIns="0" rIns="0" bIns="0" rtlCol="0" anchor="ctr"/>
          <a:lstStyle/>
          <a:p>
            <a:pPr algn="ctr" indent="0" marL="0">
              <a:buNone/>
            </a:pPr>
            <a:r>
              <a:rPr lang="en-US" sz="2100" b="1" dirty="0">
                <a:solidFill>
                  <a:schemeClr val="tx2"/>
                </a:solidFill>
              </a:rPr>
              <a:t>나와 친구를 지키는 힘</a:t>
            </a:r>
            <a:endParaRPr lang="en-US" sz="2100" dirty="0"/>
          </a:p>
        </p:txBody>
      </p:sp>
      <p:sp>
        <p:nvSpPr>
          <p:cNvPr id="17" name="Text 10"/>
          <p:cNvSpPr txBox="1"/>
          <p:nvPr/>
        </p:nvSpPr>
        <p:spPr>
          <a:xfrm>
            <a:off x="8275320" y="4531995"/>
            <a:ext cx="3017520" cy="720090"/>
          </a:xfrm>
          <a:prstGeom prst="rect">
            <a:avLst/>
          </a:prstGeom>
          <a:noFill/>
          <a:ln/>
        </p:spPr>
        <p:txBody>
          <a:bodyPr wrap="square" lIns="0" tIns="0" rIns="0" bIns="0" rtlCol="0" anchor="t"/>
          <a:lstStyle/>
          <a:p>
            <a:pPr algn="ctr" indent="0" marL="0">
              <a:buNone/>
            </a:pPr>
            <a:r>
              <a:rPr lang="en-US" sz="1700" dirty="0">
                <a:solidFill>
                  <a:schemeClr val="tx1"/>
                </a:solidFill>
              </a:rPr>
              <a:t>위험 신호를 알고</a:t>
            </a:r>
            <a:endParaRPr lang="en-US" sz="1700" dirty="0"/>
          </a:p>
          <a:p>
            <a:pPr algn="ctr" indent="0" marL="0">
              <a:buNone/>
            </a:pPr>
            <a:r>
              <a:rPr lang="en-US" sz="1700" dirty="0">
                <a:solidFill>
                  <a:schemeClr val="tx1"/>
                </a:solidFill>
              </a:rPr>
              <a:t>도움을 요청하는 법</a:t>
            </a:r>
            <a:endParaRPr lang="en-US" sz="1700" dirty="0"/>
          </a:p>
        </p:txBody>
      </p:sp>
      <p:sp>
        <p:nvSpPr>
          <p:cNvPr id="18"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성폭력방지법 제5조 · 학교폭력예방법 제2조</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교제폭력이란?</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1. 목적·정의·필요성</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6583680" cy="4206240"/>
          </a:xfrm>
          <a:prstGeom prst="roundRect">
            <a:avLst>
              <a:gd name="adj" fmla="val 4348"/>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7" name="Illustration" descr="preencoded.png">    </p:cNvPr>
          <p:cNvPicPr>
            <a:picLocks noChangeAspect="1"/>
          </p:cNvPicPr>
          <p:nvPr/>
        </p:nvPicPr>
        <p:blipFill>
          <a:blip r:embed="rId2"/>
          <a:stretch>
            <a:fillRect/>
          </a:stretch>
        </p:blipFill>
        <p:spPr>
          <a:xfrm>
            <a:off x="868680" y="1783080"/>
            <a:ext cx="914400" cy="914400"/>
          </a:xfrm>
          <a:prstGeom prst="rect">
            <a:avLst/>
          </a:prstGeom>
        </p:spPr>
      </p:pic>
      <p:sp>
        <p:nvSpPr>
          <p:cNvPr id="8" name="Text 3"/>
          <p:cNvSpPr txBox="1"/>
          <p:nvPr/>
        </p:nvSpPr>
        <p:spPr>
          <a:xfrm>
            <a:off x="2011680" y="1783080"/>
            <a:ext cx="4937760" cy="914400"/>
          </a:xfrm>
          <a:prstGeom prst="rect">
            <a:avLst/>
          </a:prstGeom>
          <a:noFill/>
          <a:ln/>
        </p:spPr>
        <p:txBody>
          <a:bodyPr wrap="square" lIns="0" tIns="0" rIns="0" bIns="0" rtlCol="0" anchor="ctr"/>
          <a:lstStyle/>
          <a:p>
            <a:pPr indent="0" marL="0">
              <a:buNone/>
            </a:pPr>
            <a:r>
              <a:rPr lang="en-US" sz="2000" b="1" dirty="0">
                <a:solidFill>
                  <a:schemeClr val="tx2"/>
                </a:solidFill>
              </a:rPr>
              <a:t>사귀는 사이, 또는 사귀었던 사이에서</a:t>
            </a:r>
            <a:endParaRPr lang="en-US" sz="2000" dirty="0"/>
          </a:p>
        </p:txBody>
      </p:sp>
      <p:sp>
        <p:nvSpPr>
          <p:cNvPr id="9" name="Text 4"/>
          <p:cNvSpPr txBox="1"/>
          <p:nvPr/>
        </p:nvSpPr>
        <p:spPr>
          <a:xfrm>
            <a:off x="868680" y="3017520"/>
            <a:ext cx="6035040" cy="1280160"/>
          </a:xfrm>
          <a:prstGeom prst="rect">
            <a:avLst/>
          </a:prstGeom>
          <a:noFill/>
          <a:ln/>
        </p:spPr>
        <p:txBody>
          <a:bodyPr wrap="square" lIns="0" tIns="0" rIns="0" bIns="0" rtlCol="0" anchor="t"/>
          <a:lstStyle/>
          <a:p>
            <a:pPr indent="0" marL="0">
              <a:buNone/>
            </a:pPr>
            <a:r>
              <a:rPr lang="en-US" sz="2200" dirty="0">
                <a:solidFill>
                  <a:schemeClr val="tx1"/>
                </a:solidFill>
              </a:rPr>
              <a:t>몸·마음·성·돈·휴대폰으로</a:t>
            </a:r>
            <a:endParaRPr lang="en-US" sz="2200" dirty="0"/>
          </a:p>
          <a:p>
            <a:pPr indent="0" marL="0">
              <a:buNone/>
            </a:pPr>
            <a:r>
              <a:rPr lang="en-US" sz="2200" dirty="0">
                <a:solidFill>
                  <a:schemeClr val="tx1"/>
                </a:solidFill>
              </a:rPr>
              <a:t>상대를 아프게 하거나 통제하는 모든 행동</a:t>
            </a:r>
            <a:endParaRPr lang="en-US" sz="2200" dirty="0"/>
          </a:p>
        </p:txBody>
      </p:sp>
      <p:sp>
        <p:nvSpPr>
          <p:cNvPr id="10" name="Text 5"/>
          <p:cNvSpPr txBox="1"/>
          <p:nvPr/>
        </p:nvSpPr>
        <p:spPr>
          <a:xfrm>
            <a:off x="868680" y="5029200"/>
            <a:ext cx="6035040" cy="365760"/>
          </a:xfrm>
          <a:prstGeom prst="rect">
            <a:avLst/>
          </a:prstGeom>
          <a:noFill/>
          <a:ln/>
        </p:spPr>
        <p:txBody>
          <a:bodyPr wrap="square" lIns="0" tIns="0" rIns="0" bIns="0" rtlCol="0" anchor="ctr"/>
          <a:lstStyle/>
          <a:p>
            <a:pPr indent="0" marL="0">
              <a:buNone/>
            </a:pPr>
            <a:r>
              <a:rPr lang="en-US" sz="1200" dirty="0">
                <a:solidFill>
                  <a:schemeClr val="accent6"/>
                </a:solidFill>
              </a:rPr>
              <a:t>WHO: 친밀한 파트너 폭력(Intimate Partner Violence)</a:t>
            </a:r>
            <a:endParaRPr lang="en-US" sz="1200" dirty="0"/>
          </a:p>
        </p:txBody>
      </p:sp>
      <p:sp>
        <p:nvSpPr>
          <p:cNvPr id="11" name="Card"/>
          <p:cNvSpPr/>
          <p:nvPr/>
        </p:nvSpPr>
        <p:spPr>
          <a:xfrm>
            <a:off x="7406640" y="1463040"/>
            <a:ext cx="4206240" cy="4206240"/>
          </a:xfrm>
          <a:prstGeom prst="roundRect">
            <a:avLst>
              <a:gd name="adj" fmla="val 4348"/>
            </a:avLst>
          </a:prstGeom>
          <a:solidFill>
            <a:schemeClr val="tx2"/>
          </a:solidFill>
          <a:ln/>
          <a:effectLst>
            <a:outerShdw sx="100000" sy="100000" kx="0" ky="0" algn="bl" rotWithShape="0" blurRad="101600" dist="25400" dir="5400000">
              <a:srgbClr val="4A1D3F">
                <a:alpha val="28000"/>
              </a:srgbClr>
            </a:outerShdw>
          </a:effectLst>
        </p:spPr>
      </p:sp>
      <p:sp>
        <p:nvSpPr>
          <p:cNvPr id="12" name="Text 7"/>
          <p:cNvSpPr txBox="1"/>
          <p:nvPr/>
        </p:nvSpPr>
        <p:spPr>
          <a:xfrm>
            <a:off x="7680960" y="1737360"/>
            <a:ext cx="3657600" cy="457200"/>
          </a:xfrm>
          <a:prstGeom prst="rect">
            <a:avLst/>
          </a:prstGeom>
          <a:noFill/>
          <a:ln/>
        </p:spPr>
        <p:txBody>
          <a:bodyPr wrap="square" lIns="0" tIns="0" rIns="0" bIns="0" rtlCol="0" anchor="ctr"/>
          <a:lstStyle/>
          <a:p>
            <a:pPr algn="ctr" indent="0" marL="0">
              <a:buNone/>
            </a:pPr>
            <a:r>
              <a:rPr lang="en-US" sz="1600" b="1" dirty="0">
                <a:solidFill>
                  <a:schemeClr val="accent3"/>
                </a:solidFill>
              </a:rPr>
              <a:t>핵심은 하나</a:t>
            </a:r>
            <a:endParaRPr lang="en-US" sz="1600" dirty="0"/>
          </a:p>
        </p:txBody>
      </p:sp>
      <p:sp>
        <p:nvSpPr>
          <p:cNvPr id="13" name="Text 8"/>
          <p:cNvSpPr txBox="1"/>
          <p:nvPr/>
        </p:nvSpPr>
        <p:spPr>
          <a:xfrm>
            <a:off x="7680960" y="2286000"/>
            <a:ext cx="3657600" cy="914400"/>
          </a:xfrm>
          <a:prstGeom prst="rect">
            <a:avLst/>
          </a:prstGeom>
          <a:noFill/>
          <a:ln/>
        </p:spPr>
        <p:txBody>
          <a:bodyPr wrap="square" lIns="0" tIns="0" rIns="0" bIns="0" rtlCol="0" anchor="ctr"/>
          <a:lstStyle/>
          <a:p>
            <a:pPr algn="ctr" indent="0" marL="0">
              <a:buNone/>
            </a:pPr>
            <a:r>
              <a:rPr lang="en-US" sz="3600" b="1" dirty="0">
                <a:solidFill>
                  <a:schemeClr val="accent1"/>
                </a:solidFill>
              </a:rPr>
              <a:t>권력과 통제</a:t>
            </a:r>
            <a:endParaRPr lang="en-US" sz="3600" dirty="0"/>
          </a:p>
        </p:txBody>
      </p:sp>
      <p:sp>
        <p:nvSpPr>
          <p:cNvPr id="14" name="Text 9"/>
          <p:cNvSpPr txBox="1"/>
          <p:nvPr/>
        </p:nvSpPr>
        <p:spPr>
          <a:xfrm>
            <a:off x="7680960" y="3383280"/>
            <a:ext cx="3657600" cy="2011680"/>
          </a:xfrm>
          <a:prstGeom prst="rect">
            <a:avLst/>
          </a:prstGeom>
          <a:noFill/>
          <a:ln/>
        </p:spPr>
        <p:txBody>
          <a:bodyPr wrap="square" lIns="0" tIns="0" rIns="0" bIns="0" rtlCol="0" anchor="t"/>
          <a:lstStyle/>
          <a:p>
            <a:pPr algn="ctr" indent="0" marL="0">
              <a:buNone/>
            </a:pPr>
            <a:r>
              <a:rPr lang="en-US" sz="1800" dirty="0">
                <a:solidFill>
                  <a:schemeClr val="bg1"/>
                </a:solidFill>
              </a:rPr>
              <a:t>때리지 않아도</a:t>
            </a:r>
            <a:endParaRPr lang="en-US" sz="1800" dirty="0"/>
          </a:p>
          <a:p>
            <a:pPr algn="ctr" indent="0" marL="0">
              <a:buNone/>
            </a:pPr>
            <a:r>
              <a:rPr lang="en-US" sz="1800" dirty="0">
                <a:solidFill>
                  <a:schemeClr val="bg1"/>
                </a:solidFill>
              </a:rPr>
              <a:t>감시·위협만으로</a:t>
            </a:r>
            <a:endParaRPr lang="en-US" sz="1800" dirty="0"/>
          </a:p>
          <a:p>
            <a:pPr algn="ctr" indent="0" marL="0">
              <a:buNone/>
            </a:pPr>
            <a:r>
              <a:rPr lang="en-US" sz="1800" dirty="0">
                <a:solidFill>
                  <a:schemeClr val="bg1"/>
                </a:solidFill>
              </a:rPr>
              <a:t>폭력이 될 수 있어요</a:t>
            </a:r>
            <a:endParaRPr lang="en-US" sz="18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‘YES’만이 동의입니다</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1. 목적·정의·필요성</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onsent circle"/>
          <p:cNvSpPr/>
          <p:nvPr/>
        </p:nvSpPr>
        <p:spPr>
          <a:xfrm>
            <a:off x="731520" y="1463040"/>
            <a:ext cx="3291840" cy="3291840"/>
          </a:xfrm>
          <a:prstGeom prst="ellipse">
            <a:avLst/>
          </a:prstGeom>
          <a:solidFill>
            <a:schemeClr val="tx2"/>
          </a:solidFill>
          <a:ln w="38100">
            <a:solidFill>
              <a:schemeClr val="accent1"/>
            </a:solidFill>
            <a:prstDash val="dash"/>
          </a:ln>
        </p:spPr>
      </p:sp>
      <p:sp>
        <p:nvSpPr>
          <p:cNvPr id="7" name="Text 3"/>
          <p:cNvSpPr txBox="1"/>
          <p:nvPr/>
        </p:nvSpPr>
        <p:spPr>
          <a:xfrm>
            <a:off x="731520" y="1463040"/>
            <a:ext cx="3291840" cy="3291840"/>
          </a:xfrm>
          <a:prstGeom prst="rect">
            <a:avLst/>
          </a:prstGeom>
          <a:noFill/>
          <a:ln/>
        </p:spPr>
        <p:txBody>
          <a:bodyPr wrap="square" lIns="0" tIns="0" rIns="0" bIns="0" rtlCol="0" anchor="ctr"/>
          <a:lstStyle/>
          <a:p>
            <a:pPr algn="ctr" indent="0" marL="0">
              <a:buNone/>
            </a:pPr>
            <a:r>
              <a:rPr lang="en-US" sz="6000" b="1" dirty="0">
                <a:solidFill>
                  <a:schemeClr val="accent1"/>
                </a:solidFill>
              </a:rPr>
              <a:t>YES</a:t>
            </a:r>
            <a:endParaRPr lang="en-US" sz="6000" dirty="0"/>
          </a:p>
          <a:p>
            <a:pPr algn="ctr" indent="0" marL="0">
              <a:buNone/>
            </a:pPr>
            <a:r>
              <a:rPr lang="en-US" sz="2200" b="1" dirty="0">
                <a:solidFill>
                  <a:schemeClr val="bg1"/>
                </a:solidFill>
              </a:rPr>
              <a:t>만이 동의</a:t>
            </a:r>
            <a:endParaRPr lang="en-US" sz="6000" dirty="0"/>
          </a:p>
        </p:txBody>
      </p:sp>
      <p:sp>
        <p:nvSpPr>
          <p:cNvPr id="8" name="Card"/>
          <p:cNvSpPr/>
          <p:nvPr/>
        </p:nvSpPr>
        <p:spPr>
          <a:xfrm>
            <a:off x="4480560" y="1463040"/>
            <a:ext cx="3429000" cy="1463040"/>
          </a:xfrm>
          <a:prstGeom prst="roundRect">
            <a:avLst>
              <a:gd name="adj" fmla="val 12500"/>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9" name="Illustration" descr="preencoded.png">    </p:cNvPr>
          <p:cNvPicPr>
            <a:picLocks noChangeAspect="1"/>
          </p:cNvPicPr>
          <p:nvPr/>
        </p:nvPicPr>
        <p:blipFill>
          <a:blip r:embed="rId2"/>
          <a:stretch>
            <a:fillRect/>
          </a:stretch>
        </p:blipFill>
        <p:spPr>
          <a:xfrm>
            <a:off x="4754880" y="1828800"/>
            <a:ext cx="731520" cy="731520"/>
          </a:xfrm>
          <a:prstGeom prst="rect">
            <a:avLst/>
          </a:prstGeom>
        </p:spPr>
      </p:pic>
      <p:sp>
        <p:nvSpPr>
          <p:cNvPr id="10" name="Text 5"/>
          <p:cNvSpPr txBox="1"/>
          <p:nvPr/>
        </p:nvSpPr>
        <p:spPr>
          <a:xfrm>
            <a:off x="5715000" y="1554480"/>
            <a:ext cx="1965960" cy="1280160"/>
          </a:xfrm>
          <a:prstGeom prst="rect">
            <a:avLst/>
          </a:prstGeom>
          <a:noFill/>
          <a:ln/>
        </p:spPr>
        <p:txBody>
          <a:bodyPr wrap="square" lIns="0" tIns="0" rIns="0" bIns="0" rtlCol="0" anchor="ctr"/>
          <a:lstStyle/>
          <a:p>
            <a:pPr indent="0" marL="0">
              <a:buNone/>
            </a:pPr>
            <a:r>
              <a:rPr lang="en-US" sz="2200" b="1" dirty="0">
                <a:solidFill>
                  <a:schemeClr val="tx2"/>
                </a:solidFill>
              </a:rPr>
              <a:t>자유롭게</a:t>
            </a:r>
            <a:endParaRPr lang="en-US" sz="2200" dirty="0"/>
          </a:p>
        </p:txBody>
      </p:sp>
      <p:sp>
        <p:nvSpPr>
          <p:cNvPr id="11" name="Card"/>
          <p:cNvSpPr/>
          <p:nvPr/>
        </p:nvSpPr>
        <p:spPr>
          <a:xfrm>
            <a:off x="8092440" y="1463040"/>
            <a:ext cx="3429000" cy="1463040"/>
          </a:xfrm>
          <a:prstGeom prst="roundRect">
            <a:avLst>
              <a:gd name="adj" fmla="val 12500"/>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2" name="Illustration" descr="preencoded.png">    </p:cNvPr>
          <p:cNvPicPr>
            <a:picLocks noChangeAspect="1"/>
          </p:cNvPicPr>
          <p:nvPr/>
        </p:nvPicPr>
        <p:blipFill>
          <a:blip r:embed="rId3"/>
          <a:stretch>
            <a:fillRect/>
          </a:stretch>
        </p:blipFill>
        <p:spPr>
          <a:xfrm>
            <a:off x="8366760" y="1828800"/>
            <a:ext cx="731520" cy="731520"/>
          </a:xfrm>
          <a:prstGeom prst="rect">
            <a:avLst/>
          </a:prstGeom>
        </p:spPr>
      </p:pic>
      <p:sp>
        <p:nvSpPr>
          <p:cNvPr id="13" name="Text 7"/>
          <p:cNvSpPr txBox="1"/>
          <p:nvPr/>
        </p:nvSpPr>
        <p:spPr>
          <a:xfrm>
            <a:off x="9326880" y="1554480"/>
            <a:ext cx="1965960" cy="1280160"/>
          </a:xfrm>
          <a:prstGeom prst="rect">
            <a:avLst/>
          </a:prstGeom>
          <a:noFill/>
          <a:ln/>
        </p:spPr>
        <p:txBody>
          <a:bodyPr wrap="square" lIns="0" tIns="0" rIns="0" bIns="0" rtlCol="0" anchor="ctr"/>
          <a:lstStyle/>
          <a:p>
            <a:pPr indent="0" marL="0">
              <a:buNone/>
            </a:pPr>
            <a:r>
              <a:rPr lang="en-US" sz="2200" b="1" dirty="0">
                <a:solidFill>
                  <a:schemeClr val="tx2"/>
                </a:solidFill>
              </a:rPr>
              <a:t>분명하게</a:t>
            </a:r>
            <a:endParaRPr lang="en-US" sz="2200" dirty="0"/>
          </a:p>
        </p:txBody>
      </p:sp>
      <p:sp>
        <p:nvSpPr>
          <p:cNvPr id="14" name="Card"/>
          <p:cNvSpPr/>
          <p:nvPr/>
        </p:nvSpPr>
        <p:spPr>
          <a:xfrm>
            <a:off x="4480560" y="3154680"/>
            <a:ext cx="3429000" cy="1463040"/>
          </a:xfrm>
          <a:prstGeom prst="roundRect">
            <a:avLst>
              <a:gd name="adj" fmla="val 12500"/>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5" name="Illustration" descr="preencoded.png">    </p:cNvPr>
          <p:cNvPicPr>
            <a:picLocks noChangeAspect="1"/>
          </p:cNvPicPr>
          <p:nvPr/>
        </p:nvPicPr>
        <p:blipFill>
          <a:blip r:embed="rId4"/>
          <a:stretch>
            <a:fillRect/>
          </a:stretch>
        </p:blipFill>
        <p:spPr>
          <a:xfrm>
            <a:off x="4754880" y="3520440"/>
            <a:ext cx="731520" cy="731520"/>
          </a:xfrm>
          <a:prstGeom prst="rect">
            <a:avLst/>
          </a:prstGeom>
        </p:spPr>
      </p:pic>
      <p:sp>
        <p:nvSpPr>
          <p:cNvPr id="16" name="Text 9"/>
          <p:cNvSpPr txBox="1"/>
          <p:nvPr/>
        </p:nvSpPr>
        <p:spPr>
          <a:xfrm>
            <a:off x="5715000" y="3246120"/>
            <a:ext cx="1965960" cy="1280160"/>
          </a:xfrm>
          <a:prstGeom prst="rect">
            <a:avLst/>
          </a:prstGeom>
          <a:noFill/>
          <a:ln/>
        </p:spPr>
        <p:txBody>
          <a:bodyPr wrap="square" lIns="0" tIns="0" rIns="0" bIns="0" rtlCol="0" anchor="ctr"/>
          <a:lstStyle/>
          <a:p>
            <a:pPr indent="0" marL="0">
              <a:buNone/>
            </a:pPr>
            <a:r>
              <a:rPr lang="en-US" sz="2200" b="1" dirty="0">
                <a:solidFill>
                  <a:schemeClr val="tx2"/>
                </a:solidFill>
              </a:rPr>
              <a:t>그때마다</a:t>
            </a:r>
            <a:endParaRPr lang="en-US" sz="2200" dirty="0"/>
          </a:p>
        </p:txBody>
      </p:sp>
      <p:sp>
        <p:nvSpPr>
          <p:cNvPr id="17" name="Card"/>
          <p:cNvSpPr/>
          <p:nvPr/>
        </p:nvSpPr>
        <p:spPr>
          <a:xfrm>
            <a:off x="8092440" y="3154680"/>
            <a:ext cx="3429000" cy="1463040"/>
          </a:xfrm>
          <a:prstGeom prst="roundRect">
            <a:avLst>
              <a:gd name="adj" fmla="val 12500"/>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8" name="Illustration" descr="preencoded.png">    </p:cNvPr>
          <p:cNvPicPr>
            <a:picLocks noChangeAspect="1"/>
          </p:cNvPicPr>
          <p:nvPr/>
        </p:nvPicPr>
        <p:blipFill>
          <a:blip r:embed="rId5"/>
          <a:stretch>
            <a:fillRect/>
          </a:stretch>
        </p:blipFill>
        <p:spPr>
          <a:xfrm>
            <a:off x="8366760" y="3520440"/>
            <a:ext cx="731520" cy="731520"/>
          </a:xfrm>
          <a:prstGeom prst="rect">
            <a:avLst/>
          </a:prstGeom>
        </p:spPr>
      </p:pic>
      <p:sp>
        <p:nvSpPr>
          <p:cNvPr id="19" name="Text 11"/>
          <p:cNvSpPr txBox="1"/>
          <p:nvPr/>
        </p:nvSpPr>
        <p:spPr>
          <a:xfrm>
            <a:off x="9326880" y="3246120"/>
            <a:ext cx="1965960" cy="1280160"/>
          </a:xfrm>
          <a:prstGeom prst="rect">
            <a:avLst/>
          </a:prstGeom>
          <a:noFill/>
          <a:ln/>
        </p:spPr>
        <p:txBody>
          <a:bodyPr wrap="square" lIns="0" tIns="0" rIns="0" bIns="0" rtlCol="0" anchor="ctr"/>
          <a:lstStyle/>
          <a:p>
            <a:pPr indent="0" marL="0">
              <a:buNone/>
            </a:pPr>
            <a:r>
              <a:rPr lang="en-US" sz="2200" b="1" dirty="0">
                <a:solidFill>
                  <a:schemeClr val="tx2"/>
                </a:solidFill>
              </a:rPr>
              <a:t>언제든 그만</a:t>
            </a:r>
            <a:endParaRPr lang="en-US" sz="2200" dirty="0"/>
          </a:p>
        </p:txBody>
      </p:sp>
      <p:sp>
        <p:nvSpPr>
          <p:cNvPr id="20" name="Card"/>
          <p:cNvSpPr/>
          <p:nvPr/>
        </p:nvSpPr>
        <p:spPr>
          <a:xfrm>
            <a:off x="548640" y="5074920"/>
            <a:ext cx="11064240" cy="822960"/>
          </a:xfrm>
          <a:prstGeom prst="roundRect">
            <a:avLst>
              <a:gd name="adj" fmla="val 22222"/>
            </a:avLst>
          </a:prstGeom>
          <a:solidFill>
            <a:schemeClr val="bg1"/>
          </a:solidFill>
          <a:ln w="15875">
            <a:solidFill>
              <a:srgbClr val="E8505B"/>
            </a:solidFill>
            <a:prstDash val="dash"/>
          </a:ln>
          <a:effectLst>
            <a:outerShdw sx="100000" sy="100000" kx="0" ky="0" algn="bl" rotWithShape="0" blurRad="101600" dist="25400" dir="5400000">
              <a:srgbClr val="4A1D3F">
                <a:alpha val="10000"/>
              </a:srgbClr>
            </a:outerShdw>
          </a:effectLst>
        </p:spPr>
      </p:sp>
      <p:sp>
        <p:nvSpPr>
          <p:cNvPr id="21" name="Text 13"/>
          <p:cNvSpPr txBox="1"/>
          <p:nvPr/>
        </p:nvSpPr>
        <p:spPr>
          <a:xfrm>
            <a:off x="822960" y="5074920"/>
            <a:ext cx="10515600" cy="822960"/>
          </a:xfrm>
          <a:prstGeom prst="rect">
            <a:avLst/>
          </a:prstGeom>
          <a:noFill/>
          <a:ln/>
        </p:spPr>
        <p:txBody>
          <a:bodyPr wrap="square" lIns="0" tIns="0" rIns="0" bIns="0" rtlCol="0" anchor="ctr"/>
          <a:lstStyle/>
          <a:p>
            <a:pPr algn="ctr" indent="0" marL="0">
              <a:buNone/>
            </a:pPr>
            <a:r>
              <a:rPr lang="en-US" sz="1700" b="1" dirty="0">
                <a:solidFill>
                  <a:schemeClr val="tx2"/>
                </a:solidFill>
              </a:rPr>
              <a:t>16세 미만 + 성인 상대 = 동의해도 범죄     ·     청소년의 성적 사진은 보냈어도 ‘성착취물’</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해마다 늘어나는 교제폭력</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2. 늘어나는 이유</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graphicFrame>
        <p:nvGraphicFramePr>
          <p:cNvPr id="6" name="Chart 0" descr=""/>
          <p:cNvGraphicFramePr/>
          <p:nvPr/>
        </p:nvGraphicFramePr>
        <p:xfrm>
          <a:off x="548640" y="1371600"/>
          <a:ext cx="5577840" cy="4206240"/>
        </p:xfrm>
        <a:graphic xmlns:a="http://schemas.openxmlformats.org/drawingml/2006/main">
          <a:graphicData uri="http://schemas.openxmlformats.org/drawingml/2006/chart">
            <c:chart xmlns:c="http://schemas.openxmlformats.org/drawingml/2006/chart" r:id="rId2"/>
          </a:graphicData>
        </a:graphic>
      </p:graphicFrame>
      <p:graphicFrame>
        <p:nvGraphicFramePr>
          <p:cNvPr id="7" name="Chart 1" descr=""/>
          <p:cNvGraphicFramePr/>
          <p:nvPr/>
        </p:nvGraphicFramePr>
        <p:xfrm>
          <a:off x="6309360" y="1371600"/>
          <a:ext cx="5303520" cy="4206240"/>
        </p:xfrm>
        <a:graphic xmlns:a="http://schemas.openxmlformats.org/drawingml/2006/main">
          <a:graphicData uri="http://schemas.openxmlformats.org/drawingml/2006/chart">
            <c:chart xmlns:c="http://schemas.openxmlformats.org/drawingml/2006/chart" r:id="rId3"/>
          </a:graphicData>
        </a:graphic>
      </p:graphicFrame>
      <p:sp>
        <p:nvSpPr>
          <p:cNvPr id="8" name="Card"/>
          <p:cNvSpPr/>
          <p:nvPr/>
        </p:nvSpPr>
        <p:spPr>
          <a:xfrm>
            <a:off x="548640" y="5532120"/>
            <a:ext cx="11064240" cy="502920"/>
          </a:xfrm>
          <a:prstGeom prst="roundRect">
            <a:avLst>
              <a:gd name="adj" fmla="val 36364"/>
            </a:avLst>
          </a:prstGeom>
          <a:solidFill>
            <a:schemeClr val="tx2"/>
          </a:solidFill>
          <a:ln/>
          <a:effectLst>
            <a:outerShdw sx="100000" sy="100000" kx="0" ky="0" algn="bl" rotWithShape="0" blurRad="101600" dist="25400" dir="5400000">
              <a:srgbClr val="4A1D3F">
                <a:alpha val="28000"/>
              </a:srgbClr>
            </a:outerShdw>
          </a:effectLst>
        </p:spPr>
      </p:sp>
      <p:sp>
        <p:nvSpPr>
          <p:cNvPr id="9" name="Text 3"/>
          <p:cNvSpPr txBox="1"/>
          <p:nvPr/>
        </p:nvSpPr>
        <p:spPr>
          <a:xfrm>
            <a:off x="822960" y="5532120"/>
            <a:ext cx="10515600" cy="502920"/>
          </a:xfrm>
          <a:prstGeom prst="rect">
            <a:avLst/>
          </a:prstGeom>
          <a:noFill/>
          <a:ln/>
        </p:spPr>
        <p:txBody>
          <a:bodyPr wrap="square" lIns="0" tIns="0" rIns="0" bIns="0" rtlCol="0" anchor="ctr"/>
          <a:lstStyle/>
          <a:p>
            <a:pPr algn="ctr" indent="0" marL="0">
              <a:buNone/>
            </a:pPr>
            <a:r>
              <a:rPr lang="en-US" sz="1600" b="1" dirty="0">
                <a:solidFill>
                  <a:schemeClr val="bg1"/>
                </a:solidFill>
              </a:rPr>
              <a:t>10년 만에 검거 1.7배  ·  신고는 5년 만에 1.84배  ·  하루 289건 신고</a:t>
            </a:r>
            <a:endParaRPr lang="en-US" sz="1600" dirty="0"/>
          </a:p>
        </p:txBody>
      </p:sp>
      <p:sp>
        <p:nvSpPr>
          <p:cNvPr id="10" name="Source"/>
          <p:cNvSpPr txBox="1"/>
          <p:nvPr/>
        </p:nvSpPr>
        <p:spPr>
          <a:xfrm>
            <a:off x="548640" y="6089904"/>
            <a:ext cx="11064240" cy="256032"/>
          </a:xfrm>
          <a:prstGeom prst="rect">
            <a:avLst/>
          </a:prstGeom>
          <a:noFill/>
          <a:ln/>
        </p:spPr>
        <p:txBody>
          <a:bodyPr wrap="square" lIns="0" tIns="0" rIns="0" bIns="0" rtlCol="0" anchor="ctr"/>
          <a:lstStyle/>
          <a:p>
            <a:pPr indent="0" marL="0">
              <a:buNone/>
            </a:pPr>
            <a:r>
              <a:rPr lang="en-US" sz="1000" dirty="0">
                <a:solidFill>
                  <a:schemeClr val="accent6"/>
                </a:solidFill>
              </a:rPr>
              <a:t>출처: 경찰청(이은주 의원실 2021, 박정현 의원실 2026.9) · 2016~2020 ‘데이트폭력’ 집계</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왜 늘어날까요?</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2. 늘어나는 이유</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2606040" cy="4206240"/>
          </a:xfrm>
          <a:prstGeom prst="roundRect">
            <a:avLst>
              <a:gd name="adj" fmla="val 7018"/>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7" name="Illustration" descr="preencoded.png">    </p:cNvPr>
          <p:cNvPicPr>
            <a:picLocks noChangeAspect="1"/>
          </p:cNvPicPr>
          <p:nvPr/>
        </p:nvPicPr>
        <p:blipFill>
          <a:blip r:embed="rId2"/>
          <a:stretch>
            <a:fillRect/>
          </a:stretch>
        </p:blipFill>
        <p:spPr>
          <a:xfrm>
            <a:off x="1028700" y="2208848"/>
            <a:ext cx="1645920" cy="1645920"/>
          </a:xfrm>
          <a:prstGeom prst="rect">
            <a:avLst/>
          </a:prstGeom>
        </p:spPr>
      </p:pic>
      <p:sp>
        <p:nvSpPr>
          <p:cNvPr id="8" name="Text 3"/>
          <p:cNvSpPr txBox="1"/>
          <p:nvPr/>
        </p:nvSpPr>
        <p:spPr>
          <a:xfrm>
            <a:off x="731520" y="4037648"/>
            <a:ext cx="2240280" cy="502920"/>
          </a:xfrm>
          <a:prstGeom prst="rect">
            <a:avLst/>
          </a:prstGeom>
          <a:noFill/>
          <a:ln/>
        </p:spPr>
        <p:txBody>
          <a:bodyPr wrap="square" lIns="0" tIns="0" rIns="0" bIns="0" rtlCol="0" anchor="ctr"/>
          <a:lstStyle/>
          <a:p>
            <a:pPr algn="ctr" indent="0" marL="0">
              <a:buNone/>
            </a:pPr>
            <a:r>
              <a:rPr lang="en-US" sz="2100" b="1" dirty="0">
                <a:solidFill>
                  <a:schemeClr val="tx2"/>
                </a:solidFill>
              </a:rPr>
              <a:t>24시간 연결</a:t>
            </a:r>
            <a:endParaRPr lang="en-US" sz="2100" dirty="0"/>
          </a:p>
        </p:txBody>
      </p:sp>
      <p:sp>
        <p:nvSpPr>
          <p:cNvPr id="9" name="Text 4"/>
          <p:cNvSpPr txBox="1"/>
          <p:nvPr/>
        </p:nvSpPr>
        <p:spPr>
          <a:xfrm>
            <a:off x="777240" y="4632008"/>
            <a:ext cx="2148840" cy="428625"/>
          </a:xfrm>
          <a:prstGeom prst="rect">
            <a:avLst/>
          </a:prstGeom>
          <a:noFill/>
          <a:ln/>
        </p:spPr>
        <p:txBody>
          <a:bodyPr wrap="square" lIns="0" tIns="0" rIns="0" bIns="0" rtlCol="0" anchor="t"/>
          <a:lstStyle/>
          <a:p>
            <a:pPr algn="ctr" indent="0" marL="0">
              <a:buNone/>
            </a:pPr>
            <a:r>
              <a:rPr lang="en-US" sz="1700" dirty="0">
                <a:solidFill>
                  <a:schemeClr val="tx1"/>
                </a:solidFill>
              </a:rPr>
              <a:t>감시가 쉬워졌어요</a:t>
            </a:r>
            <a:endParaRPr lang="en-US" sz="1700" dirty="0"/>
          </a:p>
        </p:txBody>
      </p:sp>
      <p:sp>
        <p:nvSpPr>
          <p:cNvPr id="10" name="Card"/>
          <p:cNvSpPr/>
          <p:nvPr/>
        </p:nvSpPr>
        <p:spPr>
          <a:xfrm>
            <a:off x="3337560" y="1463040"/>
            <a:ext cx="2606040" cy="4206240"/>
          </a:xfrm>
          <a:prstGeom prst="roundRect">
            <a:avLst>
              <a:gd name="adj" fmla="val 7018"/>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1" name="Illustration" descr="preencoded.png">    </p:cNvPr>
          <p:cNvPicPr>
            <a:picLocks noChangeAspect="1"/>
          </p:cNvPicPr>
          <p:nvPr/>
        </p:nvPicPr>
        <p:blipFill>
          <a:blip r:embed="rId3"/>
          <a:stretch>
            <a:fillRect/>
          </a:stretch>
        </p:blipFill>
        <p:spPr>
          <a:xfrm>
            <a:off x="3817620" y="2208848"/>
            <a:ext cx="1645920" cy="1645920"/>
          </a:xfrm>
          <a:prstGeom prst="rect">
            <a:avLst/>
          </a:prstGeom>
        </p:spPr>
      </p:pic>
      <p:sp>
        <p:nvSpPr>
          <p:cNvPr id="12" name="Text 6"/>
          <p:cNvSpPr txBox="1"/>
          <p:nvPr/>
        </p:nvSpPr>
        <p:spPr>
          <a:xfrm>
            <a:off x="3520440" y="4037648"/>
            <a:ext cx="2240280" cy="502920"/>
          </a:xfrm>
          <a:prstGeom prst="rect">
            <a:avLst/>
          </a:prstGeom>
          <a:noFill/>
          <a:ln/>
        </p:spPr>
        <p:txBody>
          <a:bodyPr wrap="square" lIns="0" tIns="0" rIns="0" bIns="0" rtlCol="0" anchor="ctr"/>
          <a:lstStyle/>
          <a:p>
            <a:pPr algn="ctr" indent="0" marL="0">
              <a:buNone/>
            </a:pPr>
            <a:r>
              <a:rPr lang="en-US" sz="2100" b="1" dirty="0">
                <a:solidFill>
                  <a:schemeClr val="tx2"/>
                </a:solidFill>
              </a:rPr>
              <a:t>집착 = 사랑?</a:t>
            </a:r>
            <a:endParaRPr lang="en-US" sz="2100" dirty="0"/>
          </a:p>
        </p:txBody>
      </p:sp>
      <p:sp>
        <p:nvSpPr>
          <p:cNvPr id="13" name="Text 7"/>
          <p:cNvSpPr txBox="1"/>
          <p:nvPr/>
        </p:nvSpPr>
        <p:spPr>
          <a:xfrm>
            <a:off x="3566160" y="4632008"/>
            <a:ext cx="2148840" cy="428625"/>
          </a:xfrm>
          <a:prstGeom prst="rect">
            <a:avLst/>
          </a:prstGeom>
          <a:noFill/>
          <a:ln/>
        </p:spPr>
        <p:txBody>
          <a:bodyPr wrap="square" lIns="0" tIns="0" rIns="0" bIns="0" rtlCol="0" anchor="t"/>
          <a:lstStyle/>
          <a:p>
            <a:pPr algn="ctr" indent="0" marL="0">
              <a:buNone/>
            </a:pPr>
            <a:r>
              <a:rPr lang="en-US" sz="1700" dirty="0">
                <a:solidFill>
                  <a:schemeClr val="tx1"/>
                </a:solidFill>
              </a:rPr>
              <a:t>잘못된 연애 공식</a:t>
            </a:r>
            <a:endParaRPr lang="en-US" sz="1700" dirty="0"/>
          </a:p>
        </p:txBody>
      </p:sp>
      <p:sp>
        <p:nvSpPr>
          <p:cNvPr id="14" name="Card"/>
          <p:cNvSpPr/>
          <p:nvPr/>
        </p:nvSpPr>
        <p:spPr>
          <a:xfrm>
            <a:off x="6126480" y="1463040"/>
            <a:ext cx="2606040" cy="4206240"/>
          </a:xfrm>
          <a:prstGeom prst="roundRect">
            <a:avLst>
              <a:gd name="adj" fmla="val 7018"/>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5" name="Illustration" descr="preencoded.png">    </p:cNvPr>
          <p:cNvPicPr>
            <a:picLocks noChangeAspect="1"/>
          </p:cNvPicPr>
          <p:nvPr/>
        </p:nvPicPr>
        <p:blipFill>
          <a:blip r:embed="rId4"/>
          <a:stretch>
            <a:fillRect/>
          </a:stretch>
        </p:blipFill>
        <p:spPr>
          <a:xfrm>
            <a:off x="6606540" y="2208848"/>
            <a:ext cx="1645920" cy="1645920"/>
          </a:xfrm>
          <a:prstGeom prst="rect">
            <a:avLst/>
          </a:prstGeom>
        </p:spPr>
      </p:pic>
      <p:sp>
        <p:nvSpPr>
          <p:cNvPr id="16" name="Text 9"/>
          <p:cNvSpPr txBox="1"/>
          <p:nvPr/>
        </p:nvSpPr>
        <p:spPr>
          <a:xfrm>
            <a:off x="6309360" y="4037648"/>
            <a:ext cx="2240280" cy="502920"/>
          </a:xfrm>
          <a:prstGeom prst="rect">
            <a:avLst/>
          </a:prstGeom>
          <a:noFill/>
          <a:ln/>
        </p:spPr>
        <p:txBody>
          <a:bodyPr wrap="square" lIns="0" tIns="0" rIns="0" bIns="0" rtlCol="0" anchor="ctr"/>
          <a:lstStyle/>
          <a:p>
            <a:pPr algn="ctr" indent="0" marL="0">
              <a:buNone/>
            </a:pPr>
            <a:r>
              <a:rPr lang="en-US" sz="2100" b="1" dirty="0">
                <a:solidFill>
                  <a:schemeClr val="tx2"/>
                </a:solidFill>
              </a:rPr>
              <a:t>약한 처벌</a:t>
            </a:r>
            <a:endParaRPr lang="en-US" sz="2100" dirty="0"/>
          </a:p>
        </p:txBody>
      </p:sp>
      <p:sp>
        <p:nvSpPr>
          <p:cNvPr id="17" name="Text 10"/>
          <p:cNvSpPr txBox="1"/>
          <p:nvPr/>
        </p:nvSpPr>
        <p:spPr>
          <a:xfrm>
            <a:off x="6355080" y="4632008"/>
            <a:ext cx="2148840" cy="428625"/>
          </a:xfrm>
          <a:prstGeom prst="rect">
            <a:avLst/>
          </a:prstGeom>
          <a:noFill/>
          <a:ln/>
        </p:spPr>
        <p:txBody>
          <a:bodyPr wrap="square" lIns="0" tIns="0" rIns="0" bIns="0" rtlCol="0" anchor="t"/>
          <a:lstStyle/>
          <a:p>
            <a:pPr algn="ctr" indent="0" marL="0">
              <a:buNone/>
            </a:pPr>
            <a:r>
              <a:rPr lang="en-US" sz="1700" dirty="0">
                <a:solidFill>
                  <a:schemeClr val="tx1"/>
                </a:solidFill>
              </a:rPr>
              <a:t>구속률 2%대</a:t>
            </a:r>
            <a:endParaRPr lang="en-US" sz="1700" dirty="0"/>
          </a:p>
        </p:txBody>
      </p:sp>
      <p:sp>
        <p:nvSpPr>
          <p:cNvPr id="18" name="Card"/>
          <p:cNvSpPr/>
          <p:nvPr/>
        </p:nvSpPr>
        <p:spPr>
          <a:xfrm>
            <a:off x="8915400" y="1463040"/>
            <a:ext cx="2606040" cy="4206240"/>
          </a:xfrm>
          <a:prstGeom prst="roundRect">
            <a:avLst>
              <a:gd name="adj" fmla="val 7018"/>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9" name="Illustration" descr="preencoded.png">    </p:cNvPr>
          <p:cNvPicPr>
            <a:picLocks noChangeAspect="1"/>
          </p:cNvPicPr>
          <p:nvPr/>
        </p:nvPicPr>
        <p:blipFill>
          <a:blip r:embed="rId5"/>
          <a:stretch>
            <a:fillRect/>
          </a:stretch>
        </p:blipFill>
        <p:spPr>
          <a:xfrm>
            <a:off x="9395460" y="2208848"/>
            <a:ext cx="1645920" cy="1645920"/>
          </a:xfrm>
          <a:prstGeom prst="rect">
            <a:avLst/>
          </a:prstGeom>
        </p:spPr>
      </p:pic>
      <p:sp>
        <p:nvSpPr>
          <p:cNvPr id="20" name="Text 12"/>
          <p:cNvSpPr txBox="1"/>
          <p:nvPr/>
        </p:nvSpPr>
        <p:spPr>
          <a:xfrm>
            <a:off x="9098280" y="4037648"/>
            <a:ext cx="2240280" cy="502920"/>
          </a:xfrm>
          <a:prstGeom prst="rect">
            <a:avLst/>
          </a:prstGeom>
          <a:noFill/>
          <a:ln/>
        </p:spPr>
        <p:txBody>
          <a:bodyPr wrap="square" lIns="0" tIns="0" rIns="0" bIns="0" rtlCol="0" anchor="ctr"/>
          <a:lstStyle/>
          <a:p>
            <a:pPr algn="ctr" indent="0" marL="0">
              <a:buNone/>
            </a:pPr>
            <a:r>
              <a:rPr lang="en-US" sz="2100" b="1" dirty="0">
                <a:solidFill>
                  <a:schemeClr val="tx2"/>
                </a:solidFill>
              </a:rPr>
              <a:t>용기 낸 신고</a:t>
            </a:r>
            <a:endParaRPr lang="en-US" sz="2100" dirty="0"/>
          </a:p>
        </p:txBody>
      </p:sp>
      <p:sp>
        <p:nvSpPr>
          <p:cNvPr id="21" name="Text 13"/>
          <p:cNvSpPr txBox="1"/>
          <p:nvPr/>
        </p:nvSpPr>
        <p:spPr>
          <a:xfrm>
            <a:off x="9144000" y="4632008"/>
            <a:ext cx="2148840" cy="428625"/>
          </a:xfrm>
          <a:prstGeom prst="rect">
            <a:avLst/>
          </a:prstGeom>
          <a:noFill/>
          <a:ln/>
        </p:spPr>
        <p:txBody>
          <a:bodyPr wrap="square" lIns="0" tIns="0" rIns="0" bIns="0" rtlCol="0" anchor="t"/>
          <a:lstStyle/>
          <a:p>
            <a:pPr algn="ctr" indent="0" marL="0">
              <a:buNone/>
            </a:pPr>
            <a:r>
              <a:rPr lang="en-US" sz="1700" dirty="0">
                <a:solidFill>
                  <a:schemeClr val="tx1"/>
                </a:solidFill>
              </a:rPr>
              <a:t>숨은 피해가 드러나요</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신고는 늘었지만, 처벌은 제자리</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2. 늘어나는 이유</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3520440" cy="3108960"/>
          </a:xfrm>
          <a:prstGeom prst="roundRect">
            <a:avLst>
              <a:gd name="adj" fmla="val 5882"/>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7" name="Illustration" descr="preencoded.png">    </p:cNvPr>
          <p:cNvPicPr>
            <a:picLocks noChangeAspect="1"/>
          </p:cNvPicPr>
          <p:nvPr/>
        </p:nvPicPr>
        <p:blipFill>
          <a:blip r:embed="rId2"/>
          <a:stretch>
            <a:fillRect/>
          </a:stretch>
        </p:blipFill>
        <p:spPr>
          <a:xfrm>
            <a:off x="3200400" y="1691640"/>
            <a:ext cx="640080" cy="640080"/>
          </a:xfrm>
          <a:prstGeom prst="rect">
            <a:avLst/>
          </a:prstGeom>
        </p:spPr>
      </p:pic>
      <p:sp>
        <p:nvSpPr>
          <p:cNvPr id="8" name="Text 3"/>
          <p:cNvSpPr txBox="1"/>
          <p:nvPr/>
        </p:nvSpPr>
        <p:spPr>
          <a:xfrm>
            <a:off x="822960" y="2237232"/>
            <a:ext cx="2971800" cy="838200"/>
          </a:xfrm>
          <a:prstGeom prst="rect">
            <a:avLst/>
          </a:prstGeom>
          <a:noFill/>
          <a:ln/>
        </p:spPr>
        <p:txBody>
          <a:bodyPr wrap="square" lIns="0" tIns="0" rIns="0" bIns="0" rtlCol="0" anchor="ctr"/>
          <a:lstStyle/>
          <a:p>
            <a:pPr indent="0" marL="0">
              <a:buNone/>
            </a:pPr>
            <a:r>
              <a:rPr lang="en-US" sz="4400" b="1" dirty="0">
                <a:solidFill>
                  <a:schemeClr val="accent1"/>
                </a:solidFill>
              </a:rPr>
              <a:t>54.4%</a:t>
            </a:r>
            <a:endParaRPr lang="en-US" sz="4400" dirty="0"/>
          </a:p>
        </p:txBody>
      </p:sp>
      <p:sp>
        <p:nvSpPr>
          <p:cNvPr id="9" name="Text 4"/>
          <p:cNvSpPr txBox="1"/>
          <p:nvPr/>
        </p:nvSpPr>
        <p:spPr>
          <a:xfrm>
            <a:off x="822960" y="3212592"/>
            <a:ext cx="2971800" cy="676656"/>
          </a:xfrm>
          <a:prstGeom prst="rect">
            <a:avLst/>
          </a:prstGeom>
          <a:noFill/>
          <a:ln/>
        </p:spPr>
        <p:txBody>
          <a:bodyPr wrap="square" lIns="0" tIns="0" rIns="0" bIns="0" rtlCol="0" anchor="t"/>
          <a:lstStyle/>
          <a:p>
            <a:pPr indent="0" marL="0">
              <a:buNone/>
            </a:pPr>
            <a:r>
              <a:rPr lang="en-US" sz="1600" dirty="0">
                <a:solidFill>
                  <a:schemeClr val="tx1"/>
                </a:solidFill>
              </a:rPr>
              <a:t>신고했지만 현장에서</a:t>
            </a:r>
            <a:endParaRPr lang="en-US" sz="1600" dirty="0"/>
          </a:p>
          <a:p>
            <a:pPr indent="0" marL="0">
              <a:buNone/>
            </a:pPr>
            <a:r>
              <a:rPr lang="en-US" sz="1600" dirty="0">
                <a:solidFill>
                  <a:schemeClr val="tx1"/>
                </a:solidFill>
              </a:rPr>
              <a:t>그냥 끝난 비율</a:t>
            </a:r>
            <a:endParaRPr lang="en-US" sz="1600" dirty="0"/>
          </a:p>
        </p:txBody>
      </p:sp>
      <p:sp>
        <p:nvSpPr>
          <p:cNvPr id="10" name="Card"/>
          <p:cNvSpPr/>
          <p:nvPr/>
        </p:nvSpPr>
        <p:spPr>
          <a:xfrm>
            <a:off x="4320540" y="1463040"/>
            <a:ext cx="3520440" cy="3108960"/>
          </a:xfrm>
          <a:prstGeom prst="roundRect">
            <a:avLst>
              <a:gd name="adj" fmla="val 5882"/>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1" name="Illustration" descr="preencoded.png">    </p:cNvPr>
          <p:cNvPicPr>
            <a:picLocks noChangeAspect="1"/>
          </p:cNvPicPr>
          <p:nvPr/>
        </p:nvPicPr>
        <p:blipFill>
          <a:blip r:embed="rId3"/>
          <a:stretch>
            <a:fillRect/>
          </a:stretch>
        </p:blipFill>
        <p:spPr>
          <a:xfrm>
            <a:off x="6972300" y="1691640"/>
            <a:ext cx="640080" cy="640080"/>
          </a:xfrm>
          <a:prstGeom prst="rect">
            <a:avLst/>
          </a:prstGeom>
        </p:spPr>
      </p:pic>
      <p:sp>
        <p:nvSpPr>
          <p:cNvPr id="12" name="Text 6"/>
          <p:cNvSpPr txBox="1"/>
          <p:nvPr/>
        </p:nvSpPr>
        <p:spPr>
          <a:xfrm>
            <a:off x="4594860" y="2237232"/>
            <a:ext cx="2971800" cy="838200"/>
          </a:xfrm>
          <a:prstGeom prst="rect">
            <a:avLst/>
          </a:prstGeom>
          <a:noFill/>
          <a:ln/>
        </p:spPr>
        <p:txBody>
          <a:bodyPr wrap="square" lIns="0" tIns="0" rIns="0" bIns="0" rtlCol="0" anchor="ctr"/>
          <a:lstStyle/>
          <a:p>
            <a:pPr indent="0" marL="0">
              <a:buNone/>
            </a:pPr>
            <a:r>
              <a:rPr lang="en-US" sz="4400" b="1" dirty="0">
                <a:solidFill>
                  <a:schemeClr val="accent1"/>
                </a:solidFill>
              </a:rPr>
              <a:t>2.2%</a:t>
            </a:r>
            <a:endParaRPr lang="en-US" sz="4400" dirty="0"/>
          </a:p>
        </p:txBody>
      </p:sp>
      <p:sp>
        <p:nvSpPr>
          <p:cNvPr id="13" name="Text 7"/>
          <p:cNvSpPr txBox="1"/>
          <p:nvPr/>
        </p:nvSpPr>
        <p:spPr>
          <a:xfrm>
            <a:off x="4594860" y="3212592"/>
            <a:ext cx="2971800" cy="676656"/>
          </a:xfrm>
          <a:prstGeom prst="rect">
            <a:avLst/>
          </a:prstGeom>
          <a:noFill/>
          <a:ln/>
        </p:spPr>
        <p:txBody>
          <a:bodyPr wrap="square" lIns="0" tIns="0" rIns="0" bIns="0" rtlCol="0" anchor="t"/>
          <a:lstStyle/>
          <a:p>
            <a:pPr indent="0" marL="0">
              <a:buNone/>
            </a:pPr>
            <a:r>
              <a:rPr lang="en-US" sz="1600" dirty="0">
                <a:solidFill>
                  <a:schemeClr val="tx1"/>
                </a:solidFill>
              </a:rPr>
              <a:t>검거된 사람 중</a:t>
            </a:r>
            <a:endParaRPr lang="en-US" sz="1600" dirty="0"/>
          </a:p>
          <a:p>
            <a:pPr indent="0" marL="0">
              <a:buNone/>
            </a:pPr>
            <a:r>
              <a:rPr lang="en-US" sz="1600" dirty="0">
                <a:solidFill>
                  <a:schemeClr val="tx1"/>
                </a:solidFill>
              </a:rPr>
              <a:t>구속된 비율</a:t>
            </a:r>
            <a:endParaRPr lang="en-US" sz="1600" dirty="0"/>
          </a:p>
        </p:txBody>
      </p:sp>
      <p:sp>
        <p:nvSpPr>
          <p:cNvPr id="14" name="Card"/>
          <p:cNvSpPr/>
          <p:nvPr/>
        </p:nvSpPr>
        <p:spPr>
          <a:xfrm>
            <a:off x="8092440" y="1463040"/>
            <a:ext cx="3520440" cy="3108960"/>
          </a:xfrm>
          <a:prstGeom prst="roundRect">
            <a:avLst>
              <a:gd name="adj" fmla="val 5882"/>
            </a:avLst>
          </a:prstGeom>
          <a:solidFill>
            <a:schemeClr val="tx2"/>
          </a:solidFill>
          <a:ln/>
          <a:effectLst>
            <a:outerShdw sx="100000" sy="100000" kx="0" ky="0" algn="bl" rotWithShape="0" blurRad="101600" dist="25400" dir="5400000">
              <a:srgbClr val="4A1D3F">
                <a:alpha val="28000"/>
              </a:srgbClr>
            </a:outerShdw>
          </a:effectLst>
        </p:spPr>
      </p:sp>
      <p:pic>
        <p:nvPicPr>
          <p:cNvPr id="15" name="Illustration" descr="preencoded.png">    </p:cNvPr>
          <p:cNvPicPr>
            <a:picLocks noChangeAspect="1"/>
          </p:cNvPicPr>
          <p:nvPr/>
        </p:nvPicPr>
        <p:blipFill>
          <a:blip r:embed="rId4"/>
          <a:stretch>
            <a:fillRect/>
          </a:stretch>
        </p:blipFill>
        <p:spPr>
          <a:xfrm>
            <a:off x="10744200" y="1691640"/>
            <a:ext cx="640080" cy="640080"/>
          </a:xfrm>
          <a:prstGeom prst="rect">
            <a:avLst/>
          </a:prstGeom>
        </p:spPr>
      </p:pic>
      <p:sp>
        <p:nvSpPr>
          <p:cNvPr id="16" name="Text 9"/>
          <p:cNvSpPr txBox="1"/>
          <p:nvPr/>
        </p:nvSpPr>
        <p:spPr>
          <a:xfrm>
            <a:off x="8366760" y="2237232"/>
            <a:ext cx="2971800" cy="838200"/>
          </a:xfrm>
          <a:prstGeom prst="rect">
            <a:avLst/>
          </a:prstGeom>
          <a:noFill/>
          <a:ln/>
        </p:spPr>
        <p:txBody>
          <a:bodyPr wrap="square" lIns="0" tIns="0" rIns="0" bIns="0" rtlCol="0" anchor="ctr"/>
          <a:lstStyle/>
          <a:p>
            <a:pPr indent="0" marL="0">
              <a:buNone/>
            </a:pPr>
            <a:r>
              <a:rPr lang="en-US" sz="4400" b="1" dirty="0">
                <a:solidFill>
                  <a:schemeClr val="accent1"/>
                </a:solidFill>
              </a:rPr>
              <a:t>411명</a:t>
            </a:r>
            <a:endParaRPr lang="en-US" sz="4400" dirty="0"/>
          </a:p>
        </p:txBody>
      </p:sp>
      <p:sp>
        <p:nvSpPr>
          <p:cNvPr id="17" name="Text 10"/>
          <p:cNvSpPr txBox="1"/>
          <p:nvPr/>
        </p:nvSpPr>
        <p:spPr>
          <a:xfrm>
            <a:off x="8366760" y="3212592"/>
            <a:ext cx="2971800" cy="676656"/>
          </a:xfrm>
          <a:prstGeom prst="rect">
            <a:avLst/>
          </a:prstGeom>
          <a:noFill/>
          <a:ln/>
        </p:spPr>
        <p:txBody>
          <a:bodyPr wrap="square" lIns="0" tIns="0" rIns="0" bIns="0" rtlCol="0" anchor="t"/>
          <a:lstStyle/>
          <a:p>
            <a:pPr indent="0" marL="0">
              <a:buNone/>
            </a:pPr>
            <a:r>
              <a:rPr lang="en-US" sz="1600" dirty="0">
                <a:solidFill>
                  <a:schemeClr val="bg1"/>
                </a:solidFill>
              </a:rPr>
              <a:t>10번 넘게</a:t>
            </a:r>
            <a:endParaRPr lang="en-US" sz="1600" dirty="0"/>
          </a:p>
          <a:p>
            <a:pPr indent="0" marL="0">
              <a:buNone/>
            </a:pPr>
            <a:r>
              <a:rPr lang="en-US" sz="1600" dirty="0">
                <a:solidFill>
                  <a:schemeClr val="bg1"/>
                </a:solidFill>
              </a:rPr>
              <a:t>다시 신고한 피해자</a:t>
            </a:r>
            <a:endParaRPr lang="en-US" sz="1600" dirty="0"/>
          </a:p>
        </p:txBody>
      </p:sp>
      <p:sp>
        <p:nvSpPr>
          <p:cNvPr id="18" name="Card"/>
          <p:cNvSpPr/>
          <p:nvPr/>
        </p:nvSpPr>
        <p:spPr>
          <a:xfrm>
            <a:off x="548640" y="4800600"/>
            <a:ext cx="11064240" cy="1097280"/>
          </a:xfrm>
          <a:prstGeom prst="roundRect">
            <a:avLst>
              <a:gd name="adj" fmla="val 16667"/>
            </a:avLst>
          </a:prstGeom>
          <a:solidFill>
            <a:schemeClr val="bg1"/>
          </a:solidFill>
          <a:ln w="15875">
            <a:solidFill>
              <a:srgbClr val="E8505B"/>
            </a:solidFill>
            <a:prstDash val="dash"/>
          </a:ln>
          <a:effectLst>
            <a:outerShdw sx="100000" sy="100000" kx="0" ky="0" algn="bl" rotWithShape="0" blurRad="101600" dist="25400" dir="5400000">
              <a:srgbClr val="4A1D3F">
                <a:alpha val="10000"/>
              </a:srgbClr>
            </a:outerShdw>
          </a:effectLst>
        </p:spPr>
      </p:sp>
      <p:sp>
        <p:nvSpPr>
          <p:cNvPr id="19" name="Text 12"/>
          <p:cNvSpPr txBox="1"/>
          <p:nvPr/>
        </p:nvSpPr>
        <p:spPr>
          <a:xfrm>
            <a:off x="822960" y="4800600"/>
            <a:ext cx="10515600" cy="1097280"/>
          </a:xfrm>
          <a:prstGeom prst="rect">
            <a:avLst/>
          </a:prstGeom>
          <a:noFill/>
          <a:ln/>
        </p:spPr>
        <p:txBody>
          <a:bodyPr wrap="square" lIns="0" tIns="0" rIns="0" bIns="0" rtlCol="0" anchor="ctr"/>
          <a:lstStyle/>
          <a:p>
            <a:pPr algn="ctr" indent="0" marL="0">
              <a:buNone/>
            </a:pPr>
            <a:r>
              <a:rPr lang="en-US" sz="1900" b="1" dirty="0">
                <a:solidFill>
                  <a:schemeClr val="tx2"/>
                </a:solidFill>
              </a:rPr>
              <a:t>피해자가 “처벌 원치 않아요” 하면 끝 — ‘반의사불벌’의 덫</a:t>
            </a:r>
            <a:endParaRPr lang="en-US" sz="1900" dirty="0"/>
          </a:p>
        </p:txBody>
      </p:sp>
      <p:sp>
        <p:nvSpPr>
          <p:cNvPr id="20"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국회입법조사처(2023) · 경찰청 5년 구속 현황 · 박정현 의원실(2026.9)</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10대도 예외가 아닙니다</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2. 늘어나는 이유</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graphicFrame>
        <p:nvGraphicFramePr>
          <p:cNvPr id="6" name="Chart 0" descr=""/>
          <p:cNvGraphicFramePr/>
          <p:nvPr/>
        </p:nvGraphicFramePr>
        <p:xfrm>
          <a:off x="548640" y="1371600"/>
          <a:ext cx="5120640" cy="3931920"/>
        </p:xfrm>
        <a:graphic xmlns:a="http://schemas.openxmlformats.org/drawingml/2006/main">
          <a:graphicData uri="http://schemas.openxmlformats.org/drawingml/2006/chart">
            <c:chart xmlns:c="http://schemas.openxmlformats.org/drawingml/2006/chart" r:id="rId2"/>
          </a:graphicData>
        </a:graphic>
      </p:graphicFrame>
      <p:sp>
        <p:nvSpPr>
          <p:cNvPr id="7" name="Text 2"/>
          <p:cNvSpPr txBox="1"/>
          <p:nvPr/>
        </p:nvSpPr>
        <p:spPr>
          <a:xfrm>
            <a:off x="548640" y="5349240"/>
            <a:ext cx="5120640" cy="548640"/>
          </a:xfrm>
          <a:prstGeom prst="rect">
            <a:avLst/>
          </a:prstGeom>
          <a:noFill/>
          <a:ln/>
        </p:spPr>
        <p:txBody>
          <a:bodyPr wrap="square" lIns="0" tIns="0" rIns="0" bIns="0" rtlCol="0" anchor="ctr"/>
          <a:lstStyle/>
          <a:p>
            <a:pPr algn="ctr" indent="0" marL="0">
              <a:buNone/>
            </a:pPr>
            <a:r>
              <a:rPr lang="en-US" sz="2000" b="1" dirty="0">
                <a:solidFill>
                  <a:schemeClr val="accent1"/>
                </a:solidFill>
              </a:rPr>
              <a:t>4년 만에 2.2배</a:t>
            </a:r>
            <a:endParaRPr lang="en-US" sz="2000" dirty="0"/>
          </a:p>
        </p:txBody>
      </p:sp>
      <p:sp>
        <p:nvSpPr>
          <p:cNvPr id="8" name="Card"/>
          <p:cNvSpPr/>
          <p:nvPr/>
        </p:nvSpPr>
        <p:spPr>
          <a:xfrm>
            <a:off x="6035040" y="1463040"/>
            <a:ext cx="5577840" cy="4434840"/>
          </a:xfrm>
          <a:prstGeom prst="roundRect">
            <a:avLst>
              <a:gd name="adj" fmla="val 4124"/>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9" name="Illustration" descr="preencoded.png">    </p:cNvPr>
          <p:cNvPicPr>
            <a:picLocks noChangeAspect="1"/>
          </p:cNvPicPr>
          <p:nvPr/>
        </p:nvPicPr>
        <p:blipFill>
          <a:blip r:embed="rId3"/>
          <a:stretch>
            <a:fillRect/>
          </a:stretch>
        </p:blipFill>
        <p:spPr>
          <a:xfrm>
            <a:off x="10744200" y="1691640"/>
            <a:ext cx="640080" cy="640080"/>
          </a:xfrm>
          <a:prstGeom prst="rect">
            <a:avLst/>
          </a:prstGeom>
        </p:spPr>
      </p:pic>
      <p:sp>
        <p:nvSpPr>
          <p:cNvPr id="10" name="Text 4"/>
          <p:cNvSpPr txBox="1"/>
          <p:nvPr/>
        </p:nvSpPr>
        <p:spPr>
          <a:xfrm>
            <a:off x="6309360" y="2690622"/>
            <a:ext cx="5029200" cy="1257300"/>
          </a:xfrm>
          <a:prstGeom prst="rect">
            <a:avLst/>
          </a:prstGeom>
          <a:noFill/>
          <a:ln/>
        </p:spPr>
        <p:txBody>
          <a:bodyPr wrap="square" lIns="0" tIns="0" rIns="0" bIns="0" rtlCol="0" anchor="ctr"/>
          <a:lstStyle/>
          <a:p>
            <a:pPr indent="0" marL="0">
              <a:buNone/>
            </a:pPr>
            <a:r>
              <a:rPr lang="en-US" sz="6600" b="1" dirty="0">
                <a:solidFill>
                  <a:schemeClr val="accent1"/>
                </a:solidFill>
              </a:rPr>
              <a:t>61.8%</a:t>
            </a:r>
            <a:endParaRPr lang="en-US" sz="6600" dirty="0"/>
          </a:p>
        </p:txBody>
      </p:sp>
      <p:sp>
        <p:nvSpPr>
          <p:cNvPr id="11" name="Text 5"/>
          <p:cNvSpPr txBox="1"/>
          <p:nvPr/>
        </p:nvSpPr>
        <p:spPr>
          <a:xfrm>
            <a:off x="6309360" y="4085082"/>
            <a:ext cx="5029200" cy="676656"/>
          </a:xfrm>
          <a:prstGeom prst="rect">
            <a:avLst/>
          </a:prstGeom>
          <a:noFill/>
          <a:ln/>
        </p:spPr>
        <p:txBody>
          <a:bodyPr wrap="square" lIns="0" tIns="0" rIns="0" bIns="0" rtlCol="0" anchor="t"/>
          <a:lstStyle/>
          <a:p>
            <a:pPr indent="0" marL="0">
              <a:buNone/>
            </a:pPr>
            <a:r>
              <a:rPr lang="en-US" sz="1600" dirty="0">
                <a:solidFill>
                  <a:schemeClr val="tx1"/>
                </a:solidFill>
              </a:rPr>
              <a:t>딥페이크 성범죄로 잡힌 사람 중</a:t>
            </a:r>
            <a:endParaRPr lang="en-US" sz="1600" dirty="0"/>
          </a:p>
          <a:p>
            <a:pPr indent="0" marL="0">
              <a:buNone/>
            </a:pPr>
            <a:r>
              <a:rPr lang="en-US" sz="1600" dirty="0">
                <a:solidFill>
                  <a:schemeClr val="tx1"/>
                </a:solidFill>
              </a:rPr>
              <a:t>10대의 비율</a:t>
            </a:r>
            <a:endParaRPr lang="en-US" sz="1600" dirty="0"/>
          </a:p>
        </p:txBody>
      </p:sp>
      <p:sp>
        <p:nvSpPr>
          <p:cNvPr id="12"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경찰청(뉴시스 2025.9.4) · 경찰청 국가수사본부(뉴시스 2025.11.14)</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이별, 가장 위험한 순간</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2. 늘어나는 이유</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3520440" cy="4434840"/>
          </a:xfrm>
          <a:prstGeom prst="roundRect">
            <a:avLst>
              <a:gd name="adj" fmla="val 5195"/>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7" name="Illustration" descr="preencoded.png">    </p:cNvPr>
          <p:cNvPicPr>
            <a:picLocks noChangeAspect="1"/>
          </p:cNvPicPr>
          <p:nvPr/>
        </p:nvPicPr>
        <p:blipFill>
          <a:blip r:embed="rId2"/>
          <a:stretch>
            <a:fillRect/>
          </a:stretch>
        </p:blipFill>
        <p:spPr>
          <a:xfrm>
            <a:off x="3200400" y="1691640"/>
            <a:ext cx="640080" cy="640080"/>
          </a:xfrm>
          <a:prstGeom prst="rect">
            <a:avLst/>
          </a:prstGeom>
        </p:spPr>
      </p:pic>
      <p:sp>
        <p:nvSpPr>
          <p:cNvPr id="8" name="Text 3"/>
          <p:cNvSpPr txBox="1"/>
          <p:nvPr/>
        </p:nvSpPr>
        <p:spPr>
          <a:xfrm>
            <a:off x="822960" y="2862072"/>
            <a:ext cx="2971800" cy="914400"/>
          </a:xfrm>
          <a:prstGeom prst="rect">
            <a:avLst/>
          </a:prstGeom>
          <a:noFill/>
          <a:ln/>
        </p:spPr>
        <p:txBody>
          <a:bodyPr wrap="square" lIns="0" tIns="0" rIns="0" bIns="0" rtlCol="0" anchor="ctr"/>
          <a:lstStyle/>
          <a:p>
            <a:pPr indent="0" marL="0">
              <a:buNone/>
            </a:pPr>
            <a:r>
              <a:rPr lang="en-US" sz="4800" b="1" dirty="0">
                <a:solidFill>
                  <a:schemeClr val="accent1"/>
                </a:solidFill>
              </a:rPr>
              <a:t>59.6%</a:t>
            </a:r>
            <a:endParaRPr lang="en-US" sz="4800" dirty="0"/>
          </a:p>
        </p:txBody>
      </p:sp>
      <p:sp>
        <p:nvSpPr>
          <p:cNvPr id="9" name="Text 4"/>
          <p:cNvSpPr txBox="1"/>
          <p:nvPr/>
        </p:nvSpPr>
        <p:spPr>
          <a:xfrm>
            <a:off x="822960" y="3913632"/>
            <a:ext cx="2971800" cy="676656"/>
          </a:xfrm>
          <a:prstGeom prst="rect">
            <a:avLst/>
          </a:prstGeom>
          <a:noFill/>
          <a:ln/>
        </p:spPr>
        <p:txBody>
          <a:bodyPr wrap="square" lIns="0" tIns="0" rIns="0" bIns="0" rtlCol="0" anchor="t"/>
          <a:lstStyle/>
          <a:p>
            <a:pPr indent="0" marL="0">
              <a:buNone/>
            </a:pPr>
            <a:r>
              <a:rPr lang="en-US" sz="1600" dirty="0">
                <a:solidFill>
                  <a:schemeClr val="tx1"/>
                </a:solidFill>
              </a:rPr>
              <a:t>헤어질 때</a:t>
            </a:r>
            <a:endParaRPr lang="en-US" sz="1600" dirty="0"/>
          </a:p>
          <a:p>
            <a:pPr indent="0" marL="0">
              <a:buNone/>
            </a:pPr>
            <a:r>
              <a:rPr lang="en-US" sz="1600" dirty="0">
                <a:solidFill>
                  <a:schemeClr val="tx1"/>
                </a:solidFill>
              </a:rPr>
              <a:t>폭력을 겪은 여성</a:t>
            </a:r>
            <a:endParaRPr lang="en-US" sz="1600" dirty="0"/>
          </a:p>
        </p:txBody>
      </p:sp>
      <p:sp>
        <p:nvSpPr>
          <p:cNvPr id="10" name="Card"/>
          <p:cNvSpPr/>
          <p:nvPr/>
        </p:nvSpPr>
        <p:spPr>
          <a:xfrm>
            <a:off x="4320540" y="1463040"/>
            <a:ext cx="3520440" cy="4434840"/>
          </a:xfrm>
          <a:prstGeom prst="roundRect">
            <a:avLst>
              <a:gd name="adj" fmla="val 5195"/>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1" name="Illustration" descr="preencoded.png">    </p:cNvPr>
          <p:cNvPicPr>
            <a:picLocks noChangeAspect="1"/>
          </p:cNvPicPr>
          <p:nvPr/>
        </p:nvPicPr>
        <p:blipFill>
          <a:blip r:embed="rId3"/>
          <a:stretch>
            <a:fillRect/>
          </a:stretch>
        </p:blipFill>
        <p:spPr>
          <a:xfrm>
            <a:off x="6972300" y="1691640"/>
            <a:ext cx="640080" cy="640080"/>
          </a:xfrm>
          <a:prstGeom prst="rect">
            <a:avLst/>
          </a:prstGeom>
        </p:spPr>
      </p:pic>
      <p:sp>
        <p:nvSpPr>
          <p:cNvPr id="12" name="Text 6"/>
          <p:cNvSpPr txBox="1"/>
          <p:nvPr/>
        </p:nvSpPr>
        <p:spPr>
          <a:xfrm>
            <a:off x="4594860" y="2862072"/>
            <a:ext cx="2971800" cy="914400"/>
          </a:xfrm>
          <a:prstGeom prst="rect">
            <a:avLst/>
          </a:prstGeom>
          <a:noFill/>
          <a:ln/>
        </p:spPr>
        <p:txBody>
          <a:bodyPr wrap="square" lIns="0" tIns="0" rIns="0" bIns="0" rtlCol="0" anchor="ctr"/>
          <a:lstStyle/>
          <a:p>
            <a:pPr indent="0" marL="0">
              <a:buNone/>
            </a:pPr>
            <a:r>
              <a:rPr lang="en-US" sz="4800" b="1" dirty="0">
                <a:solidFill>
                  <a:schemeClr val="accent1"/>
                </a:solidFill>
              </a:rPr>
              <a:t>29.1%</a:t>
            </a:r>
            <a:endParaRPr lang="en-US" sz="4800" dirty="0"/>
          </a:p>
        </p:txBody>
      </p:sp>
      <p:sp>
        <p:nvSpPr>
          <p:cNvPr id="13" name="Text 7"/>
          <p:cNvSpPr txBox="1"/>
          <p:nvPr/>
        </p:nvSpPr>
        <p:spPr>
          <a:xfrm>
            <a:off x="4594860" y="3913632"/>
            <a:ext cx="2971800" cy="676656"/>
          </a:xfrm>
          <a:prstGeom prst="rect">
            <a:avLst/>
          </a:prstGeom>
          <a:noFill/>
          <a:ln/>
        </p:spPr>
        <p:txBody>
          <a:bodyPr wrap="square" lIns="0" tIns="0" rIns="0" bIns="0" rtlCol="0" anchor="t"/>
          <a:lstStyle/>
          <a:p>
            <a:pPr indent="0" marL="0">
              <a:buNone/>
            </a:pPr>
            <a:r>
              <a:rPr lang="en-US" sz="1600" dirty="0">
                <a:solidFill>
                  <a:schemeClr val="tx1"/>
                </a:solidFill>
              </a:rPr>
              <a:t>헤어진 뒤</a:t>
            </a:r>
            <a:endParaRPr lang="en-US" sz="1600" dirty="0"/>
          </a:p>
          <a:p>
            <a:pPr indent="0" marL="0">
              <a:buNone/>
            </a:pPr>
            <a:r>
              <a:rPr lang="en-US" sz="1600" dirty="0">
                <a:solidFill>
                  <a:schemeClr val="tx1"/>
                </a:solidFill>
              </a:rPr>
              <a:t>스토킹을 겪은 여성</a:t>
            </a:r>
            <a:endParaRPr lang="en-US" sz="1600" dirty="0"/>
          </a:p>
        </p:txBody>
      </p:sp>
      <p:sp>
        <p:nvSpPr>
          <p:cNvPr id="14" name="Card"/>
          <p:cNvSpPr/>
          <p:nvPr/>
        </p:nvSpPr>
        <p:spPr>
          <a:xfrm>
            <a:off x="8092440" y="1463040"/>
            <a:ext cx="3520440" cy="4434840"/>
          </a:xfrm>
          <a:prstGeom prst="roundRect">
            <a:avLst>
              <a:gd name="adj" fmla="val 5195"/>
            </a:avLst>
          </a:prstGeom>
          <a:solidFill>
            <a:schemeClr val="tx2"/>
          </a:solidFill>
          <a:ln/>
          <a:effectLst>
            <a:outerShdw sx="100000" sy="100000" kx="0" ky="0" algn="bl" rotWithShape="0" blurRad="101600" dist="25400" dir="5400000">
              <a:srgbClr val="4A1D3F">
                <a:alpha val="28000"/>
              </a:srgbClr>
            </a:outerShdw>
          </a:effectLst>
        </p:spPr>
      </p:sp>
      <p:pic>
        <p:nvPicPr>
          <p:cNvPr id="15" name="Illustration" descr="preencoded.png">    </p:cNvPr>
          <p:cNvPicPr>
            <a:picLocks noChangeAspect="1"/>
          </p:cNvPicPr>
          <p:nvPr/>
        </p:nvPicPr>
        <p:blipFill>
          <a:blip r:embed="rId4"/>
          <a:stretch>
            <a:fillRect/>
          </a:stretch>
        </p:blipFill>
        <p:spPr>
          <a:xfrm>
            <a:off x="10744200" y="1691640"/>
            <a:ext cx="640080" cy="640080"/>
          </a:xfrm>
          <a:prstGeom prst="rect">
            <a:avLst/>
          </a:prstGeom>
        </p:spPr>
      </p:pic>
      <p:sp>
        <p:nvSpPr>
          <p:cNvPr id="16" name="Text 9"/>
          <p:cNvSpPr txBox="1"/>
          <p:nvPr/>
        </p:nvSpPr>
        <p:spPr>
          <a:xfrm>
            <a:off x="8366760" y="2862072"/>
            <a:ext cx="2971800" cy="914400"/>
          </a:xfrm>
          <a:prstGeom prst="rect">
            <a:avLst/>
          </a:prstGeom>
          <a:noFill/>
          <a:ln/>
        </p:spPr>
        <p:txBody>
          <a:bodyPr wrap="square" lIns="0" tIns="0" rIns="0" bIns="0" rtlCol="0" anchor="ctr"/>
          <a:lstStyle/>
          <a:p>
            <a:pPr indent="0" marL="0">
              <a:buNone/>
            </a:pPr>
            <a:r>
              <a:rPr lang="en-US" sz="4800" b="1" dirty="0">
                <a:solidFill>
                  <a:schemeClr val="accent1"/>
                </a:solidFill>
              </a:rPr>
              <a:t>80.9%</a:t>
            </a:r>
            <a:endParaRPr lang="en-US" sz="4800" dirty="0"/>
          </a:p>
        </p:txBody>
      </p:sp>
      <p:sp>
        <p:nvSpPr>
          <p:cNvPr id="17" name="Text 10"/>
          <p:cNvSpPr txBox="1"/>
          <p:nvPr/>
        </p:nvSpPr>
        <p:spPr>
          <a:xfrm>
            <a:off x="8366760" y="3913632"/>
            <a:ext cx="2971800" cy="676656"/>
          </a:xfrm>
          <a:prstGeom prst="rect">
            <a:avLst/>
          </a:prstGeom>
          <a:noFill/>
          <a:ln/>
        </p:spPr>
        <p:txBody>
          <a:bodyPr wrap="square" lIns="0" tIns="0" rIns="0" bIns="0" rtlCol="0" anchor="t"/>
          <a:lstStyle/>
          <a:p>
            <a:pPr indent="0" marL="0">
              <a:buNone/>
            </a:pPr>
            <a:r>
              <a:rPr lang="en-US" sz="1600" dirty="0">
                <a:solidFill>
                  <a:schemeClr val="bg1"/>
                </a:solidFill>
              </a:rPr>
              <a:t>아무에게도</a:t>
            </a:r>
            <a:endParaRPr lang="en-US" sz="1600" dirty="0"/>
          </a:p>
          <a:p>
            <a:pPr indent="0" marL="0">
              <a:buNone/>
            </a:pPr>
            <a:r>
              <a:rPr lang="en-US" sz="1600" dirty="0">
                <a:solidFill>
                  <a:schemeClr val="bg1"/>
                </a:solidFill>
              </a:rPr>
              <a:t>도움을 청하지 못했어요</a:t>
            </a:r>
            <a:endParaRPr lang="en-US" sz="1600" dirty="0"/>
          </a:p>
        </p:txBody>
      </p:sp>
      <p:sp>
        <p:nvSpPr>
          <p:cNvPr id="18"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성평등가족부 「2025년 가정폭력 실태조사」(2026.7) — 이혼·별거·동거 종료 경험자 대상</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교제폭력의 6가지 얼굴</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347472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7" name="Illustration" descr="preencoded.png">    </p:cNvPr>
          <p:cNvPicPr>
            <a:picLocks noChangeAspect="1"/>
          </p:cNvPicPr>
          <p:nvPr/>
        </p:nvPicPr>
        <p:blipFill>
          <a:blip r:embed="rId2"/>
          <a:stretch>
            <a:fillRect/>
          </a:stretch>
        </p:blipFill>
        <p:spPr>
          <a:xfrm>
            <a:off x="822960" y="1965960"/>
            <a:ext cx="1005840" cy="1005840"/>
          </a:xfrm>
          <a:prstGeom prst="rect">
            <a:avLst/>
          </a:prstGeom>
        </p:spPr>
      </p:pic>
      <p:sp>
        <p:nvSpPr>
          <p:cNvPr id="8" name="Text 3"/>
          <p:cNvSpPr txBox="1"/>
          <p:nvPr/>
        </p:nvSpPr>
        <p:spPr>
          <a:xfrm>
            <a:off x="2057400" y="1554480"/>
            <a:ext cx="1737360" cy="868680"/>
          </a:xfrm>
          <a:prstGeom prst="rect">
            <a:avLst/>
          </a:prstGeom>
          <a:noFill/>
          <a:ln/>
        </p:spPr>
        <p:txBody>
          <a:bodyPr wrap="square" lIns="0" tIns="0" rIns="0" bIns="0" rtlCol="0" anchor="b"/>
          <a:lstStyle/>
          <a:p>
            <a:pPr indent="0" marL="0">
              <a:buNone/>
            </a:pPr>
            <a:r>
              <a:rPr lang="en-US" sz="2000" b="1" dirty="0">
                <a:solidFill>
                  <a:schemeClr val="tx2"/>
                </a:solidFill>
              </a:rPr>
              <a:t>신체</a:t>
            </a:r>
            <a:endParaRPr lang="en-US" sz="2000" dirty="0"/>
          </a:p>
        </p:txBody>
      </p:sp>
      <p:sp>
        <p:nvSpPr>
          <p:cNvPr id="9" name="Text 4"/>
          <p:cNvSpPr txBox="1"/>
          <p:nvPr/>
        </p:nvSpPr>
        <p:spPr>
          <a:xfrm>
            <a:off x="2057400" y="2514600"/>
            <a:ext cx="1737360" cy="868680"/>
          </a:xfrm>
          <a:prstGeom prst="rect">
            <a:avLst/>
          </a:prstGeom>
          <a:noFill/>
          <a:ln/>
        </p:spPr>
        <p:txBody>
          <a:bodyPr wrap="square" lIns="0" tIns="0" rIns="0" bIns="0" rtlCol="0" anchor="t"/>
          <a:lstStyle/>
          <a:p>
            <a:pPr indent="0" marL="0">
              <a:buNone/>
            </a:pPr>
            <a:r>
              <a:rPr lang="en-US" sz="1500" dirty="0">
                <a:solidFill>
                  <a:schemeClr val="tx1"/>
                </a:solidFill>
              </a:rPr>
              <a:t>때리기·밀치기</a:t>
            </a:r>
            <a:endParaRPr lang="en-US" sz="1500" dirty="0"/>
          </a:p>
        </p:txBody>
      </p:sp>
      <p:sp>
        <p:nvSpPr>
          <p:cNvPr id="10" name="Card"/>
          <p:cNvSpPr/>
          <p:nvPr/>
        </p:nvSpPr>
        <p:spPr>
          <a:xfrm>
            <a:off x="4297680" y="1463040"/>
            <a:ext cx="347472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1" name="Illustration" descr="preencoded.png">    </p:cNvPr>
          <p:cNvPicPr>
            <a:picLocks noChangeAspect="1"/>
          </p:cNvPicPr>
          <p:nvPr/>
        </p:nvPicPr>
        <p:blipFill>
          <a:blip r:embed="rId3"/>
          <a:stretch>
            <a:fillRect/>
          </a:stretch>
        </p:blipFill>
        <p:spPr>
          <a:xfrm>
            <a:off x="4572000" y="1965960"/>
            <a:ext cx="1005840" cy="1005840"/>
          </a:xfrm>
          <a:prstGeom prst="rect">
            <a:avLst/>
          </a:prstGeom>
        </p:spPr>
      </p:pic>
      <p:sp>
        <p:nvSpPr>
          <p:cNvPr id="12" name="Text 6"/>
          <p:cNvSpPr txBox="1"/>
          <p:nvPr/>
        </p:nvSpPr>
        <p:spPr>
          <a:xfrm>
            <a:off x="5806440" y="1554480"/>
            <a:ext cx="1737360" cy="868680"/>
          </a:xfrm>
          <a:prstGeom prst="rect">
            <a:avLst/>
          </a:prstGeom>
          <a:noFill/>
          <a:ln/>
        </p:spPr>
        <p:txBody>
          <a:bodyPr wrap="square" lIns="0" tIns="0" rIns="0" bIns="0" rtlCol="0" anchor="b"/>
          <a:lstStyle/>
          <a:p>
            <a:pPr indent="0" marL="0">
              <a:buNone/>
            </a:pPr>
            <a:r>
              <a:rPr lang="en-US" sz="2000" b="1" dirty="0">
                <a:solidFill>
                  <a:schemeClr val="tx2"/>
                </a:solidFill>
              </a:rPr>
              <a:t>언어·정서</a:t>
            </a:r>
            <a:endParaRPr lang="en-US" sz="2000" dirty="0"/>
          </a:p>
        </p:txBody>
      </p:sp>
      <p:sp>
        <p:nvSpPr>
          <p:cNvPr id="13" name="Text 7"/>
          <p:cNvSpPr txBox="1"/>
          <p:nvPr/>
        </p:nvSpPr>
        <p:spPr>
          <a:xfrm>
            <a:off x="5806440" y="2514600"/>
            <a:ext cx="1737360" cy="868680"/>
          </a:xfrm>
          <a:prstGeom prst="rect">
            <a:avLst/>
          </a:prstGeom>
          <a:noFill/>
          <a:ln/>
        </p:spPr>
        <p:txBody>
          <a:bodyPr wrap="square" lIns="0" tIns="0" rIns="0" bIns="0" rtlCol="0" anchor="t"/>
          <a:lstStyle/>
          <a:p>
            <a:pPr indent="0" marL="0">
              <a:buNone/>
            </a:pPr>
            <a:r>
              <a:rPr lang="en-US" sz="1500" dirty="0">
                <a:solidFill>
                  <a:schemeClr val="tx1"/>
                </a:solidFill>
              </a:rPr>
              <a:t>욕설·무시·협박</a:t>
            </a:r>
            <a:endParaRPr lang="en-US" sz="1500" dirty="0"/>
          </a:p>
        </p:txBody>
      </p:sp>
      <p:sp>
        <p:nvSpPr>
          <p:cNvPr id="14" name="Card"/>
          <p:cNvSpPr/>
          <p:nvPr/>
        </p:nvSpPr>
        <p:spPr>
          <a:xfrm>
            <a:off x="8046720" y="1463040"/>
            <a:ext cx="347472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5" name="Illustration" descr="preencoded.png">    </p:cNvPr>
          <p:cNvPicPr>
            <a:picLocks noChangeAspect="1"/>
          </p:cNvPicPr>
          <p:nvPr/>
        </p:nvPicPr>
        <p:blipFill>
          <a:blip r:embed="rId4"/>
          <a:stretch>
            <a:fillRect/>
          </a:stretch>
        </p:blipFill>
        <p:spPr>
          <a:xfrm>
            <a:off x="8321040" y="1965960"/>
            <a:ext cx="1005840" cy="1005840"/>
          </a:xfrm>
          <a:prstGeom prst="rect">
            <a:avLst/>
          </a:prstGeom>
        </p:spPr>
      </p:pic>
      <p:sp>
        <p:nvSpPr>
          <p:cNvPr id="16" name="Text 9"/>
          <p:cNvSpPr txBox="1"/>
          <p:nvPr/>
        </p:nvSpPr>
        <p:spPr>
          <a:xfrm>
            <a:off x="9555480" y="1554480"/>
            <a:ext cx="1737360" cy="868680"/>
          </a:xfrm>
          <a:prstGeom prst="rect">
            <a:avLst/>
          </a:prstGeom>
          <a:noFill/>
          <a:ln/>
        </p:spPr>
        <p:txBody>
          <a:bodyPr wrap="square" lIns="0" tIns="0" rIns="0" bIns="0" rtlCol="0" anchor="b"/>
          <a:lstStyle/>
          <a:p>
            <a:pPr indent="0" marL="0">
              <a:buNone/>
            </a:pPr>
            <a:r>
              <a:rPr lang="en-US" sz="2000" b="1" dirty="0">
                <a:solidFill>
                  <a:schemeClr val="tx2"/>
                </a:solidFill>
              </a:rPr>
              <a:t>성적</a:t>
            </a:r>
            <a:endParaRPr lang="en-US" sz="2000" dirty="0"/>
          </a:p>
        </p:txBody>
      </p:sp>
      <p:sp>
        <p:nvSpPr>
          <p:cNvPr id="17" name="Text 10"/>
          <p:cNvSpPr txBox="1"/>
          <p:nvPr/>
        </p:nvSpPr>
        <p:spPr>
          <a:xfrm>
            <a:off x="9555480" y="2514600"/>
            <a:ext cx="1737360" cy="868680"/>
          </a:xfrm>
          <a:prstGeom prst="rect">
            <a:avLst/>
          </a:prstGeom>
          <a:noFill/>
          <a:ln/>
        </p:spPr>
        <p:txBody>
          <a:bodyPr wrap="square" lIns="0" tIns="0" rIns="0" bIns="0" rtlCol="0" anchor="t"/>
          <a:lstStyle/>
          <a:p>
            <a:pPr indent="0" marL="0">
              <a:buNone/>
            </a:pPr>
            <a:r>
              <a:rPr lang="en-US" sz="1500" dirty="0">
                <a:solidFill>
                  <a:schemeClr val="tx1"/>
                </a:solidFill>
              </a:rPr>
              <a:t>원치 않는 스킨십</a:t>
            </a:r>
            <a:endParaRPr lang="en-US" sz="1500" dirty="0"/>
          </a:p>
        </p:txBody>
      </p:sp>
      <p:sp>
        <p:nvSpPr>
          <p:cNvPr id="18" name="Card"/>
          <p:cNvSpPr/>
          <p:nvPr/>
        </p:nvSpPr>
        <p:spPr>
          <a:xfrm>
            <a:off x="548640" y="3703320"/>
            <a:ext cx="347472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9" name="Illustration" descr="preencoded.png">    </p:cNvPr>
          <p:cNvPicPr>
            <a:picLocks noChangeAspect="1"/>
          </p:cNvPicPr>
          <p:nvPr/>
        </p:nvPicPr>
        <p:blipFill>
          <a:blip r:embed="rId5"/>
          <a:stretch>
            <a:fillRect/>
          </a:stretch>
        </p:blipFill>
        <p:spPr>
          <a:xfrm>
            <a:off x="822960" y="4206240"/>
            <a:ext cx="1005840" cy="1005840"/>
          </a:xfrm>
          <a:prstGeom prst="rect">
            <a:avLst/>
          </a:prstGeom>
        </p:spPr>
      </p:pic>
      <p:sp>
        <p:nvSpPr>
          <p:cNvPr id="20" name="Text 12"/>
          <p:cNvSpPr txBox="1"/>
          <p:nvPr/>
        </p:nvSpPr>
        <p:spPr>
          <a:xfrm>
            <a:off x="2057400" y="3794760"/>
            <a:ext cx="1737360" cy="868680"/>
          </a:xfrm>
          <a:prstGeom prst="rect">
            <a:avLst/>
          </a:prstGeom>
          <a:noFill/>
          <a:ln/>
        </p:spPr>
        <p:txBody>
          <a:bodyPr wrap="square" lIns="0" tIns="0" rIns="0" bIns="0" rtlCol="0" anchor="b"/>
          <a:lstStyle/>
          <a:p>
            <a:pPr indent="0" marL="0">
              <a:buNone/>
            </a:pPr>
            <a:r>
              <a:rPr lang="en-US" sz="2000" b="1" dirty="0">
                <a:solidFill>
                  <a:schemeClr val="tx2"/>
                </a:solidFill>
              </a:rPr>
              <a:t>통제·감시</a:t>
            </a:r>
            <a:endParaRPr lang="en-US" sz="2000" dirty="0"/>
          </a:p>
        </p:txBody>
      </p:sp>
      <p:sp>
        <p:nvSpPr>
          <p:cNvPr id="21" name="Text 13"/>
          <p:cNvSpPr txBox="1"/>
          <p:nvPr/>
        </p:nvSpPr>
        <p:spPr>
          <a:xfrm>
            <a:off x="2057400" y="4754880"/>
            <a:ext cx="1737360" cy="868680"/>
          </a:xfrm>
          <a:prstGeom prst="rect">
            <a:avLst/>
          </a:prstGeom>
          <a:noFill/>
          <a:ln/>
        </p:spPr>
        <p:txBody>
          <a:bodyPr wrap="square" lIns="0" tIns="0" rIns="0" bIns="0" rtlCol="0" anchor="t"/>
          <a:lstStyle/>
          <a:p>
            <a:pPr indent="0" marL="0">
              <a:buNone/>
            </a:pPr>
            <a:r>
              <a:rPr lang="en-US" sz="1500" dirty="0">
                <a:solidFill>
                  <a:schemeClr val="tx1"/>
                </a:solidFill>
              </a:rPr>
              <a:t>휴대폰 검사·위치 강요</a:t>
            </a:r>
            <a:endParaRPr lang="en-US" sz="1500" dirty="0"/>
          </a:p>
        </p:txBody>
      </p:sp>
      <p:sp>
        <p:nvSpPr>
          <p:cNvPr id="22" name="Card"/>
          <p:cNvSpPr/>
          <p:nvPr/>
        </p:nvSpPr>
        <p:spPr>
          <a:xfrm>
            <a:off x="4297680" y="3703320"/>
            <a:ext cx="347472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23" name="Illustration" descr="preencoded.png">    </p:cNvPr>
          <p:cNvPicPr>
            <a:picLocks noChangeAspect="1"/>
          </p:cNvPicPr>
          <p:nvPr/>
        </p:nvPicPr>
        <p:blipFill>
          <a:blip r:embed="rId6"/>
          <a:stretch>
            <a:fillRect/>
          </a:stretch>
        </p:blipFill>
        <p:spPr>
          <a:xfrm>
            <a:off x="4572000" y="4206240"/>
            <a:ext cx="1005840" cy="1005840"/>
          </a:xfrm>
          <a:prstGeom prst="rect">
            <a:avLst/>
          </a:prstGeom>
        </p:spPr>
      </p:pic>
      <p:sp>
        <p:nvSpPr>
          <p:cNvPr id="24" name="Text 15"/>
          <p:cNvSpPr txBox="1"/>
          <p:nvPr/>
        </p:nvSpPr>
        <p:spPr>
          <a:xfrm>
            <a:off x="5806440" y="3794760"/>
            <a:ext cx="1737360" cy="868680"/>
          </a:xfrm>
          <a:prstGeom prst="rect">
            <a:avLst/>
          </a:prstGeom>
          <a:noFill/>
          <a:ln/>
        </p:spPr>
        <p:txBody>
          <a:bodyPr wrap="square" lIns="0" tIns="0" rIns="0" bIns="0" rtlCol="0" anchor="b"/>
          <a:lstStyle/>
          <a:p>
            <a:pPr indent="0" marL="0">
              <a:buNone/>
            </a:pPr>
            <a:r>
              <a:rPr lang="en-US" sz="2000" b="1" dirty="0">
                <a:solidFill>
                  <a:schemeClr val="tx2"/>
                </a:solidFill>
              </a:rPr>
              <a:t>경제</a:t>
            </a:r>
            <a:endParaRPr lang="en-US" sz="2000" dirty="0"/>
          </a:p>
        </p:txBody>
      </p:sp>
      <p:sp>
        <p:nvSpPr>
          <p:cNvPr id="25" name="Text 16"/>
          <p:cNvSpPr txBox="1"/>
          <p:nvPr/>
        </p:nvSpPr>
        <p:spPr>
          <a:xfrm>
            <a:off x="5806440" y="4754880"/>
            <a:ext cx="1737360" cy="868680"/>
          </a:xfrm>
          <a:prstGeom prst="rect">
            <a:avLst/>
          </a:prstGeom>
          <a:noFill/>
          <a:ln/>
        </p:spPr>
        <p:txBody>
          <a:bodyPr wrap="square" lIns="0" tIns="0" rIns="0" bIns="0" rtlCol="0" anchor="t"/>
          <a:lstStyle/>
          <a:p>
            <a:pPr indent="0" marL="0">
              <a:buNone/>
            </a:pPr>
            <a:r>
              <a:rPr lang="en-US" sz="1500" dirty="0">
                <a:solidFill>
                  <a:schemeClr val="tx1"/>
                </a:solidFill>
              </a:rPr>
              <a:t>돈 빌리고 안 갚기</a:t>
            </a:r>
            <a:endParaRPr lang="en-US" sz="1500" dirty="0"/>
          </a:p>
        </p:txBody>
      </p:sp>
      <p:sp>
        <p:nvSpPr>
          <p:cNvPr id="26" name="Card"/>
          <p:cNvSpPr/>
          <p:nvPr/>
        </p:nvSpPr>
        <p:spPr>
          <a:xfrm>
            <a:off x="8046720" y="3703320"/>
            <a:ext cx="347472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27" name="Illustration" descr="preencoded.png">    </p:cNvPr>
          <p:cNvPicPr>
            <a:picLocks noChangeAspect="1"/>
          </p:cNvPicPr>
          <p:nvPr/>
        </p:nvPicPr>
        <p:blipFill>
          <a:blip r:embed="rId7"/>
          <a:stretch>
            <a:fillRect/>
          </a:stretch>
        </p:blipFill>
        <p:spPr>
          <a:xfrm>
            <a:off x="8321040" y="4206240"/>
            <a:ext cx="1005840" cy="1005840"/>
          </a:xfrm>
          <a:prstGeom prst="rect">
            <a:avLst/>
          </a:prstGeom>
        </p:spPr>
      </p:pic>
      <p:sp>
        <p:nvSpPr>
          <p:cNvPr id="28" name="Text 18"/>
          <p:cNvSpPr txBox="1"/>
          <p:nvPr/>
        </p:nvSpPr>
        <p:spPr>
          <a:xfrm>
            <a:off x="9555480" y="3794760"/>
            <a:ext cx="1737360" cy="868680"/>
          </a:xfrm>
          <a:prstGeom prst="rect">
            <a:avLst/>
          </a:prstGeom>
          <a:noFill/>
          <a:ln/>
        </p:spPr>
        <p:txBody>
          <a:bodyPr wrap="square" lIns="0" tIns="0" rIns="0" bIns="0" rtlCol="0" anchor="b"/>
          <a:lstStyle/>
          <a:p>
            <a:pPr indent="0" marL="0">
              <a:buNone/>
            </a:pPr>
            <a:r>
              <a:rPr lang="en-US" sz="2000" b="1" dirty="0">
                <a:solidFill>
                  <a:schemeClr val="tx2"/>
                </a:solidFill>
              </a:rPr>
              <a:t>디지털</a:t>
            </a:r>
            <a:endParaRPr lang="en-US" sz="2000" dirty="0"/>
          </a:p>
        </p:txBody>
      </p:sp>
      <p:sp>
        <p:nvSpPr>
          <p:cNvPr id="29" name="Text 19"/>
          <p:cNvSpPr txBox="1"/>
          <p:nvPr/>
        </p:nvSpPr>
        <p:spPr>
          <a:xfrm>
            <a:off x="9555480" y="4754880"/>
            <a:ext cx="1737360" cy="868680"/>
          </a:xfrm>
          <a:prstGeom prst="rect">
            <a:avLst/>
          </a:prstGeom>
          <a:noFill/>
          <a:ln/>
        </p:spPr>
        <p:txBody>
          <a:bodyPr wrap="square" lIns="0" tIns="0" rIns="0" bIns="0" rtlCol="0" anchor="t"/>
          <a:lstStyle/>
          <a:p>
            <a:pPr indent="0" marL="0">
              <a:buNone/>
            </a:pPr>
            <a:r>
              <a:rPr lang="en-US" sz="1500" dirty="0">
                <a:solidFill>
                  <a:schemeClr val="tx1"/>
                </a:solidFill>
              </a:rPr>
              <a:t>사진 협박·스토킹</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폭력은 바퀴처럼 굴러갑니다</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Wheel rim"/>
          <p:cNvSpPr/>
          <p:nvPr/>
        </p:nvSpPr>
        <p:spPr>
          <a:xfrm>
            <a:off x="1508760" y="1371600"/>
            <a:ext cx="4663440" cy="4663440"/>
          </a:xfrm>
          <a:prstGeom prst="ellipse">
            <a:avLst/>
          </a:prstGeom>
          <a:solidFill>
            <a:schemeClr val="bg2"/>
          </a:solidFill>
          <a:ln w="76200">
            <a:solidFill>
              <a:schemeClr val="accent1"/>
            </a:solidFill>
            <a:prstDash val="solid"/>
          </a:ln>
        </p:spPr>
      </p:sp>
      <p:sp>
        <p:nvSpPr>
          <p:cNvPr id="7" name="Wheel hub"/>
          <p:cNvSpPr/>
          <p:nvPr/>
        </p:nvSpPr>
        <p:spPr>
          <a:xfrm>
            <a:off x="2971800" y="2834640"/>
            <a:ext cx="1737360" cy="1737360"/>
          </a:xfrm>
          <a:prstGeom prst="ellipse">
            <a:avLst/>
          </a:prstGeom>
          <a:solidFill>
            <a:schemeClr val="tx2"/>
          </a:solidFill>
          <a:ln/>
        </p:spPr>
      </p:sp>
      <p:sp>
        <p:nvSpPr>
          <p:cNvPr id="8" name="Text 4"/>
          <p:cNvSpPr txBox="1"/>
          <p:nvPr/>
        </p:nvSpPr>
        <p:spPr>
          <a:xfrm>
            <a:off x="2971800" y="2834640"/>
            <a:ext cx="1737360" cy="1737360"/>
          </a:xfrm>
          <a:prstGeom prst="rect">
            <a:avLst/>
          </a:prstGeom>
          <a:noFill/>
          <a:ln/>
        </p:spPr>
        <p:txBody>
          <a:bodyPr wrap="square" lIns="0" tIns="0" rIns="0" bIns="0" rtlCol="0" anchor="ctr"/>
          <a:lstStyle/>
          <a:p>
            <a:pPr algn="ctr" indent="0" marL="0">
              <a:buNone/>
            </a:pPr>
            <a:r>
              <a:rPr lang="en-US" sz="1800" b="1" dirty="0">
                <a:solidFill>
                  <a:schemeClr val="bg1"/>
                </a:solidFill>
              </a:rPr>
              <a:t>권력과</a:t>
            </a:r>
            <a:endParaRPr lang="en-US" sz="1800" dirty="0"/>
          </a:p>
          <a:p>
            <a:pPr algn="ctr" indent="0" marL="0">
              <a:buNone/>
            </a:pPr>
            <a:r>
              <a:rPr lang="en-US" sz="1800" b="1" dirty="0">
                <a:solidFill>
                  <a:schemeClr val="bg1"/>
                </a:solidFill>
              </a:rPr>
              <a:t>통제</a:t>
            </a:r>
            <a:endParaRPr lang="en-US" sz="1800" dirty="0"/>
          </a:p>
        </p:txBody>
      </p:sp>
      <p:sp>
        <p:nvSpPr>
          <p:cNvPr id="9" name="Wheel spoke"/>
          <p:cNvSpPr/>
          <p:nvPr/>
        </p:nvSpPr>
        <p:spPr>
          <a:xfrm>
            <a:off x="3108960" y="1554480"/>
            <a:ext cx="1463040" cy="548640"/>
          </a:xfrm>
          <a:prstGeom prst="roundRect">
            <a:avLst>
              <a:gd name="adj" fmla="val 25000"/>
            </a:avLst>
          </a:prstGeom>
          <a:solidFill>
            <a:schemeClr val="bg1"/>
          </a:solidFill>
          <a:ln w="12700">
            <a:solidFill>
              <a:schemeClr val="accent3"/>
            </a:solidFill>
            <a:prstDash val="solid"/>
          </a:ln>
        </p:spPr>
      </p:sp>
      <p:sp>
        <p:nvSpPr>
          <p:cNvPr id="10" name="Text 6"/>
          <p:cNvSpPr txBox="1"/>
          <p:nvPr/>
        </p:nvSpPr>
        <p:spPr>
          <a:xfrm>
            <a:off x="3108960" y="1554480"/>
            <a:ext cx="1463040" cy="548640"/>
          </a:xfrm>
          <a:prstGeom prst="rect">
            <a:avLst/>
          </a:prstGeom>
          <a:noFill/>
          <a:ln/>
        </p:spPr>
        <p:txBody>
          <a:bodyPr wrap="square" lIns="0" tIns="0" rIns="0" bIns="0" rtlCol="0" anchor="ctr"/>
          <a:lstStyle/>
          <a:p>
            <a:pPr algn="ctr" indent="0" marL="0">
              <a:buNone/>
            </a:pPr>
            <a:r>
              <a:rPr lang="en-US" sz="1300" b="1" dirty="0">
                <a:solidFill>
                  <a:schemeClr val="tx2"/>
                </a:solidFill>
              </a:rPr>
              <a:t>위협·협박</a:t>
            </a:r>
            <a:endParaRPr lang="en-US" sz="1300" dirty="0"/>
          </a:p>
        </p:txBody>
      </p:sp>
      <p:sp>
        <p:nvSpPr>
          <p:cNvPr id="11" name="Wheel spoke"/>
          <p:cNvSpPr/>
          <p:nvPr/>
        </p:nvSpPr>
        <p:spPr>
          <a:xfrm>
            <a:off x="4434446" y="2103514"/>
            <a:ext cx="1463040" cy="548640"/>
          </a:xfrm>
          <a:prstGeom prst="roundRect">
            <a:avLst>
              <a:gd name="adj" fmla="val 25000"/>
            </a:avLst>
          </a:prstGeom>
          <a:solidFill>
            <a:schemeClr val="bg1"/>
          </a:solidFill>
          <a:ln w="12700">
            <a:solidFill>
              <a:schemeClr val="accent3"/>
            </a:solidFill>
            <a:prstDash val="solid"/>
          </a:ln>
        </p:spPr>
      </p:sp>
      <p:sp>
        <p:nvSpPr>
          <p:cNvPr id="12" name="Text 8"/>
          <p:cNvSpPr txBox="1"/>
          <p:nvPr/>
        </p:nvSpPr>
        <p:spPr>
          <a:xfrm>
            <a:off x="4434446" y="2103514"/>
            <a:ext cx="1463040" cy="548640"/>
          </a:xfrm>
          <a:prstGeom prst="rect">
            <a:avLst/>
          </a:prstGeom>
          <a:noFill/>
          <a:ln/>
        </p:spPr>
        <p:txBody>
          <a:bodyPr wrap="square" lIns="0" tIns="0" rIns="0" bIns="0" rtlCol="0" anchor="ctr"/>
          <a:lstStyle/>
          <a:p>
            <a:pPr algn="ctr" indent="0" marL="0">
              <a:buNone/>
            </a:pPr>
            <a:r>
              <a:rPr lang="en-US" sz="1300" b="1" dirty="0">
                <a:solidFill>
                  <a:schemeClr val="tx2"/>
                </a:solidFill>
              </a:rPr>
              <a:t>감시</a:t>
            </a:r>
            <a:endParaRPr lang="en-US" sz="1300" dirty="0"/>
          </a:p>
        </p:txBody>
      </p:sp>
      <p:sp>
        <p:nvSpPr>
          <p:cNvPr id="13" name="Wheel spoke"/>
          <p:cNvSpPr/>
          <p:nvPr/>
        </p:nvSpPr>
        <p:spPr>
          <a:xfrm>
            <a:off x="4983480" y="3429000"/>
            <a:ext cx="1463040" cy="548640"/>
          </a:xfrm>
          <a:prstGeom prst="roundRect">
            <a:avLst>
              <a:gd name="adj" fmla="val 25000"/>
            </a:avLst>
          </a:prstGeom>
          <a:solidFill>
            <a:schemeClr val="bg1"/>
          </a:solidFill>
          <a:ln w="12700">
            <a:solidFill>
              <a:schemeClr val="accent3"/>
            </a:solidFill>
            <a:prstDash val="solid"/>
          </a:ln>
        </p:spPr>
      </p:sp>
      <p:sp>
        <p:nvSpPr>
          <p:cNvPr id="14" name="Text 10"/>
          <p:cNvSpPr txBox="1"/>
          <p:nvPr/>
        </p:nvSpPr>
        <p:spPr>
          <a:xfrm>
            <a:off x="4983480" y="3429000"/>
            <a:ext cx="1463040" cy="548640"/>
          </a:xfrm>
          <a:prstGeom prst="rect">
            <a:avLst/>
          </a:prstGeom>
          <a:noFill/>
          <a:ln/>
        </p:spPr>
        <p:txBody>
          <a:bodyPr wrap="square" lIns="0" tIns="0" rIns="0" bIns="0" rtlCol="0" anchor="ctr"/>
          <a:lstStyle/>
          <a:p>
            <a:pPr algn="ctr" indent="0" marL="0">
              <a:buNone/>
            </a:pPr>
            <a:r>
              <a:rPr lang="en-US" sz="1300" b="1" dirty="0">
                <a:solidFill>
                  <a:schemeClr val="tx2"/>
                </a:solidFill>
              </a:rPr>
              <a:t>무시·모욕</a:t>
            </a:r>
            <a:endParaRPr lang="en-US" sz="1300" dirty="0"/>
          </a:p>
        </p:txBody>
      </p:sp>
      <p:sp>
        <p:nvSpPr>
          <p:cNvPr id="15" name="Wheel spoke"/>
          <p:cNvSpPr/>
          <p:nvPr/>
        </p:nvSpPr>
        <p:spPr>
          <a:xfrm>
            <a:off x="4434446" y="4754486"/>
            <a:ext cx="1463040" cy="548640"/>
          </a:xfrm>
          <a:prstGeom prst="roundRect">
            <a:avLst>
              <a:gd name="adj" fmla="val 25000"/>
            </a:avLst>
          </a:prstGeom>
          <a:solidFill>
            <a:schemeClr val="bg1"/>
          </a:solidFill>
          <a:ln w="12700">
            <a:solidFill>
              <a:schemeClr val="accent3"/>
            </a:solidFill>
            <a:prstDash val="solid"/>
          </a:ln>
        </p:spPr>
      </p:sp>
      <p:sp>
        <p:nvSpPr>
          <p:cNvPr id="16" name="Text 12"/>
          <p:cNvSpPr txBox="1"/>
          <p:nvPr/>
        </p:nvSpPr>
        <p:spPr>
          <a:xfrm>
            <a:off x="4434446" y="4754486"/>
            <a:ext cx="1463040" cy="548640"/>
          </a:xfrm>
          <a:prstGeom prst="rect">
            <a:avLst/>
          </a:prstGeom>
          <a:noFill/>
          <a:ln/>
        </p:spPr>
        <p:txBody>
          <a:bodyPr wrap="square" lIns="0" tIns="0" rIns="0" bIns="0" rtlCol="0" anchor="ctr"/>
          <a:lstStyle/>
          <a:p>
            <a:pPr algn="ctr" indent="0" marL="0">
              <a:buNone/>
            </a:pPr>
            <a:r>
              <a:rPr lang="en-US" sz="1300" b="1" dirty="0">
                <a:solidFill>
                  <a:schemeClr val="tx2"/>
                </a:solidFill>
              </a:rPr>
              <a:t>고립시키기</a:t>
            </a:r>
            <a:endParaRPr lang="en-US" sz="1300" dirty="0"/>
          </a:p>
        </p:txBody>
      </p:sp>
      <p:sp>
        <p:nvSpPr>
          <p:cNvPr id="17" name="Wheel spoke"/>
          <p:cNvSpPr/>
          <p:nvPr/>
        </p:nvSpPr>
        <p:spPr>
          <a:xfrm>
            <a:off x="3108960" y="5303520"/>
            <a:ext cx="1463040" cy="548640"/>
          </a:xfrm>
          <a:prstGeom prst="roundRect">
            <a:avLst>
              <a:gd name="adj" fmla="val 25000"/>
            </a:avLst>
          </a:prstGeom>
          <a:solidFill>
            <a:schemeClr val="bg1"/>
          </a:solidFill>
          <a:ln w="12700">
            <a:solidFill>
              <a:schemeClr val="accent3"/>
            </a:solidFill>
            <a:prstDash val="solid"/>
          </a:ln>
        </p:spPr>
      </p:sp>
      <p:sp>
        <p:nvSpPr>
          <p:cNvPr id="18" name="Text 14"/>
          <p:cNvSpPr txBox="1"/>
          <p:nvPr/>
        </p:nvSpPr>
        <p:spPr>
          <a:xfrm>
            <a:off x="3108960" y="5303520"/>
            <a:ext cx="1463040" cy="548640"/>
          </a:xfrm>
          <a:prstGeom prst="rect">
            <a:avLst/>
          </a:prstGeom>
          <a:noFill/>
          <a:ln/>
        </p:spPr>
        <p:txBody>
          <a:bodyPr wrap="square" lIns="0" tIns="0" rIns="0" bIns="0" rtlCol="0" anchor="ctr"/>
          <a:lstStyle/>
          <a:p>
            <a:pPr algn="ctr" indent="0" marL="0">
              <a:buNone/>
            </a:pPr>
            <a:r>
              <a:rPr lang="en-US" sz="1300" b="1" dirty="0">
                <a:solidFill>
                  <a:schemeClr val="tx2"/>
                </a:solidFill>
              </a:rPr>
              <a:t>성적 강요</a:t>
            </a:r>
            <a:endParaRPr lang="en-US" sz="1300" dirty="0"/>
          </a:p>
        </p:txBody>
      </p:sp>
      <p:sp>
        <p:nvSpPr>
          <p:cNvPr id="19" name="Wheel spoke"/>
          <p:cNvSpPr/>
          <p:nvPr/>
        </p:nvSpPr>
        <p:spPr>
          <a:xfrm>
            <a:off x="1783474" y="4754486"/>
            <a:ext cx="1463040" cy="548640"/>
          </a:xfrm>
          <a:prstGeom prst="roundRect">
            <a:avLst>
              <a:gd name="adj" fmla="val 25000"/>
            </a:avLst>
          </a:prstGeom>
          <a:solidFill>
            <a:schemeClr val="bg1"/>
          </a:solidFill>
          <a:ln w="12700">
            <a:solidFill>
              <a:schemeClr val="accent3"/>
            </a:solidFill>
            <a:prstDash val="solid"/>
          </a:ln>
        </p:spPr>
      </p:sp>
      <p:sp>
        <p:nvSpPr>
          <p:cNvPr id="20" name="Text 16"/>
          <p:cNvSpPr txBox="1"/>
          <p:nvPr/>
        </p:nvSpPr>
        <p:spPr>
          <a:xfrm>
            <a:off x="1783474" y="4754486"/>
            <a:ext cx="1463040" cy="548640"/>
          </a:xfrm>
          <a:prstGeom prst="rect">
            <a:avLst/>
          </a:prstGeom>
          <a:noFill/>
          <a:ln/>
        </p:spPr>
        <p:txBody>
          <a:bodyPr wrap="square" lIns="0" tIns="0" rIns="0" bIns="0" rtlCol="0" anchor="ctr"/>
          <a:lstStyle/>
          <a:p>
            <a:pPr algn="ctr" indent="0" marL="0">
              <a:buNone/>
            </a:pPr>
            <a:r>
              <a:rPr lang="en-US" sz="1300" b="1" dirty="0">
                <a:solidFill>
                  <a:schemeClr val="tx2"/>
                </a:solidFill>
              </a:rPr>
              <a:t>소문 퍼뜨리기</a:t>
            </a:r>
            <a:endParaRPr lang="en-US" sz="1300" dirty="0"/>
          </a:p>
        </p:txBody>
      </p:sp>
      <p:sp>
        <p:nvSpPr>
          <p:cNvPr id="21" name="Wheel spoke"/>
          <p:cNvSpPr/>
          <p:nvPr/>
        </p:nvSpPr>
        <p:spPr>
          <a:xfrm>
            <a:off x="1234440" y="3429000"/>
            <a:ext cx="1463040" cy="548640"/>
          </a:xfrm>
          <a:prstGeom prst="roundRect">
            <a:avLst>
              <a:gd name="adj" fmla="val 25000"/>
            </a:avLst>
          </a:prstGeom>
          <a:solidFill>
            <a:schemeClr val="bg1"/>
          </a:solidFill>
          <a:ln w="12700">
            <a:solidFill>
              <a:schemeClr val="accent3"/>
            </a:solidFill>
            <a:prstDash val="solid"/>
          </a:ln>
        </p:spPr>
      </p:sp>
      <p:sp>
        <p:nvSpPr>
          <p:cNvPr id="22" name="Text 18"/>
          <p:cNvSpPr txBox="1"/>
          <p:nvPr/>
        </p:nvSpPr>
        <p:spPr>
          <a:xfrm>
            <a:off x="1234440" y="3429000"/>
            <a:ext cx="1463040" cy="548640"/>
          </a:xfrm>
          <a:prstGeom prst="rect">
            <a:avLst/>
          </a:prstGeom>
          <a:noFill/>
          <a:ln/>
        </p:spPr>
        <p:txBody>
          <a:bodyPr wrap="square" lIns="0" tIns="0" rIns="0" bIns="0" rtlCol="0" anchor="ctr"/>
          <a:lstStyle/>
          <a:p>
            <a:pPr algn="ctr" indent="0" marL="0">
              <a:buNone/>
            </a:pPr>
            <a:r>
              <a:rPr lang="en-US" sz="1300" b="1" dirty="0">
                <a:solidFill>
                  <a:schemeClr val="tx2"/>
                </a:solidFill>
              </a:rPr>
              <a:t>“네 탓이야”</a:t>
            </a:r>
            <a:endParaRPr lang="en-US" sz="1300" dirty="0"/>
          </a:p>
        </p:txBody>
      </p:sp>
      <p:sp>
        <p:nvSpPr>
          <p:cNvPr id="23" name="Wheel spoke"/>
          <p:cNvSpPr/>
          <p:nvPr/>
        </p:nvSpPr>
        <p:spPr>
          <a:xfrm>
            <a:off x="1783474" y="2103514"/>
            <a:ext cx="1463040" cy="548640"/>
          </a:xfrm>
          <a:prstGeom prst="roundRect">
            <a:avLst>
              <a:gd name="adj" fmla="val 25000"/>
            </a:avLst>
          </a:prstGeom>
          <a:solidFill>
            <a:schemeClr val="bg1"/>
          </a:solidFill>
          <a:ln w="12700">
            <a:solidFill>
              <a:schemeClr val="accent3"/>
            </a:solidFill>
            <a:prstDash val="solid"/>
          </a:ln>
        </p:spPr>
      </p:sp>
      <p:sp>
        <p:nvSpPr>
          <p:cNvPr id="24" name="Text 20"/>
          <p:cNvSpPr txBox="1"/>
          <p:nvPr/>
        </p:nvSpPr>
        <p:spPr>
          <a:xfrm>
            <a:off x="1783474" y="2103514"/>
            <a:ext cx="1463040" cy="548640"/>
          </a:xfrm>
          <a:prstGeom prst="rect">
            <a:avLst/>
          </a:prstGeom>
          <a:noFill/>
          <a:ln/>
        </p:spPr>
        <p:txBody>
          <a:bodyPr wrap="square" lIns="0" tIns="0" rIns="0" bIns="0" rtlCol="0" anchor="ctr"/>
          <a:lstStyle/>
          <a:p>
            <a:pPr algn="ctr" indent="0" marL="0">
              <a:buNone/>
            </a:pPr>
            <a:r>
              <a:rPr lang="en-US" sz="1300" b="1" dirty="0">
                <a:solidFill>
                  <a:schemeClr val="tx2"/>
                </a:solidFill>
              </a:rPr>
              <a:t>돈 통제</a:t>
            </a:r>
            <a:endParaRPr lang="en-US" sz="1300" dirty="0"/>
          </a:p>
        </p:txBody>
      </p:sp>
      <p:sp>
        <p:nvSpPr>
          <p:cNvPr id="25" name="Card"/>
          <p:cNvSpPr/>
          <p:nvPr/>
        </p:nvSpPr>
        <p:spPr>
          <a:xfrm>
            <a:off x="6949440" y="1463040"/>
            <a:ext cx="466344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26" name="Illustration" descr="preencoded.png">    </p:cNvPr>
          <p:cNvPicPr>
            <a:picLocks noChangeAspect="1"/>
          </p:cNvPicPr>
          <p:nvPr/>
        </p:nvPicPr>
        <p:blipFill>
          <a:blip r:embed="rId2"/>
          <a:stretch>
            <a:fillRect/>
          </a:stretch>
        </p:blipFill>
        <p:spPr>
          <a:xfrm>
            <a:off x="7223760" y="2011680"/>
            <a:ext cx="914400" cy="914400"/>
          </a:xfrm>
          <a:prstGeom prst="rect">
            <a:avLst/>
          </a:prstGeom>
        </p:spPr>
      </p:pic>
      <p:sp>
        <p:nvSpPr>
          <p:cNvPr id="27" name="Text 22"/>
          <p:cNvSpPr txBox="1"/>
          <p:nvPr/>
        </p:nvSpPr>
        <p:spPr>
          <a:xfrm>
            <a:off x="8366760" y="1554480"/>
            <a:ext cx="3017520" cy="868680"/>
          </a:xfrm>
          <a:prstGeom prst="rect">
            <a:avLst/>
          </a:prstGeom>
          <a:noFill/>
          <a:ln/>
        </p:spPr>
        <p:txBody>
          <a:bodyPr wrap="square" lIns="0" tIns="0" rIns="0" bIns="0" rtlCol="0" anchor="b"/>
          <a:lstStyle/>
          <a:p>
            <a:pPr indent="0" marL="0">
              <a:buNone/>
            </a:pPr>
            <a:r>
              <a:rPr lang="en-US" sz="1800" b="1" dirty="0">
                <a:solidFill>
                  <a:schemeClr val="tx2"/>
                </a:solidFill>
              </a:rPr>
              <a:t>바퀴살 = 일상의 통제</a:t>
            </a:r>
            <a:endParaRPr lang="en-US" sz="1800" dirty="0"/>
          </a:p>
        </p:txBody>
      </p:sp>
      <p:sp>
        <p:nvSpPr>
          <p:cNvPr id="28" name="Text 23"/>
          <p:cNvSpPr txBox="1"/>
          <p:nvPr/>
        </p:nvSpPr>
        <p:spPr>
          <a:xfrm>
            <a:off x="8366760" y="2514600"/>
            <a:ext cx="3017520" cy="868680"/>
          </a:xfrm>
          <a:prstGeom prst="rect">
            <a:avLst/>
          </a:prstGeom>
          <a:noFill/>
          <a:ln/>
        </p:spPr>
        <p:txBody>
          <a:bodyPr wrap="square" lIns="0" tIns="0" rIns="0" bIns="0" rtlCol="0" anchor="t"/>
          <a:lstStyle/>
          <a:p>
            <a:pPr indent="0" marL="0">
              <a:buNone/>
            </a:pPr>
            <a:r>
              <a:rPr lang="en-US" sz="1500" dirty="0">
                <a:solidFill>
                  <a:schemeClr val="tx1"/>
                </a:solidFill>
              </a:rPr>
              <a:t>하나씩 보면 사소해 보여요</a:t>
            </a:r>
            <a:endParaRPr lang="en-US" sz="1500" dirty="0"/>
          </a:p>
        </p:txBody>
      </p:sp>
      <p:sp>
        <p:nvSpPr>
          <p:cNvPr id="29" name="Card"/>
          <p:cNvSpPr/>
          <p:nvPr/>
        </p:nvSpPr>
        <p:spPr>
          <a:xfrm>
            <a:off x="6949440" y="3749040"/>
            <a:ext cx="4663440" cy="2011680"/>
          </a:xfrm>
          <a:prstGeom prst="roundRect">
            <a:avLst>
              <a:gd name="adj" fmla="val 9091"/>
            </a:avLst>
          </a:prstGeom>
          <a:solidFill>
            <a:schemeClr val="tx2"/>
          </a:solidFill>
          <a:ln/>
          <a:effectLst>
            <a:outerShdw sx="100000" sy="100000" kx="0" ky="0" algn="bl" rotWithShape="0" blurRad="101600" dist="25400" dir="5400000">
              <a:srgbClr val="4A1D3F">
                <a:alpha val="28000"/>
              </a:srgbClr>
            </a:outerShdw>
          </a:effectLst>
        </p:spPr>
      </p:sp>
      <p:pic>
        <p:nvPicPr>
          <p:cNvPr id="30" name="Illustration" descr="preencoded.png">    </p:cNvPr>
          <p:cNvPicPr>
            <a:picLocks noChangeAspect="1"/>
          </p:cNvPicPr>
          <p:nvPr/>
        </p:nvPicPr>
        <p:blipFill>
          <a:blip r:embed="rId3"/>
          <a:stretch>
            <a:fillRect/>
          </a:stretch>
        </p:blipFill>
        <p:spPr>
          <a:xfrm>
            <a:off x="7223760" y="4297680"/>
            <a:ext cx="914400" cy="914400"/>
          </a:xfrm>
          <a:prstGeom prst="rect">
            <a:avLst/>
          </a:prstGeom>
        </p:spPr>
      </p:pic>
      <p:sp>
        <p:nvSpPr>
          <p:cNvPr id="31" name="Text 25"/>
          <p:cNvSpPr txBox="1"/>
          <p:nvPr/>
        </p:nvSpPr>
        <p:spPr>
          <a:xfrm>
            <a:off x="8366760" y="3840480"/>
            <a:ext cx="3017520" cy="868680"/>
          </a:xfrm>
          <a:prstGeom prst="rect">
            <a:avLst/>
          </a:prstGeom>
          <a:noFill/>
          <a:ln/>
        </p:spPr>
        <p:txBody>
          <a:bodyPr wrap="square" lIns="0" tIns="0" rIns="0" bIns="0" rtlCol="0" anchor="b"/>
          <a:lstStyle/>
          <a:p>
            <a:pPr indent="0" marL="0">
              <a:buNone/>
            </a:pPr>
            <a:r>
              <a:rPr lang="en-US" sz="1800" b="1" dirty="0">
                <a:solidFill>
                  <a:schemeClr val="bg1"/>
                </a:solidFill>
              </a:rPr>
              <a:t>테두리 = 신체·성적 폭력</a:t>
            </a:r>
            <a:endParaRPr lang="en-US" sz="1800" dirty="0"/>
          </a:p>
        </p:txBody>
      </p:sp>
      <p:sp>
        <p:nvSpPr>
          <p:cNvPr id="32" name="Text 26"/>
          <p:cNvSpPr txBox="1"/>
          <p:nvPr/>
        </p:nvSpPr>
        <p:spPr>
          <a:xfrm>
            <a:off x="8366760" y="4800600"/>
            <a:ext cx="3017520" cy="868680"/>
          </a:xfrm>
          <a:prstGeom prst="rect">
            <a:avLst/>
          </a:prstGeom>
          <a:noFill/>
          <a:ln/>
        </p:spPr>
        <p:txBody>
          <a:bodyPr wrap="square" lIns="0" tIns="0" rIns="0" bIns="0" rtlCol="0" anchor="t"/>
          <a:lstStyle/>
          <a:p>
            <a:pPr indent="0" marL="0">
              <a:buNone/>
            </a:pPr>
            <a:r>
              <a:rPr lang="en-US" sz="1500" dirty="0">
                <a:solidFill>
                  <a:schemeClr val="accent3"/>
                </a:solidFill>
              </a:rPr>
              <a:t>가끔이어도 두려움이 남아요</a:t>
            </a:r>
            <a:endParaRPr lang="en-US" sz="1500" dirty="0"/>
          </a:p>
        </p:txBody>
      </p:sp>
      <p:sp>
        <p:nvSpPr>
          <p:cNvPr id="33"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DAIP Power and Control Wheel(Duluth)을 청소년 교제 상황에 맞게 재구성</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이런 말, 들어 본 적 있나요?</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6766560" cy="914400"/>
          </a:xfrm>
          <a:prstGeom prst="roundRect">
            <a:avLst>
              <a:gd name="adj" fmla="val 20000"/>
            </a:avLst>
          </a:prstGeom>
          <a:solidFill>
            <a:schemeClr val="bg1"/>
          </a:solidFill>
          <a:ln w="15875">
            <a:solidFill>
              <a:srgbClr val="B98AA8"/>
            </a:solidFill>
            <a:prstDash val="dash"/>
          </a:ln>
          <a:effectLst>
            <a:outerShdw sx="100000" sy="100000" kx="0" ky="0" algn="bl" rotWithShape="0" blurRad="101600" dist="25400" dir="5400000">
              <a:srgbClr val="4A1D3F">
                <a:alpha val="10000"/>
              </a:srgbClr>
            </a:outerShdw>
          </a:effectLst>
        </p:spPr>
      </p:sp>
      <p:pic>
        <p:nvPicPr>
          <p:cNvPr id="7" name="Quote icon" descr="preencoded.png">    </p:cNvPr>
          <p:cNvPicPr>
            <a:picLocks noChangeAspect="1"/>
          </p:cNvPicPr>
          <p:nvPr/>
        </p:nvPicPr>
        <p:blipFill>
          <a:blip r:embed="rId2"/>
          <a:stretch>
            <a:fillRect/>
          </a:stretch>
        </p:blipFill>
        <p:spPr>
          <a:xfrm>
            <a:off x="777240" y="1719072"/>
            <a:ext cx="411480" cy="411480"/>
          </a:xfrm>
          <a:prstGeom prst="rect">
            <a:avLst/>
          </a:prstGeom>
        </p:spPr>
      </p:pic>
      <p:sp>
        <p:nvSpPr>
          <p:cNvPr id="8" name="Text 3"/>
          <p:cNvSpPr txBox="1"/>
          <p:nvPr/>
        </p:nvSpPr>
        <p:spPr>
          <a:xfrm>
            <a:off x="1371600" y="1463040"/>
            <a:ext cx="5852160" cy="914400"/>
          </a:xfrm>
          <a:prstGeom prst="rect">
            <a:avLst/>
          </a:prstGeom>
          <a:noFill/>
          <a:ln/>
        </p:spPr>
        <p:txBody>
          <a:bodyPr wrap="square" lIns="0" tIns="0" rIns="0" bIns="0" rtlCol="0" anchor="ctr"/>
          <a:lstStyle/>
          <a:p>
            <a:pPr indent="0" marL="0">
              <a:buNone/>
            </a:pPr>
            <a:r>
              <a:rPr lang="en-US" sz="1900" dirty="0">
                <a:solidFill>
                  <a:schemeClr val="tx1"/>
                </a:solidFill>
              </a:rPr>
              <a:t>“너 때문에 내가 이러는 거잖아.”</a:t>
            </a:r>
            <a:endParaRPr lang="en-US" sz="1900" dirty="0"/>
          </a:p>
        </p:txBody>
      </p:sp>
      <p:sp>
        <p:nvSpPr>
          <p:cNvPr id="9" name="Card"/>
          <p:cNvSpPr/>
          <p:nvPr/>
        </p:nvSpPr>
        <p:spPr>
          <a:xfrm>
            <a:off x="548640" y="2560320"/>
            <a:ext cx="6766560" cy="914400"/>
          </a:xfrm>
          <a:prstGeom prst="roundRect">
            <a:avLst>
              <a:gd name="adj" fmla="val 20000"/>
            </a:avLst>
          </a:prstGeom>
          <a:solidFill>
            <a:schemeClr val="bg1"/>
          </a:solidFill>
          <a:ln w="15875">
            <a:solidFill>
              <a:srgbClr val="B98AA8"/>
            </a:solidFill>
            <a:prstDash val="dash"/>
          </a:ln>
          <a:effectLst>
            <a:outerShdw sx="100000" sy="100000" kx="0" ky="0" algn="bl" rotWithShape="0" blurRad="101600" dist="25400" dir="5400000">
              <a:srgbClr val="4A1D3F">
                <a:alpha val="10000"/>
              </a:srgbClr>
            </a:outerShdw>
          </a:effectLst>
        </p:spPr>
      </p:sp>
      <p:pic>
        <p:nvPicPr>
          <p:cNvPr id="10" name="Quote icon" descr="preencoded.png">    </p:cNvPr>
          <p:cNvPicPr>
            <a:picLocks noChangeAspect="1"/>
          </p:cNvPicPr>
          <p:nvPr/>
        </p:nvPicPr>
        <p:blipFill>
          <a:blip r:embed="rId3"/>
          <a:stretch>
            <a:fillRect/>
          </a:stretch>
        </p:blipFill>
        <p:spPr>
          <a:xfrm>
            <a:off x="777240" y="2816352"/>
            <a:ext cx="411480" cy="411480"/>
          </a:xfrm>
          <a:prstGeom prst="rect">
            <a:avLst/>
          </a:prstGeom>
        </p:spPr>
      </p:pic>
      <p:sp>
        <p:nvSpPr>
          <p:cNvPr id="11" name="Text 5"/>
          <p:cNvSpPr txBox="1"/>
          <p:nvPr/>
        </p:nvSpPr>
        <p:spPr>
          <a:xfrm>
            <a:off x="1371600" y="2560320"/>
            <a:ext cx="5852160" cy="914400"/>
          </a:xfrm>
          <a:prstGeom prst="rect">
            <a:avLst/>
          </a:prstGeom>
          <a:noFill/>
          <a:ln/>
        </p:spPr>
        <p:txBody>
          <a:bodyPr wrap="square" lIns="0" tIns="0" rIns="0" bIns="0" rtlCol="0" anchor="ctr"/>
          <a:lstStyle/>
          <a:p>
            <a:pPr indent="0" marL="0">
              <a:buNone/>
            </a:pPr>
            <a:r>
              <a:rPr lang="en-US" sz="1900" dirty="0">
                <a:solidFill>
                  <a:schemeClr val="tx1"/>
                </a:solidFill>
              </a:rPr>
              <a:t>“비밀번호 알려줘. 숨길 거 없으면.”</a:t>
            </a:r>
            <a:endParaRPr lang="en-US" sz="1900" dirty="0"/>
          </a:p>
        </p:txBody>
      </p:sp>
      <p:sp>
        <p:nvSpPr>
          <p:cNvPr id="12" name="Card"/>
          <p:cNvSpPr/>
          <p:nvPr/>
        </p:nvSpPr>
        <p:spPr>
          <a:xfrm>
            <a:off x="548640" y="3657600"/>
            <a:ext cx="6766560" cy="914400"/>
          </a:xfrm>
          <a:prstGeom prst="roundRect">
            <a:avLst>
              <a:gd name="adj" fmla="val 20000"/>
            </a:avLst>
          </a:prstGeom>
          <a:solidFill>
            <a:schemeClr val="bg1"/>
          </a:solidFill>
          <a:ln w="15875">
            <a:solidFill>
              <a:srgbClr val="B98AA8"/>
            </a:solidFill>
            <a:prstDash val="dash"/>
          </a:ln>
          <a:effectLst>
            <a:outerShdw sx="100000" sy="100000" kx="0" ky="0" algn="bl" rotWithShape="0" blurRad="101600" dist="25400" dir="5400000">
              <a:srgbClr val="4A1D3F">
                <a:alpha val="10000"/>
              </a:srgbClr>
            </a:outerShdw>
          </a:effectLst>
        </p:spPr>
      </p:sp>
      <p:pic>
        <p:nvPicPr>
          <p:cNvPr id="13" name="Quote icon" descr="preencoded.png">    </p:cNvPr>
          <p:cNvPicPr>
            <a:picLocks noChangeAspect="1"/>
          </p:cNvPicPr>
          <p:nvPr/>
        </p:nvPicPr>
        <p:blipFill>
          <a:blip r:embed="rId4"/>
          <a:stretch>
            <a:fillRect/>
          </a:stretch>
        </p:blipFill>
        <p:spPr>
          <a:xfrm>
            <a:off x="777240" y="3913632"/>
            <a:ext cx="411480" cy="411480"/>
          </a:xfrm>
          <a:prstGeom prst="rect">
            <a:avLst/>
          </a:prstGeom>
        </p:spPr>
      </p:pic>
      <p:sp>
        <p:nvSpPr>
          <p:cNvPr id="14" name="Text 7"/>
          <p:cNvSpPr txBox="1"/>
          <p:nvPr/>
        </p:nvSpPr>
        <p:spPr>
          <a:xfrm>
            <a:off x="1371600" y="3657600"/>
            <a:ext cx="5852160" cy="914400"/>
          </a:xfrm>
          <a:prstGeom prst="rect">
            <a:avLst/>
          </a:prstGeom>
          <a:noFill/>
          <a:ln/>
        </p:spPr>
        <p:txBody>
          <a:bodyPr wrap="square" lIns="0" tIns="0" rIns="0" bIns="0" rtlCol="0" anchor="ctr"/>
          <a:lstStyle/>
          <a:p>
            <a:pPr indent="0" marL="0">
              <a:buNone/>
            </a:pPr>
            <a:r>
              <a:rPr lang="en-US" sz="1900" dirty="0">
                <a:solidFill>
                  <a:schemeClr val="tx1"/>
                </a:solidFill>
              </a:rPr>
              <a:t>“걔랑 연락하지 마. 나만 보면 되잖아.”</a:t>
            </a:r>
            <a:endParaRPr lang="en-US" sz="1900" dirty="0"/>
          </a:p>
        </p:txBody>
      </p:sp>
      <p:sp>
        <p:nvSpPr>
          <p:cNvPr id="15" name="Card"/>
          <p:cNvSpPr/>
          <p:nvPr/>
        </p:nvSpPr>
        <p:spPr>
          <a:xfrm>
            <a:off x="548640" y="4754880"/>
            <a:ext cx="6766560" cy="914400"/>
          </a:xfrm>
          <a:prstGeom prst="roundRect">
            <a:avLst>
              <a:gd name="adj" fmla="val 20000"/>
            </a:avLst>
          </a:prstGeom>
          <a:solidFill>
            <a:schemeClr val="bg1"/>
          </a:solidFill>
          <a:ln w="15875">
            <a:solidFill>
              <a:srgbClr val="B98AA8"/>
            </a:solidFill>
            <a:prstDash val="dash"/>
          </a:ln>
          <a:effectLst>
            <a:outerShdw sx="100000" sy="100000" kx="0" ky="0" algn="bl" rotWithShape="0" blurRad="101600" dist="25400" dir="5400000">
              <a:srgbClr val="4A1D3F">
                <a:alpha val="10000"/>
              </a:srgbClr>
            </a:outerShdw>
          </a:effectLst>
        </p:spPr>
      </p:sp>
      <p:pic>
        <p:nvPicPr>
          <p:cNvPr id="16" name="Quote icon" descr="preencoded.png">    </p:cNvPr>
          <p:cNvPicPr>
            <a:picLocks noChangeAspect="1"/>
          </p:cNvPicPr>
          <p:nvPr/>
        </p:nvPicPr>
        <p:blipFill>
          <a:blip r:embed="rId5"/>
          <a:stretch>
            <a:fillRect/>
          </a:stretch>
        </p:blipFill>
        <p:spPr>
          <a:xfrm>
            <a:off x="777240" y="5010912"/>
            <a:ext cx="411480" cy="411480"/>
          </a:xfrm>
          <a:prstGeom prst="rect">
            <a:avLst/>
          </a:prstGeom>
        </p:spPr>
      </p:pic>
      <p:sp>
        <p:nvSpPr>
          <p:cNvPr id="17" name="Text 9"/>
          <p:cNvSpPr txBox="1"/>
          <p:nvPr/>
        </p:nvSpPr>
        <p:spPr>
          <a:xfrm>
            <a:off x="1371600" y="4754880"/>
            <a:ext cx="5852160" cy="914400"/>
          </a:xfrm>
          <a:prstGeom prst="rect">
            <a:avLst/>
          </a:prstGeom>
          <a:noFill/>
          <a:ln/>
        </p:spPr>
        <p:txBody>
          <a:bodyPr wrap="square" lIns="0" tIns="0" rIns="0" bIns="0" rtlCol="0" anchor="ctr"/>
          <a:lstStyle/>
          <a:p>
            <a:pPr indent="0" marL="0">
              <a:buNone/>
            </a:pPr>
            <a:r>
              <a:rPr lang="en-US" sz="1900" dirty="0">
                <a:solidFill>
                  <a:schemeClr val="tx1"/>
                </a:solidFill>
              </a:rPr>
              <a:t>“헤어지자고 하면 사진 다 올릴 거야.”</a:t>
            </a:r>
            <a:endParaRPr lang="en-US" sz="1900" dirty="0"/>
          </a:p>
        </p:txBody>
      </p:sp>
      <p:sp>
        <p:nvSpPr>
          <p:cNvPr id="18" name="Card"/>
          <p:cNvSpPr/>
          <p:nvPr/>
        </p:nvSpPr>
        <p:spPr>
          <a:xfrm>
            <a:off x="7680960" y="1463040"/>
            <a:ext cx="3931920" cy="4206240"/>
          </a:xfrm>
          <a:prstGeom prst="roundRect">
            <a:avLst>
              <a:gd name="adj" fmla="val 4651"/>
            </a:avLst>
          </a:prstGeom>
          <a:solidFill>
            <a:schemeClr val="tx2"/>
          </a:solidFill>
          <a:ln/>
          <a:effectLst>
            <a:outerShdw sx="100000" sy="100000" kx="0" ky="0" algn="bl" rotWithShape="0" blurRad="101600" dist="25400" dir="5400000">
              <a:srgbClr val="4A1D3F">
                <a:alpha val="28000"/>
              </a:srgbClr>
            </a:outerShdw>
          </a:effectLst>
        </p:spPr>
      </p:sp>
      <p:pic>
        <p:nvPicPr>
          <p:cNvPr id="19" name="Illustration" descr="preencoded.png">    </p:cNvPr>
          <p:cNvPicPr>
            <a:picLocks noChangeAspect="1"/>
          </p:cNvPicPr>
          <p:nvPr/>
        </p:nvPicPr>
        <p:blipFill>
          <a:blip r:embed="rId6"/>
          <a:stretch>
            <a:fillRect/>
          </a:stretch>
        </p:blipFill>
        <p:spPr>
          <a:xfrm>
            <a:off x="8961120" y="1783080"/>
            <a:ext cx="1371600" cy="1371600"/>
          </a:xfrm>
          <a:prstGeom prst="rect">
            <a:avLst/>
          </a:prstGeom>
        </p:spPr>
      </p:pic>
      <p:sp>
        <p:nvSpPr>
          <p:cNvPr id="20" name="Text 11"/>
          <p:cNvSpPr txBox="1"/>
          <p:nvPr/>
        </p:nvSpPr>
        <p:spPr>
          <a:xfrm>
            <a:off x="7863840" y="3337560"/>
            <a:ext cx="3566160" cy="1188720"/>
          </a:xfrm>
          <a:prstGeom prst="rect">
            <a:avLst/>
          </a:prstGeom>
          <a:noFill/>
          <a:ln/>
        </p:spPr>
        <p:txBody>
          <a:bodyPr wrap="square" lIns="0" tIns="0" rIns="0" bIns="0" rtlCol="0" anchor="ctr"/>
          <a:lstStyle/>
          <a:p>
            <a:pPr algn="ctr" indent="0" marL="0">
              <a:buNone/>
            </a:pPr>
            <a:r>
              <a:rPr lang="en-US" sz="2600" b="1" dirty="0">
                <a:solidFill>
                  <a:schemeClr val="bg1"/>
                </a:solidFill>
              </a:rPr>
              <a:t>사랑이 아니라</a:t>
            </a:r>
            <a:endParaRPr lang="en-US" sz="2600" dirty="0"/>
          </a:p>
          <a:p>
            <a:pPr algn="ctr" indent="0" marL="0">
              <a:buNone/>
            </a:pPr>
            <a:r>
              <a:rPr lang="en-US" sz="2600" b="1" dirty="0">
                <a:solidFill>
                  <a:schemeClr val="bg1"/>
                </a:solidFill>
              </a:rPr>
              <a:t>통제예요</a:t>
            </a:r>
            <a:endParaRPr lang="en-US" sz="2600" dirty="0"/>
          </a:p>
        </p:txBody>
      </p:sp>
      <p:sp>
        <p:nvSpPr>
          <p:cNvPr id="21" name="Text 12"/>
          <p:cNvSpPr txBox="1"/>
          <p:nvPr/>
        </p:nvSpPr>
        <p:spPr>
          <a:xfrm>
            <a:off x="7863840" y="4663440"/>
            <a:ext cx="3566160" cy="457200"/>
          </a:xfrm>
          <a:prstGeom prst="rect">
            <a:avLst/>
          </a:prstGeom>
          <a:noFill/>
          <a:ln/>
        </p:spPr>
        <p:txBody>
          <a:bodyPr wrap="square" lIns="0" tIns="0" rIns="0" bIns="0" rtlCol="0" anchor="ctr"/>
          <a:lstStyle/>
          <a:p>
            <a:pPr algn="ctr" indent="0" marL="0">
              <a:buNone/>
            </a:pPr>
            <a:r>
              <a:rPr lang="en-US" sz="1300" dirty="0">
                <a:solidFill>
                  <a:schemeClr val="accent3"/>
                </a:solidFill>
              </a:rPr>
              <a:t>강압적 통제(Coercive Control)</a:t>
            </a:r>
            <a:endParaRPr lang="en-US" sz="13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휴대폰 속 교제폭력</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2880360" cy="1920240"/>
          </a:xfrm>
          <a:prstGeom prst="roundRect">
            <a:avLst>
              <a:gd name="adj" fmla="val 9524"/>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7" name="Illustration" descr="preencoded.png">    </p:cNvPr>
          <p:cNvPicPr>
            <a:picLocks noChangeAspect="1"/>
          </p:cNvPicPr>
          <p:nvPr/>
        </p:nvPicPr>
        <p:blipFill>
          <a:blip r:embed="rId2"/>
          <a:stretch>
            <a:fillRect/>
          </a:stretch>
        </p:blipFill>
        <p:spPr>
          <a:xfrm>
            <a:off x="1554480" y="1691640"/>
            <a:ext cx="868680" cy="868680"/>
          </a:xfrm>
          <a:prstGeom prst="rect">
            <a:avLst/>
          </a:prstGeom>
        </p:spPr>
      </p:pic>
      <p:sp>
        <p:nvSpPr>
          <p:cNvPr id="8" name="Text 3"/>
          <p:cNvSpPr txBox="1"/>
          <p:nvPr/>
        </p:nvSpPr>
        <p:spPr>
          <a:xfrm>
            <a:off x="731520" y="2743200"/>
            <a:ext cx="2514600" cy="502920"/>
          </a:xfrm>
          <a:prstGeom prst="rect">
            <a:avLst/>
          </a:prstGeom>
          <a:noFill/>
          <a:ln/>
        </p:spPr>
        <p:txBody>
          <a:bodyPr wrap="square" lIns="0" tIns="0" rIns="0" bIns="0" rtlCol="0" anchor="ctr"/>
          <a:lstStyle/>
          <a:p>
            <a:pPr algn="ctr" indent="0" marL="0">
              <a:buNone/>
            </a:pPr>
            <a:r>
              <a:rPr lang="en-US" sz="1800" b="1" dirty="0">
                <a:solidFill>
                  <a:schemeClr val="tx2"/>
                </a:solidFill>
              </a:rPr>
              <a:t>위치 공유 강요</a:t>
            </a:r>
            <a:endParaRPr lang="en-US" sz="1800" dirty="0"/>
          </a:p>
        </p:txBody>
      </p:sp>
      <p:sp>
        <p:nvSpPr>
          <p:cNvPr id="9" name="Card"/>
          <p:cNvSpPr/>
          <p:nvPr/>
        </p:nvSpPr>
        <p:spPr>
          <a:xfrm>
            <a:off x="3611880" y="1463040"/>
            <a:ext cx="2880360" cy="1920240"/>
          </a:xfrm>
          <a:prstGeom prst="roundRect">
            <a:avLst>
              <a:gd name="adj" fmla="val 9524"/>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0" name="Illustration" descr="preencoded.png">    </p:cNvPr>
          <p:cNvPicPr>
            <a:picLocks noChangeAspect="1"/>
          </p:cNvPicPr>
          <p:nvPr/>
        </p:nvPicPr>
        <p:blipFill>
          <a:blip r:embed="rId3"/>
          <a:stretch>
            <a:fillRect/>
          </a:stretch>
        </p:blipFill>
        <p:spPr>
          <a:xfrm>
            <a:off x="4617720" y="1691640"/>
            <a:ext cx="868680" cy="868680"/>
          </a:xfrm>
          <a:prstGeom prst="rect">
            <a:avLst/>
          </a:prstGeom>
        </p:spPr>
      </p:pic>
      <p:sp>
        <p:nvSpPr>
          <p:cNvPr id="11" name="Text 5"/>
          <p:cNvSpPr txBox="1"/>
          <p:nvPr/>
        </p:nvSpPr>
        <p:spPr>
          <a:xfrm>
            <a:off x="3794760" y="2743200"/>
            <a:ext cx="2514600" cy="502920"/>
          </a:xfrm>
          <a:prstGeom prst="rect">
            <a:avLst/>
          </a:prstGeom>
          <a:noFill/>
          <a:ln/>
        </p:spPr>
        <p:txBody>
          <a:bodyPr wrap="square" lIns="0" tIns="0" rIns="0" bIns="0" rtlCol="0" anchor="ctr"/>
          <a:lstStyle/>
          <a:p>
            <a:pPr algn="ctr" indent="0" marL="0">
              <a:buNone/>
            </a:pPr>
            <a:r>
              <a:rPr lang="en-US" sz="1800" b="1" dirty="0">
                <a:solidFill>
                  <a:schemeClr val="tx2"/>
                </a:solidFill>
              </a:rPr>
              <a:t>DM·비번 검사</a:t>
            </a:r>
            <a:endParaRPr lang="en-US" sz="1800" dirty="0"/>
          </a:p>
        </p:txBody>
      </p:sp>
      <p:sp>
        <p:nvSpPr>
          <p:cNvPr id="12" name="Card"/>
          <p:cNvSpPr/>
          <p:nvPr/>
        </p:nvSpPr>
        <p:spPr>
          <a:xfrm>
            <a:off x="548640" y="3611880"/>
            <a:ext cx="2880360" cy="1920240"/>
          </a:xfrm>
          <a:prstGeom prst="roundRect">
            <a:avLst>
              <a:gd name="adj" fmla="val 9524"/>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3" name="Illustration" descr="preencoded.png">    </p:cNvPr>
          <p:cNvPicPr>
            <a:picLocks noChangeAspect="1"/>
          </p:cNvPicPr>
          <p:nvPr/>
        </p:nvPicPr>
        <p:blipFill>
          <a:blip r:embed="rId4"/>
          <a:stretch>
            <a:fillRect/>
          </a:stretch>
        </p:blipFill>
        <p:spPr>
          <a:xfrm>
            <a:off x="1554480" y="3840480"/>
            <a:ext cx="868680" cy="868680"/>
          </a:xfrm>
          <a:prstGeom prst="rect">
            <a:avLst/>
          </a:prstGeom>
        </p:spPr>
      </p:pic>
      <p:sp>
        <p:nvSpPr>
          <p:cNvPr id="14" name="Text 7"/>
          <p:cNvSpPr txBox="1"/>
          <p:nvPr/>
        </p:nvSpPr>
        <p:spPr>
          <a:xfrm>
            <a:off x="731520" y="4892040"/>
            <a:ext cx="2514600" cy="502920"/>
          </a:xfrm>
          <a:prstGeom prst="rect">
            <a:avLst/>
          </a:prstGeom>
          <a:noFill/>
          <a:ln/>
        </p:spPr>
        <p:txBody>
          <a:bodyPr wrap="square" lIns="0" tIns="0" rIns="0" bIns="0" rtlCol="0" anchor="ctr"/>
          <a:lstStyle/>
          <a:p>
            <a:pPr algn="ctr" indent="0" marL="0">
              <a:buNone/>
            </a:pPr>
            <a:r>
              <a:rPr lang="en-US" sz="1800" b="1" dirty="0">
                <a:solidFill>
                  <a:schemeClr val="tx2"/>
                </a:solidFill>
              </a:rPr>
              <a:t>사진 요구</a:t>
            </a:r>
            <a:endParaRPr lang="en-US" sz="1800" dirty="0"/>
          </a:p>
        </p:txBody>
      </p:sp>
      <p:sp>
        <p:nvSpPr>
          <p:cNvPr id="15" name="Card"/>
          <p:cNvSpPr/>
          <p:nvPr/>
        </p:nvSpPr>
        <p:spPr>
          <a:xfrm>
            <a:off x="3611880" y="3611880"/>
            <a:ext cx="2880360" cy="1920240"/>
          </a:xfrm>
          <a:prstGeom prst="roundRect">
            <a:avLst>
              <a:gd name="adj" fmla="val 9524"/>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6" name="Illustration" descr="preencoded.png">    </p:cNvPr>
          <p:cNvPicPr>
            <a:picLocks noChangeAspect="1"/>
          </p:cNvPicPr>
          <p:nvPr/>
        </p:nvPicPr>
        <p:blipFill>
          <a:blip r:embed="rId5"/>
          <a:stretch>
            <a:fillRect/>
          </a:stretch>
        </p:blipFill>
        <p:spPr>
          <a:xfrm>
            <a:off x="4617720" y="3840480"/>
            <a:ext cx="868680" cy="868680"/>
          </a:xfrm>
          <a:prstGeom prst="rect">
            <a:avLst/>
          </a:prstGeom>
        </p:spPr>
      </p:pic>
      <p:sp>
        <p:nvSpPr>
          <p:cNvPr id="17" name="Text 9"/>
          <p:cNvSpPr txBox="1"/>
          <p:nvPr/>
        </p:nvSpPr>
        <p:spPr>
          <a:xfrm>
            <a:off x="3794760" y="4892040"/>
            <a:ext cx="2514600" cy="502920"/>
          </a:xfrm>
          <a:prstGeom prst="rect">
            <a:avLst/>
          </a:prstGeom>
          <a:noFill/>
          <a:ln/>
        </p:spPr>
        <p:txBody>
          <a:bodyPr wrap="square" lIns="0" tIns="0" rIns="0" bIns="0" rtlCol="0" anchor="ctr"/>
          <a:lstStyle/>
          <a:p>
            <a:pPr algn="ctr" indent="0" marL="0">
              <a:buNone/>
            </a:pPr>
            <a:r>
              <a:rPr lang="en-US" sz="1800" b="1" dirty="0">
                <a:solidFill>
                  <a:schemeClr val="tx2"/>
                </a:solidFill>
              </a:rPr>
              <a:t>유포 협박</a:t>
            </a:r>
            <a:endParaRPr lang="en-US" sz="1800" dirty="0"/>
          </a:p>
        </p:txBody>
      </p:sp>
      <p:sp>
        <p:nvSpPr>
          <p:cNvPr id="18" name="Card"/>
          <p:cNvSpPr/>
          <p:nvPr/>
        </p:nvSpPr>
        <p:spPr>
          <a:xfrm>
            <a:off x="6858000" y="1463040"/>
            <a:ext cx="4754880" cy="4206240"/>
          </a:xfrm>
          <a:prstGeom prst="roundRect">
            <a:avLst>
              <a:gd name="adj" fmla="val 4348"/>
            </a:avLst>
          </a:prstGeom>
          <a:solidFill>
            <a:schemeClr val="tx2"/>
          </a:solidFill>
          <a:ln/>
          <a:effectLst>
            <a:outerShdw sx="100000" sy="100000" kx="0" ky="0" algn="bl" rotWithShape="0" blurRad="101600" dist="25400" dir="5400000">
              <a:srgbClr val="4A1D3F">
                <a:alpha val="28000"/>
              </a:srgbClr>
            </a:outerShdw>
          </a:effectLst>
        </p:spPr>
      </p:sp>
      <p:sp>
        <p:nvSpPr>
          <p:cNvPr id="19" name="Text 11"/>
          <p:cNvSpPr txBox="1"/>
          <p:nvPr/>
        </p:nvSpPr>
        <p:spPr>
          <a:xfrm>
            <a:off x="7132320" y="1691640"/>
            <a:ext cx="4206240" cy="457200"/>
          </a:xfrm>
          <a:prstGeom prst="rect">
            <a:avLst/>
          </a:prstGeom>
          <a:noFill/>
          <a:ln/>
        </p:spPr>
        <p:txBody>
          <a:bodyPr wrap="square" lIns="0" tIns="0" rIns="0" bIns="0" rtlCol="0" anchor="ctr"/>
          <a:lstStyle/>
          <a:p>
            <a:pPr indent="0" marL="0">
              <a:buNone/>
            </a:pPr>
            <a:r>
              <a:rPr lang="en-US" sz="1700" b="1" dirty="0">
                <a:solidFill>
                  <a:schemeClr val="accent3"/>
                </a:solidFill>
              </a:rPr>
              <a:t>꼭 알아 두세요</a:t>
            </a:r>
            <a:endParaRPr lang="en-US" sz="1700" dirty="0"/>
          </a:p>
        </p:txBody>
      </p:sp>
      <p:sp>
        <p:nvSpPr>
          <p:cNvPr id="20" name="Text 12"/>
          <p:cNvSpPr txBox="1"/>
          <p:nvPr/>
        </p:nvSpPr>
        <p:spPr>
          <a:xfrm>
            <a:off x="7132320" y="2286000"/>
            <a:ext cx="4206240" cy="411480"/>
          </a:xfrm>
          <a:prstGeom prst="rect">
            <a:avLst/>
          </a:prstGeom>
          <a:noFill/>
          <a:ln/>
        </p:spPr>
        <p:txBody>
          <a:bodyPr wrap="square" lIns="0" tIns="0" rIns="0" bIns="0" rtlCol="0" anchor="ctr"/>
          <a:lstStyle/>
          <a:p>
            <a:pPr indent="0" marL="0">
              <a:buNone/>
            </a:pPr>
            <a:r>
              <a:rPr lang="en-US" sz="1800" b="1" dirty="0">
                <a:solidFill>
                  <a:schemeClr val="bg1"/>
                </a:solidFill>
              </a:rPr>
              <a:t>청소년의 성적 사진</a:t>
            </a:r>
            <a:endParaRPr lang="en-US" sz="1800" dirty="0"/>
          </a:p>
        </p:txBody>
      </p:sp>
      <p:sp>
        <p:nvSpPr>
          <p:cNvPr id="21" name="Text 13"/>
          <p:cNvSpPr txBox="1"/>
          <p:nvPr/>
        </p:nvSpPr>
        <p:spPr>
          <a:xfrm>
            <a:off x="7132320" y="2697480"/>
            <a:ext cx="4206240" cy="457200"/>
          </a:xfrm>
          <a:prstGeom prst="rect">
            <a:avLst/>
          </a:prstGeom>
          <a:noFill/>
          <a:ln/>
        </p:spPr>
        <p:txBody>
          <a:bodyPr wrap="square" lIns="0" tIns="0" rIns="0" bIns="0" rtlCol="0" anchor="ctr"/>
          <a:lstStyle/>
          <a:p>
            <a:pPr indent="0" marL="0">
              <a:buNone/>
            </a:pPr>
            <a:r>
              <a:rPr lang="en-US" sz="1800" b="1" dirty="0">
                <a:solidFill>
                  <a:schemeClr val="accent1"/>
                </a:solidFill>
              </a:rPr>
              <a:t>보냈어도 ‘성착취물’</a:t>
            </a:r>
            <a:endParaRPr lang="en-US" sz="1800" dirty="0"/>
          </a:p>
        </p:txBody>
      </p:sp>
      <p:sp>
        <p:nvSpPr>
          <p:cNvPr id="22" name="Text 14"/>
          <p:cNvSpPr txBox="1"/>
          <p:nvPr/>
        </p:nvSpPr>
        <p:spPr>
          <a:xfrm>
            <a:off x="7132320" y="3383280"/>
            <a:ext cx="4206240" cy="411480"/>
          </a:xfrm>
          <a:prstGeom prst="rect">
            <a:avLst/>
          </a:prstGeom>
          <a:noFill/>
          <a:ln/>
        </p:spPr>
        <p:txBody>
          <a:bodyPr wrap="square" lIns="0" tIns="0" rIns="0" bIns="0" rtlCol="0" anchor="ctr"/>
          <a:lstStyle/>
          <a:p>
            <a:pPr indent="0" marL="0">
              <a:buNone/>
            </a:pPr>
            <a:r>
              <a:rPr lang="en-US" sz="1800" b="1" dirty="0">
                <a:solidFill>
                  <a:schemeClr val="bg1"/>
                </a:solidFill>
              </a:rPr>
              <a:t>딥페이크</a:t>
            </a:r>
            <a:endParaRPr lang="en-US" sz="1800" dirty="0"/>
          </a:p>
        </p:txBody>
      </p:sp>
      <p:sp>
        <p:nvSpPr>
          <p:cNvPr id="23" name="Text 15"/>
          <p:cNvSpPr txBox="1"/>
          <p:nvPr/>
        </p:nvSpPr>
        <p:spPr>
          <a:xfrm>
            <a:off x="7132320" y="3794760"/>
            <a:ext cx="4206240" cy="457200"/>
          </a:xfrm>
          <a:prstGeom prst="rect">
            <a:avLst/>
          </a:prstGeom>
          <a:noFill/>
          <a:ln/>
        </p:spPr>
        <p:txBody>
          <a:bodyPr wrap="square" lIns="0" tIns="0" rIns="0" bIns="0" rtlCol="0" anchor="ctr"/>
          <a:lstStyle/>
          <a:p>
            <a:pPr indent="0" marL="0">
              <a:buNone/>
            </a:pPr>
            <a:r>
              <a:rPr lang="en-US" sz="1800" b="1" dirty="0">
                <a:solidFill>
                  <a:schemeClr val="accent1"/>
                </a:solidFill>
              </a:rPr>
              <a:t>보기만 해도 처벌</a:t>
            </a:r>
            <a:endParaRPr lang="en-US" sz="1800" dirty="0"/>
          </a:p>
        </p:txBody>
      </p:sp>
      <p:sp>
        <p:nvSpPr>
          <p:cNvPr id="24" name="Text 16"/>
          <p:cNvSpPr txBox="1"/>
          <p:nvPr/>
        </p:nvSpPr>
        <p:spPr>
          <a:xfrm>
            <a:off x="7132320" y="4480560"/>
            <a:ext cx="4206240" cy="411480"/>
          </a:xfrm>
          <a:prstGeom prst="rect">
            <a:avLst/>
          </a:prstGeom>
          <a:noFill/>
          <a:ln/>
        </p:spPr>
        <p:txBody>
          <a:bodyPr wrap="square" lIns="0" tIns="0" rIns="0" bIns="0" rtlCol="0" anchor="ctr"/>
          <a:lstStyle/>
          <a:p>
            <a:pPr indent="0" marL="0">
              <a:buNone/>
            </a:pPr>
            <a:r>
              <a:rPr lang="en-US" sz="1800" b="1" dirty="0">
                <a:solidFill>
                  <a:schemeClr val="bg1"/>
                </a:solidFill>
              </a:rPr>
              <a:t>유포 협박</a:t>
            </a:r>
            <a:endParaRPr lang="en-US" sz="1800" dirty="0"/>
          </a:p>
        </p:txBody>
      </p:sp>
      <p:sp>
        <p:nvSpPr>
          <p:cNvPr id="25" name="Text 17"/>
          <p:cNvSpPr txBox="1"/>
          <p:nvPr/>
        </p:nvSpPr>
        <p:spPr>
          <a:xfrm>
            <a:off x="7132320" y="4892040"/>
            <a:ext cx="4206240" cy="457200"/>
          </a:xfrm>
          <a:prstGeom prst="rect">
            <a:avLst/>
          </a:prstGeom>
          <a:noFill/>
          <a:ln/>
        </p:spPr>
        <p:txBody>
          <a:bodyPr wrap="square" lIns="0" tIns="0" rIns="0" bIns="0" rtlCol="0" anchor="ctr"/>
          <a:lstStyle/>
          <a:p>
            <a:pPr indent="0" marL="0">
              <a:buNone/>
            </a:pPr>
            <a:r>
              <a:rPr lang="en-US" sz="1800" b="1" dirty="0">
                <a:solidFill>
                  <a:schemeClr val="accent1"/>
                </a:solidFill>
              </a:rPr>
              <a:t>올리지 않아도 범죄</a:t>
            </a:r>
            <a:endParaRPr lang="en-US" sz="1800" dirty="0"/>
          </a:p>
        </p:txBody>
      </p:sp>
      <p:sp>
        <p:nvSpPr>
          <p:cNvPr id="26"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청소년성보호법 제11조 · 성폭력처벌법 제14조의2·3(2024.10 개정)</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왜 쉽게 벗어나지 못할까?</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3794760" y="1417320"/>
            <a:ext cx="2743200" cy="1234440"/>
          </a:xfrm>
          <a:prstGeom prst="roundRect">
            <a:avLst>
              <a:gd name="adj" fmla="val 14815"/>
            </a:avLst>
          </a:prstGeom>
          <a:solidFill>
            <a:schemeClr val="tx2"/>
          </a:solidFill>
          <a:ln/>
          <a:effectLst>
            <a:outerShdw sx="100000" sy="100000" kx="0" ky="0" algn="bl" rotWithShape="0" blurRad="101600" dist="25400" dir="5400000">
              <a:srgbClr val="4A1D3F">
                <a:alpha val="28000"/>
              </a:srgbClr>
            </a:outerShdw>
          </a:effectLst>
        </p:spPr>
      </p:sp>
      <p:pic>
        <p:nvPicPr>
          <p:cNvPr id="7" name="Illustration" descr="preencoded.png">    </p:cNvPr>
          <p:cNvPicPr>
            <a:picLocks noChangeAspect="1"/>
          </p:cNvPicPr>
          <p:nvPr/>
        </p:nvPicPr>
        <p:blipFill>
          <a:blip r:embed="rId2"/>
          <a:stretch>
            <a:fillRect/>
          </a:stretch>
        </p:blipFill>
        <p:spPr>
          <a:xfrm>
            <a:off x="3977640" y="1691640"/>
            <a:ext cx="685800" cy="685800"/>
          </a:xfrm>
          <a:prstGeom prst="rect">
            <a:avLst/>
          </a:prstGeom>
        </p:spPr>
      </p:pic>
      <p:sp>
        <p:nvSpPr>
          <p:cNvPr id="8" name="Text 3"/>
          <p:cNvSpPr txBox="1"/>
          <p:nvPr/>
        </p:nvSpPr>
        <p:spPr>
          <a:xfrm>
            <a:off x="4800600" y="1554480"/>
            <a:ext cx="1645920" cy="502920"/>
          </a:xfrm>
          <a:prstGeom prst="rect">
            <a:avLst/>
          </a:prstGeom>
          <a:noFill/>
          <a:ln/>
        </p:spPr>
        <p:txBody>
          <a:bodyPr wrap="square" lIns="0" tIns="0" rIns="0" bIns="0" rtlCol="0" anchor="ctr"/>
          <a:lstStyle/>
          <a:p>
            <a:pPr indent="0" marL="0">
              <a:buNone/>
            </a:pPr>
            <a:r>
              <a:rPr lang="en-US" sz="2200" b="1" dirty="0">
                <a:solidFill>
                  <a:schemeClr val="bg1"/>
                </a:solidFill>
              </a:rPr>
              <a:t>긴장</a:t>
            </a:r>
            <a:endParaRPr lang="en-US" sz="2200" dirty="0"/>
          </a:p>
        </p:txBody>
      </p:sp>
      <p:sp>
        <p:nvSpPr>
          <p:cNvPr id="9" name="Text 4"/>
          <p:cNvSpPr txBox="1"/>
          <p:nvPr/>
        </p:nvSpPr>
        <p:spPr>
          <a:xfrm>
            <a:off x="4800600" y="2057400"/>
            <a:ext cx="1645920" cy="457200"/>
          </a:xfrm>
          <a:prstGeom prst="rect">
            <a:avLst/>
          </a:prstGeom>
          <a:noFill/>
          <a:ln/>
        </p:spPr>
        <p:txBody>
          <a:bodyPr wrap="square" lIns="0" tIns="0" rIns="0" bIns="0" rtlCol="0" anchor="t"/>
          <a:lstStyle/>
          <a:p>
            <a:pPr indent="0" marL="0">
              <a:buNone/>
            </a:pPr>
            <a:r>
              <a:rPr lang="en-US" sz="1400" dirty="0">
                <a:solidFill>
                  <a:schemeClr val="bg1"/>
                </a:solidFill>
              </a:rPr>
              <a:t>눈치 보게 돼요</a:t>
            </a:r>
            <a:endParaRPr lang="en-US" sz="1400" dirty="0"/>
          </a:p>
        </p:txBody>
      </p:sp>
      <p:sp>
        <p:nvSpPr>
          <p:cNvPr id="10" name="Card"/>
          <p:cNvSpPr/>
          <p:nvPr/>
        </p:nvSpPr>
        <p:spPr>
          <a:xfrm>
            <a:off x="6903720" y="3017520"/>
            <a:ext cx="2743200" cy="1234440"/>
          </a:xfrm>
          <a:prstGeom prst="roundRect">
            <a:avLst>
              <a:gd name="adj" fmla="val 14815"/>
            </a:avLst>
          </a:prstGeom>
          <a:solidFill>
            <a:schemeClr val="accent1"/>
          </a:solidFill>
          <a:ln/>
          <a:effectLst>
            <a:outerShdw sx="100000" sy="100000" kx="0" ky="0" algn="bl" rotWithShape="0" blurRad="101600" dist="25400" dir="5400000">
              <a:srgbClr val="4A1D3F">
                <a:alpha val="28000"/>
              </a:srgbClr>
            </a:outerShdw>
          </a:effectLst>
        </p:spPr>
      </p:sp>
      <p:pic>
        <p:nvPicPr>
          <p:cNvPr id="11" name="Illustration" descr="preencoded.png">    </p:cNvPr>
          <p:cNvPicPr>
            <a:picLocks noChangeAspect="1"/>
          </p:cNvPicPr>
          <p:nvPr/>
        </p:nvPicPr>
        <p:blipFill>
          <a:blip r:embed="rId3"/>
          <a:stretch>
            <a:fillRect/>
          </a:stretch>
        </p:blipFill>
        <p:spPr>
          <a:xfrm>
            <a:off x="7086600" y="3291840"/>
            <a:ext cx="685800" cy="685800"/>
          </a:xfrm>
          <a:prstGeom prst="rect">
            <a:avLst/>
          </a:prstGeom>
        </p:spPr>
      </p:pic>
      <p:sp>
        <p:nvSpPr>
          <p:cNvPr id="12" name="Text 6"/>
          <p:cNvSpPr txBox="1"/>
          <p:nvPr/>
        </p:nvSpPr>
        <p:spPr>
          <a:xfrm>
            <a:off x="7909560" y="3154680"/>
            <a:ext cx="1645920" cy="502920"/>
          </a:xfrm>
          <a:prstGeom prst="rect">
            <a:avLst/>
          </a:prstGeom>
          <a:noFill/>
          <a:ln/>
        </p:spPr>
        <p:txBody>
          <a:bodyPr wrap="square" lIns="0" tIns="0" rIns="0" bIns="0" rtlCol="0" anchor="ctr"/>
          <a:lstStyle/>
          <a:p>
            <a:pPr indent="0" marL="0">
              <a:buNone/>
            </a:pPr>
            <a:r>
              <a:rPr lang="en-US" sz="2200" b="1" dirty="0">
                <a:solidFill>
                  <a:schemeClr val="bg1"/>
                </a:solidFill>
              </a:rPr>
              <a:t>폭력</a:t>
            </a:r>
            <a:endParaRPr lang="en-US" sz="2200" dirty="0"/>
          </a:p>
        </p:txBody>
      </p:sp>
      <p:sp>
        <p:nvSpPr>
          <p:cNvPr id="13" name="Text 7"/>
          <p:cNvSpPr txBox="1"/>
          <p:nvPr/>
        </p:nvSpPr>
        <p:spPr>
          <a:xfrm>
            <a:off x="7909560" y="3657600"/>
            <a:ext cx="1645920" cy="457200"/>
          </a:xfrm>
          <a:prstGeom prst="rect">
            <a:avLst/>
          </a:prstGeom>
          <a:noFill/>
          <a:ln/>
        </p:spPr>
        <p:txBody>
          <a:bodyPr wrap="square" lIns="0" tIns="0" rIns="0" bIns="0" rtlCol="0" anchor="t"/>
          <a:lstStyle/>
          <a:p>
            <a:pPr indent="0" marL="0">
              <a:buNone/>
            </a:pPr>
            <a:r>
              <a:rPr lang="en-US" sz="1400" dirty="0">
                <a:solidFill>
                  <a:schemeClr val="bg1"/>
                </a:solidFill>
              </a:rPr>
              <a:t>터져 나와요</a:t>
            </a:r>
            <a:endParaRPr lang="en-US" sz="1400" dirty="0"/>
          </a:p>
        </p:txBody>
      </p:sp>
      <p:sp>
        <p:nvSpPr>
          <p:cNvPr id="14" name="Card"/>
          <p:cNvSpPr/>
          <p:nvPr/>
        </p:nvSpPr>
        <p:spPr>
          <a:xfrm>
            <a:off x="3794760" y="4617720"/>
            <a:ext cx="2743200" cy="1234440"/>
          </a:xfrm>
          <a:prstGeom prst="roundRect">
            <a:avLst>
              <a:gd name="adj" fmla="val 14815"/>
            </a:avLst>
          </a:prstGeom>
          <a:solidFill>
            <a:schemeClr val="tx2"/>
          </a:solidFill>
          <a:ln/>
          <a:effectLst>
            <a:outerShdw sx="100000" sy="100000" kx="0" ky="0" algn="bl" rotWithShape="0" blurRad="101600" dist="25400" dir="5400000">
              <a:srgbClr val="4A1D3F">
                <a:alpha val="28000"/>
              </a:srgbClr>
            </a:outerShdw>
          </a:effectLst>
        </p:spPr>
      </p:sp>
      <p:pic>
        <p:nvPicPr>
          <p:cNvPr id="15" name="Illustration" descr="preencoded.png">    </p:cNvPr>
          <p:cNvPicPr>
            <a:picLocks noChangeAspect="1"/>
          </p:cNvPicPr>
          <p:nvPr/>
        </p:nvPicPr>
        <p:blipFill>
          <a:blip r:embed="rId4"/>
          <a:stretch>
            <a:fillRect/>
          </a:stretch>
        </p:blipFill>
        <p:spPr>
          <a:xfrm>
            <a:off x="3977640" y="4892040"/>
            <a:ext cx="685800" cy="685800"/>
          </a:xfrm>
          <a:prstGeom prst="rect">
            <a:avLst/>
          </a:prstGeom>
        </p:spPr>
      </p:pic>
      <p:sp>
        <p:nvSpPr>
          <p:cNvPr id="16" name="Text 9"/>
          <p:cNvSpPr txBox="1"/>
          <p:nvPr/>
        </p:nvSpPr>
        <p:spPr>
          <a:xfrm>
            <a:off x="4800600" y="4754880"/>
            <a:ext cx="1645920" cy="502920"/>
          </a:xfrm>
          <a:prstGeom prst="rect">
            <a:avLst/>
          </a:prstGeom>
          <a:noFill/>
          <a:ln/>
        </p:spPr>
        <p:txBody>
          <a:bodyPr wrap="square" lIns="0" tIns="0" rIns="0" bIns="0" rtlCol="0" anchor="ctr"/>
          <a:lstStyle/>
          <a:p>
            <a:pPr indent="0" marL="0">
              <a:buNone/>
            </a:pPr>
            <a:r>
              <a:rPr lang="en-US" sz="2200" b="1" dirty="0">
                <a:solidFill>
                  <a:schemeClr val="bg1"/>
                </a:solidFill>
              </a:rPr>
              <a:t>사과</a:t>
            </a:r>
            <a:endParaRPr lang="en-US" sz="2200" dirty="0"/>
          </a:p>
        </p:txBody>
      </p:sp>
      <p:sp>
        <p:nvSpPr>
          <p:cNvPr id="17" name="Text 10"/>
          <p:cNvSpPr txBox="1"/>
          <p:nvPr/>
        </p:nvSpPr>
        <p:spPr>
          <a:xfrm>
            <a:off x="4800600" y="5257800"/>
            <a:ext cx="1645920" cy="457200"/>
          </a:xfrm>
          <a:prstGeom prst="rect">
            <a:avLst/>
          </a:prstGeom>
          <a:noFill/>
          <a:ln/>
        </p:spPr>
        <p:txBody>
          <a:bodyPr wrap="square" lIns="0" tIns="0" rIns="0" bIns="0" rtlCol="0" anchor="t"/>
          <a:lstStyle/>
          <a:p>
            <a:pPr indent="0" marL="0">
              <a:buNone/>
            </a:pPr>
            <a:r>
              <a:rPr lang="en-US" sz="1400" dirty="0">
                <a:solidFill>
                  <a:schemeClr val="bg1"/>
                </a:solidFill>
              </a:rPr>
              <a:t>“다신 안 그럴게”</a:t>
            </a:r>
            <a:endParaRPr lang="en-US" sz="1400" dirty="0"/>
          </a:p>
        </p:txBody>
      </p:sp>
      <p:sp>
        <p:nvSpPr>
          <p:cNvPr id="18" name="Card"/>
          <p:cNvSpPr/>
          <p:nvPr/>
        </p:nvSpPr>
        <p:spPr>
          <a:xfrm>
            <a:off x="685800" y="3017520"/>
            <a:ext cx="2743200" cy="1234440"/>
          </a:xfrm>
          <a:prstGeom prst="roundRect">
            <a:avLst>
              <a:gd name="adj" fmla="val 14815"/>
            </a:avLst>
          </a:prstGeom>
          <a:solidFill>
            <a:schemeClr val="tx2"/>
          </a:solidFill>
          <a:ln/>
          <a:effectLst>
            <a:outerShdw sx="100000" sy="100000" kx="0" ky="0" algn="bl" rotWithShape="0" blurRad="101600" dist="25400" dir="5400000">
              <a:srgbClr val="4A1D3F">
                <a:alpha val="28000"/>
              </a:srgbClr>
            </a:outerShdw>
          </a:effectLst>
        </p:spPr>
      </p:sp>
      <p:pic>
        <p:nvPicPr>
          <p:cNvPr id="19" name="Illustration" descr="preencoded.png">    </p:cNvPr>
          <p:cNvPicPr>
            <a:picLocks noChangeAspect="1"/>
          </p:cNvPicPr>
          <p:nvPr/>
        </p:nvPicPr>
        <p:blipFill>
          <a:blip r:embed="rId5"/>
          <a:stretch>
            <a:fillRect/>
          </a:stretch>
        </p:blipFill>
        <p:spPr>
          <a:xfrm>
            <a:off x="868680" y="3291840"/>
            <a:ext cx="685800" cy="685800"/>
          </a:xfrm>
          <a:prstGeom prst="rect">
            <a:avLst/>
          </a:prstGeom>
        </p:spPr>
      </p:pic>
      <p:sp>
        <p:nvSpPr>
          <p:cNvPr id="20" name="Text 12"/>
          <p:cNvSpPr txBox="1"/>
          <p:nvPr/>
        </p:nvSpPr>
        <p:spPr>
          <a:xfrm>
            <a:off x="1691640" y="3154680"/>
            <a:ext cx="1645920" cy="502920"/>
          </a:xfrm>
          <a:prstGeom prst="rect">
            <a:avLst/>
          </a:prstGeom>
          <a:noFill/>
          <a:ln/>
        </p:spPr>
        <p:txBody>
          <a:bodyPr wrap="square" lIns="0" tIns="0" rIns="0" bIns="0" rtlCol="0" anchor="ctr"/>
          <a:lstStyle/>
          <a:p>
            <a:pPr indent="0" marL="0">
              <a:buNone/>
            </a:pPr>
            <a:r>
              <a:rPr lang="en-US" sz="2200" b="1" dirty="0">
                <a:solidFill>
                  <a:schemeClr val="bg1"/>
                </a:solidFill>
              </a:rPr>
              <a:t>평온</a:t>
            </a:r>
            <a:endParaRPr lang="en-US" sz="2200" dirty="0"/>
          </a:p>
        </p:txBody>
      </p:sp>
      <p:sp>
        <p:nvSpPr>
          <p:cNvPr id="21" name="Text 13"/>
          <p:cNvSpPr txBox="1"/>
          <p:nvPr/>
        </p:nvSpPr>
        <p:spPr>
          <a:xfrm>
            <a:off x="1691640" y="3657600"/>
            <a:ext cx="1645920" cy="457200"/>
          </a:xfrm>
          <a:prstGeom prst="rect">
            <a:avLst/>
          </a:prstGeom>
          <a:noFill/>
          <a:ln/>
        </p:spPr>
        <p:txBody>
          <a:bodyPr wrap="square" lIns="0" tIns="0" rIns="0" bIns="0" rtlCol="0" anchor="t"/>
          <a:lstStyle/>
          <a:p>
            <a:pPr indent="0" marL="0">
              <a:buNone/>
            </a:pPr>
            <a:r>
              <a:rPr lang="en-US" sz="1400" dirty="0">
                <a:solidFill>
                  <a:schemeClr val="bg1"/>
                </a:solidFill>
              </a:rPr>
              <a:t>“변했나 봐”</a:t>
            </a:r>
            <a:endParaRPr lang="en-US" sz="1400" dirty="0"/>
          </a:p>
        </p:txBody>
      </p:sp>
      <p:sp>
        <p:nvSpPr>
          <p:cNvPr id="22" name="Cycle arrow"/>
          <p:cNvSpPr/>
          <p:nvPr/>
        </p:nvSpPr>
        <p:spPr>
          <a:xfrm>
            <a:off x="6537960" y="2057400"/>
            <a:ext cx="1143000" cy="914400"/>
          </a:xfrm>
          <a:prstGeom prst="line">
            <a:avLst/>
          </a:prstGeom>
          <a:noFill/>
          <a:ln w="31750">
            <a:solidFill>
              <a:schemeClr val="accent3"/>
            </a:solidFill>
            <a:prstDash val="solid"/>
            <a:tailEnd type="triangle"/>
          </a:ln>
        </p:spPr>
      </p:sp>
      <p:sp>
        <p:nvSpPr>
          <p:cNvPr id="23" name="Cycle arrow"/>
          <p:cNvSpPr/>
          <p:nvPr/>
        </p:nvSpPr>
        <p:spPr>
          <a:xfrm flipH="1">
            <a:off x="6537960" y="4297680"/>
            <a:ext cx="1143000" cy="914400"/>
          </a:xfrm>
          <a:prstGeom prst="line">
            <a:avLst/>
          </a:prstGeom>
          <a:noFill/>
          <a:ln w="31750">
            <a:solidFill>
              <a:schemeClr val="accent3"/>
            </a:solidFill>
            <a:prstDash val="solid"/>
            <a:tailEnd type="triangle"/>
          </a:ln>
        </p:spPr>
      </p:sp>
      <p:sp>
        <p:nvSpPr>
          <p:cNvPr id="24" name="Cycle arrow"/>
          <p:cNvSpPr/>
          <p:nvPr/>
        </p:nvSpPr>
        <p:spPr>
          <a:xfrm flipH="1" flipV="1">
            <a:off x="2377440" y="4297680"/>
            <a:ext cx="1417320" cy="914400"/>
          </a:xfrm>
          <a:prstGeom prst="line">
            <a:avLst/>
          </a:prstGeom>
          <a:noFill/>
          <a:ln w="31750">
            <a:solidFill>
              <a:schemeClr val="accent3"/>
            </a:solidFill>
            <a:prstDash val="solid"/>
            <a:tailEnd type="triangle"/>
          </a:ln>
        </p:spPr>
      </p:sp>
      <p:sp>
        <p:nvSpPr>
          <p:cNvPr id="25" name="Cycle arrow"/>
          <p:cNvSpPr/>
          <p:nvPr/>
        </p:nvSpPr>
        <p:spPr>
          <a:xfrm flipV="1">
            <a:off x="2377440" y="2057400"/>
            <a:ext cx="1417320" cy="914400"/>
          </a:xfrm>
          <a:prstGeom prst="line">
            <a:avLst/>
          </a:prstGeom>
          <a:noFill/>
          <a:ln w="31750">
            <a:solidFill>
              <a:schemeClr val="accent3"/>
            </a:solidFill>
            <a:prstDash val="solid"/>
            <a:tailEnd type="triangle"/>
          </a:ln>
        </p:spPr>
      </p:sp>
      <p:sp>
        <p:nvSpPr>
          <p:cNvPr id="26" name="Text 18"/>
          <p:cNvSpPr txBox="1"/>
          <p:nvPr/>
        </p:nvSpPr>
        <p:spPr>
          <a:xfrm>
            <a:off x="3794760" y="3017520"/>
            <a:ext cx="2743200" cy="1234440"/>
          </a:xfrm>
          <a:prstGeom prst="rect">
            <a:avLst/>
          </a:prstGeom>
          <a:noFill/>
          <a:ln/>
        </p:spPr>
        <p:txBody>
          <a:bodyPr wrap="square" lIns="0" tIns="0" rIns="0" bIns="0" rtlCol="0" anchor="ctr"/>
          <a:lstStyle/>
          <a:p>
            <a:pPr algn="ctr" indent="0" marL="0">
              <a:buNone/>
            </a:pPr>
            <a:r>
              <a:rPr lang="en-US" sz="1800" b="1" i="1" dirty="0">
                <a:solidFill>
                  <a:schemeClr val="accent1"/>
                </a:solidFill>
              </a:rPr>
              <a:t>돌수록 더</a:t>
            </a:r>
            <a:endParaRPr lang="en-US" sz="1800" dirty="0"/>
          </a:p>
          <a:p>
            <a:pPr algn="ctr" indent="0" marL="0">
              <a:buNone/>
            </a:pPr>
            <a:r>
              <a:rPr lang="en-US" sz="1800" b="1" i="1" dirty="0">
                <a:solidFill>
                  <a:schemeClr val="accent1"/>
                </a:solidFill>
              </a:rPr>
              <a:t>자주, 더 세게</a:t>
            </a:r>
            <a:endParaRPr lang="en-US" sz="1800" dirty="0"/>
          </a:p>
        </p:txBody>
      </p:sp>
      <p:sp>
        <p:nvSpPr>
          <p:cNvPr id="27" name="Card"/>
          <p:cNvSpPr/>
          <p:nvPr/>
        </p:nvSpPr>
        <p:spPr>
          <a:xfrm>
            <a:off x="9966960" y="1463040"/>
            <a:ext cx="1645920" cy="4434840"/>
          </a:xfrm>
          <a:prstGeom prst="roundRect">
            <a:avLst>
              <a:gd name="adj" fmla="val 11111"/>
            </a:avLst>
          </a:prstGeom>
          <a:solidFill>
            <a:schemeClr val="bg1"/>
          </a:solidFill>
          <a:ln w="15875">
            <a:solidFill>
              <a:srgbClr val="B98AA8"/>
            </a:solidFill>
            <a:prstDash val="dash"/>
          </a:ln>
          <a:effectLst>
            <a:outerShdw sx="100000" sy="100000" kx="0" ky="0" algn="bl" rotWithShape="0" blurRad="101600" dist="25400" dir="5400000">
              <a:srgbClr val="4A1D3F">
                <a:alpha val="10000"/>
              </a:srgbClr>
            </a:outerShdw>
          </a:effectLst>
        </p:spPr>
      </p:sp>
      <p:sp>
        <p:nvSpPr>
          <p:cNvPr id="28" name="Text 20"/>
          <p:cNvSpPr txBox="1"/>
          <p:nvPr/>
        </p:nvSpPr>
        <p:spPr>
          <a:xfrm>
            <a:off x="10012680" y="1554480"/>
            <a:ext cx="1554480" cy="4251960"/>
          </a:xfrm>
          <a:prstGeom prst="rect">
            <a:avLst/>
          </a:prstGeom>
          <a:noFill/>
          <a:ln/>
        </p:spPr>
        <p:txBody>
          <a:bodyPr wrap="square" lIns="0" tIns="0" rIns="0" bIns="0" rtlCol="0" anchor="ctr"/>
          <a:lstStyle/>
          <a:p>
            <a:pPr algn="ctr" indent="0" marL="0">
              <a:buNone/>
            </a:pPr>
            <a:r>
              <a:rPr lang="en-US" sz="1500" b="1" dirty="0">
                <a:solidFill>
                  <a:schemeClr val="tx2"/>
                </a:solidFill>
              </a:rPr>
              <a:t>그래서</a:t>
            </a:r>
            <a:endParaRPr lang="en-US" sz="1500" dirty="0"/>
          </a:p>
          <a:p>
            <a:pPr algn="ctr" indent="0" marL="0">
              <a:buNone/>
            </a:pPr>
            <a:r>
              <a:rPr lang="en-US" sz="1500" b="1" dirty="0">
                <a:solidFill>
                  <a:schemeClr val="tx2"/>
                </a:solidFill>
              </a:rPr>
              <a:t>“왜 안 헤어져?”</a:t>
            </a:r>
            <a:endParaRPr lang="en-US" sz="1500" dirty="0"/>
          </a:p>
          <a:p>
            <a:pPr algn="ctr" indent="0" marL="0">
              <a:buNone/>
            </a:pPr>
            <a:r>
              <a:rPr lang="en-US" sz="1500" b="1" dirty="0">
                <a:solidFill>
                  <a:schemeClr val="tx2"/>
                </a:solidFill>
              </a:rPr>
              <a:t>대신</a:t>
            </a:r>
            <a:endParaRPr lang="en-US" sz="1500" dirty="0"/>
          </a:p>
          <a:p>
            <a:pPr algn="ctr" indent="0" marL="0">
              <a:buNone/>
            </a:pPr>
            <a:r>
              <a:rPr lang="en-US" sz="1500" b="1" dirty="0">
                <a:solidFill>
                  <a:schemeClr val="tx2"/>
                </a:solidFill>
              </a:rPr>
              <a:t>“도와줄게”</a:t>
            </a:r>
            <a:endParaRPr lang="en-US" sz="1500" dirty="0"/>
          </a:p>
        </p:txBody>
      </p:sp>
      <p:sp>
        <p:nvSpPr>
          <p:cNvPr id="29"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Walker, L. E.(1979) The Battered Woman</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활동: 이건 폭력일까?</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5394960" cy="1554480"/>
          </a:xfrm>
          <a:prstGeom prst="roundRect">
            <a:avLst>
              <a:gd name="adj" fmla="val 11765"/>
            </a:avLst>
          </a:prstGeom>
          <a:solidFill>
            <a:schemeClr val="bg1"/>
          </a:solidFill>
          <a:ln w="19050">
            <a:solidFill>
              <a:srgbClr val="E8505B"/>
            </a:solidFill>
            <a:prstDash val="dash"/>
          </a:ln>
          <a:effectLst>
            <a:outerShdw sx="100000" sy="100000" kx="0" ky="0" algn="bl" rotWithShape="0" blurRad="101600" dist="25400" dir="5400000">
              <a:srgbClr val="4A1D3F">
                <a:alpha val="10000"/>
              </a:srgbClr>
            </a:outerShdw>
          </a:effectLst>
        </p:spPr>
      </p:sp>
      <p:sp>
        <p:nvSpPr>
          <p:cNvPr id="7" name="Scenario badge"/>
          <p:cNvSpPr/>
          <p:nvPr/>
        </p:nvSpPr>
        <p:spPr>
          <a:xfrm>
            <a:off x="822960" y="1828800"/>
            <a:ext cx="822960" cy="822960"/>
          </a:xfrm>
          <a:prstGeom prst="ellipse">
            <a:avLst/>
          </a:prstGeom>
          <a:solidFill>
            <a:schemeClr val="accent1"/>
          </a:solidFill>
          <a:ln/>
        </p:spPr>
      </p:sp>
      <p:sp>
        <p:nvSpPr>
          <p:cNvPr id="8" name="Text 4"/>
          <p:cNvSpPr txBox="1"/>
          <p:nvPr/>
        </p:nvSpPr>
        <p:spPr>
          <a:xfrm>
            <a:off x="822960" y="182880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A</a:t>
            </a:r>
            <a:endParaRPr lang="en-US" sz="2600" dirty="0"/>
          </a:p>
        </p:txBody>
      </p:sp>
      <p:sp>
        <p:nvSpPr>
          <p:cNvPr id="9" name="Text 5"/>
          <p:cNvSpPr txBox="1"/>
          <p:nvPr/>
        </p:nvSpPr>
        <p:spPr>
          <a:xfrm>
            <a:off x="1874520" y="1463040"/>
            <a:ext cx="3931920" cy="1554480"/>
          </a:xfrm>
          <a:prstGeom prst="rect">
            <a:avLst/>
          </a:prstGeom>
          <a:noFill/>
          <a:ln/>
        </p:spPr>
        <p:txBody>
          <a:bodyPr wrap="square" lIns="0" tIns="0" rIns="0" bIns="0" rtlCol="0" anchor="ctr"/>
          <a:lstStyle/>
          <a:p>
            <a:pPr indent="0" marL="0">
              <a:buNone/>
            </a:pPr>
            <a:r>
              <a:rPr lang="en-US" sz="1900" b="1" dirty="0">
                <a:solidFill>
                  <a:schemeClr val="tx1"/>
                </a:solidFill>
              </a:rPr>
              <a:t>답장 늦었다고 전화 20통</a:t>
            </a:r>
            <a:endParaRPr lang="en-US" sz="1900" dirty="0"/>
          </a:p>
        </p:txBody>
      </p:sp>
      <p:sp>
        <p:nvSpPr>
          <p:cNvPr id="10" name="Card"/>
          <p:cNvSpPr/>
          <p:nvPr/>
        </p:nvSpPr>
        <p:spPr>
          <a:xfrm>
            <a:off x="6217920" y="1463040"/>
            <a:ext cx="5394960" cy="1554480"/>
          </a:xfrm>
          <a:prstGeom prst="roundRect">
            <a:avLst>
              <a:gd name="adj" fmla="val 11765"/>
            </a:avLst>
          </a:prstGeom>
          <a:solidFill>
            <a:schemeClr val="bg1"/>
          </a:solidFill>
          <a:ln w="19050">
            <a:solidFill>
              <a:srgbClr val="E8505B"/>
            </a:solidFill>
            <a:prstDash val="dash"/>
          </a:ln>
          <a:effectLst>
            <a:outerShdw sx="100000" sy="100000" kx="0" ky="0" algn="bl" rotWithShape="0" blurRad="101600" dist="25400" dir="5400000">
              <a:srgbClr val="4A1D3F">
                <a:alpha val="10000"/>
              </a:srgbClr>
            </a:outerShdw>
          </a:effectLst>
        </p:spPr>
      </p:sp>
      <p:sp>
        <p:nvSpPr>
          <p:cNvPr id="11" name="Scenario badge"/>
          <p:cNvSpPr/>
          <p:nvPr/>
        </p:nvSpPr>
        <p:spPr>
          <a:xfrm>
            <a:off x="6492240" y="1828800"/>
            <a:ext cx="822960" cy="822960"/>
          </a:xfrm>
          <a:prstGeom prst="ellipse">
            <a:avLst/>
          </a:prstGeom>
          <a:solidFill>
            <a:schemeClr val="accent1"/>
          </a:solidFill>
          <a:ln/>
        </p:spPr>
      </p:sp>
      <p:sp>
        <p:nvSpPr>
          <p:cNvPr id="12" name="Text 8"/>
          <p:cNvSpPr txBox="1"/>
          <p:nvPr/>
        </p:nvSpPr>
        <p:spPr>
          <a:xfrm>
            <a:off x="6492240" y="182880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B</a:t>
            </a:r>
            <a:endParaRPr lang="en-US" sz="2600" dirty="0"/>
          </a:p>
        </p:txBody>
      </p:sp>
      <p:sp>
        <p:nvSpPr>
          <p:cNvPr id="13" name="Text 9"/>
          <p:cNvSpPr txBox="1"/>
          <p:nvPr/>
        </p:nvSpPr>
        <p:spPr>
          <a:xfrm>
            <a:off x="7543800" y="1463040"/>
            <a:ext cx="3931920" cy="1554480"/>
          </a:xfrm>
          <a:prstGeom prst="rect">
            <a:avLst/>
          </a:prstGeom>
          <a:noFill/>
          <a:ln/>
        </p:spPr>
        <p:txBody>
          <a:bodyPr wrap="square" lIns="0" tIns="0" rIns="0" bIns="0" rtlCol="0" anchor="ctr"/>
          <a:lstStyle/>
          <a:p>
            <a:pPr indent="0" marL="0">
              <a:buNone/>
            </a:pPr>
            <a:r>
              <a:rPr lang="en-US" sz="1900" b="1" dirty="0">
                <a:solidFill>
                  <a:schemeClr val="tx1"/>
                </a:solidFill>
              </a:rPr>
              <a:t>친구 만나면 며칠씩 연락 끊기</a:t>
            </a:r>
            <a:endParaRPr lang="en-US" sz="1900" dirty="0"/>
          </a:p>
        </p:txBody>
      </p:sp>
      <p:sp>
        <p:nvSpPr>
          <p:cNvPr id="14" name="Card"/>
          <p:cNvSpPr/>
          <p:nvPr/>
        </p:nvSpPr>
        <p:spPr>
          <a:xfrm>
            <a:off x="548640" y="3246120"/>
            <a:ext cx="5394960" cy="1554480"/>
          </a:xfrm>
          <a:prstGeom prst="roundRect">
            <a:avLst>
              <a:gd name="adj" fmla="val 11765"/>
            </a:avLst>
          </a:prstGeom>
          <a:solidFill>
            <a:schemeClr val="bg1"/>
          </a:solidFill>
          <a:ln w="19050">
            <a:solidFill>
              <a:srgbClr val="E8505B"/>
            </a:solidFill>
            <a:prstDash val="dash"/>
          </a:ln>
          <a:effectLst>
            <a:outerShdw sx="100000" sy="100000" kx="0" ky="0" algn="bl" rotWithShape="0" blurRad="101600" dist="25400" dir="5400000">
              <a:srgbClr val="4A1D3F">
                <a:alpha val="10000"/>
              </a:srgbClr>
            </a:outerShdw>
          </a:effectLst>
        </p:spPr>
      </p:sp>
      <p:sp>
        <p:nvSpPr>
          <p:cNvPr id="15" name="Scenario badge"/>
          <p:cNvSpPr/>
          <p:nvPr/>
        </p:nvSpPr>
        <p:spPr>
          <a:xfrm>
            <a:off x="822960" y="3611880"/>
            <a:ext cx="822960" cy="822960"/>
          </a:xfrm>
          <a:prstGeom prst="ellipse">
            <a:avLst/>
          </a:prstGeom>
          <a:solidFill>
            <a:schemeClr val="accent1"/>
          </a:solidFill>
          <a:ln/>
        </p:spPr>
      </p:sp>
      <p:sp>
        <p:nvSpPr>
          <p:cNvPr id="16" name="Text 12"/>
          <p:cNvSpPr txBox="1"/>
          <p:nvPr/>
        </p:nvSpPr>
        <p:spPr>
          <a:xfrm>
            <a:off x="822960" y="361188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C</a:t>
            </a:r>
            <a:endParaRPr lang="en-US" sz="2600" dirty="0"/>
          </a:p>
        </p:txBody>
      </p:sp>
      <p:sp>
        <p:nvSpPr>
          <p:cNvPr id="17" name="Text 13"/>
          <p:cNvSpPr txBox="1"/>
          <p:nvPr/>
        </p:nvSpPr>
        <p:spPr>
          <a:xfrm>
            <a:off x="1874520" y="3246120"/>
            <a:ext cx="3931920" cy="1554480"/>
          </a:xfrm>
          <a:prstGeom prst="rect">
            <a:avLst/>
          </a:prstGeom>
          <a:noFill/>
          <a:ln/>
        </p:spPr>
        <p:txBody>
          <a:bodyPr wrap="square" lIns="0" tIns="0" rIns="0" bIns="0" rtlCol="0" anchor="ctr"/>
          <a:lstStyle/>
          <a:p>
            <a:pPr indent="0" marL="0">
              <a:buNone/>
            </a:pPr>
            <a:r>
              <a:rPr lang="en-US" sz="1900" b="1" dirty="0">
                <a:solidFill>
                  <a:schemeClr val="tx1"/>
                </a:solidFill>
              </a:rPr>
              <a:t>‘싫어’ 했는데 “우리 사귀잖아”</a:t>
            </a:r>
            <a:endParaRPr lang="en-US" sz="1900" dirty="0"/>
          </a:p>
        </p:txBody>
      </p:sp>
      <p:sp>
        <p:nvSpPr>
          <p:cNvPr id="18" name="Card"/>
          <p:cNvSpPr/>
          <p:nvPr/>
        </p:nvSpPr>
        <p:spPr>
          <a:xfrm>
            <a:off x="6217920" y="3246120"/>
            <a:ext cx="5394960" cy="1554480"/>
          </a:xfrm>
          <a:prstGeom prst="roundRect">
            <a:avLst>
              <a:gd name="adj" fmla="val 11765"/>
            </a:avLst>
          </a:prstGeom>
          <a:solidFill>
            <a:schemeClr val="bg1"/>
          </a:solidFill>
          <a:ln w="19050">
            <a:solidFill>
              <a:srgbClr val="E8505B"/>
            </a:solidFill>
            <a:prstDash val="dash"/>
          </a:ln>
          <a:effectLst>
            <a:outerShdw sx="100000" sy="100000" kx="0" ky="0" algn="bl" rotWithShape="0" blurRad="101600" dist="25400" dir="5400000">
              <a:srgbClr val="4A1D3F">
                <a:alpha val="10000"/>
              </a:srgbClr>
            </a:outerShdw>
          </a:effectLst>
        </p:spPr>
      </p:sp>
      <p:sp>
        <p:nvSpPr>
          <p:cNvPr id="19" name="Scenario badge"/>
          <p:cNvSpPr/>
          <p:nvPr/>
        </p:nvSpPr>
        <p:spPr>
          <a:xfrm>
            <a:off x="6492240" y="3611880"/>
            <a:ext cx="822960" cy="822960"/>
          </a:xfrm>
          <a:prstGeom prst="ellipse">
            <a:avLst/>
          </a:prstGeom>
          <a:solidFill>
            <a:schemeClr val="accent1"/>
          </a:solidFill>
          <a:ln/>
        </p:spPr>
      </p:sp>
      <p:sp>
        <p:nvSpPr>
          <p:cNvPr id="20" name="Text 16"/>
          <p:cNvSpPr txBox="1"/>
          <p:nvPr/>
        </p:nvSpPr>
        <p:spPr>
          <a:xfrm>
            <a:off x="6492240" y="361188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D</a:t>
            </a:r>
            <a:endParaRPr lang="en-US" sz="2600" dirty="0"/>
          </a:p>
        </p:txBody>
      </p:sp>
      <p:sp>
        <p:nvSpPr>
          <p:cNvPr id="21" name="Text 17"/>
          <p:cNvSpPr txBox="1"/>
          <p:nvPr/>
        </p:nvSpPr>
        <p:spPr>
          <a:xfrm>
            <a:off x="7543800" y="3246120"/>
            <a:ext cx="3931920" cy="1554480"/>
          </a:xfrm>
          <a:prstGeom prst="rect">
            <a:avLst/>
          </a:prstGeom>
          <a:noFill/>
          <a:ln/>
        </p:spPr>
        <p:txBody>
          <a:bodyPr wrap="square" lIns="0" tIns="0" rIns="0" bIns="0" rtlCol="0" anchor="ctr"/>
          <a:lstStyle/>
          <a:p>
            <a:pPr indent="0" marL="0">
              <a:buNone/>
            </a:pPr>
            <a:r>
              <a:rPr lang="en-US" sz="1900" b="1" dirty="0">
                <a:solidFill>
                  <a:schemeClr val="tx1"/>
                </a:solidFill>
              </a:rPr>
              <a:t>“예전 사진 단톡방에 올린다?”</a:t>
            </a:r>
            <a:endParaRPr lang="en-US" sz="1900" dirty="0"/>
          </a:p>
        </p:txBody>
      </p:sp>
      <p:sp>
        <p:nvSpPr>
          <p:cNvPr id="22" name="Card"/>
          <p:cNvSpPr/>
          <p:nvPr/>
        </p:nvSpPr>
        <p:spPr>
          <a:xfrm>
            <a:off x="548640" y="5074920"/>
            <a:ext cx="11064240" cy="822960"/>
          </a:xfrm>
          <a:prstGeom prst="roundRect">
            <a:avLst>
              <a:gd name="adj" fmla="val 22222"/>
            </a:avLst>
          </a:prstGeom>
          <a:solidFill>
            <a:schemeClr val="tx2"/>
          </a:solidFill>
          <a:ln/>
          <a:effectLst>
            <a:outerShdw sx="100000" sy="100000" kx="0" ky="0" algn="bl" rotWithShape="0" blurRad="101600" dist="25400" dir="5400000">
              <a:srgbClr val="4A1D3F">
                <a:alpha val="28000"/>
              </a:srgbClr>
            </a:outerShdw>
          </a:effectLst>
        </p:spPr>
      </p:sp>
      <p:sp>
        <p:nvSpPr>
          <p:cNvPr id="23" name="Text 19"/>
          <p:cNvSpPr txBox="1"/>
          <p:nvPr/>
        </p:nvSpPr>
        <p:spPr>
          <a:xfrm>
            <a:off x="822960" y="5074920"/>
            <a:ext cx="10515600" cy="822960"/>
          </a:xfrm>
          <a:prstGeom prst="rect">
            <a:avLst/>
          </a:prstGeom>
          <a:noFill/>
          <a:ln/>
        </p:spPr>
        <p:txBody>
          <a:bodyPr wrap="square" lIns="0" tIns="0" rIns="0" bIns="0" rtlCol="0" anchor="ctr"/>
          <a:lstStyle/>
          <a:p>
            <a:pPr algn="ctr" indent="0" marL="0">
              <a:buNone/>
            </a:pPr>
            <a:r>
              <a:rPr lang="en-US" sz="1800" b="1" dirty="0">
                <a:solidFill>
                  <a:schemeClr val="bg1"/>
                </a:solidFill>
              </a:rPr>
              <a:t>판단 기준   ① 두려운가   ② 자유를 빼앗는가   ③ 반복되는가</a:t>
            </a:r>
            <a:endParaRPr lang="en-US" sz="1800" dirty="0"/>
          </a:p>
        </p:txBody>
      </p:sp>
      <p:sp>
        <p:nvSpPr>
          <p:cNvPr id="24" name="Text 20"/>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 교육용으로 재구성한 가상 사례입니다</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실제 사례 ① 이별을 받아들이지 못했다</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4937760" cy="4434840"/>
          </a:xfrm>
          <a:prstGeom prst="roundRect">
            <a:avLst>
              <a:gd name="adj" fmla="val 4124"/>
            </a:avLst>
          </a:prstGeom>
          <a:solidFill>
            <a:schemeClr val="tx2"/>
          </a:solidFill>
          <a:ln/>
          <a:effectLst>
            <a:outerShdw sx="100000" sy="100000" kx="0" ky="0" algn="bl" rotWithShape="0" blurRad="101600" dist="25400" dir="5400000">
              <a:srgbClr val="4A1D3F">
                <a:alpha val="28000"/>
              </a:srgbClr>
            </a:outerShdw>
          </a:effectLst>
        </p:spPr>
      </p:sp>
      <p:sp>
        <p:nvSpPr>
          <p:cNvPr id="7" name="Case tag"/>
          <p:cNvSpPr/>
          <p:nvPr/>
        </p:nvSpPr>
        <p:spPr>
          <a:xfrm>
            <a:off x="868680" y="1737360"/>
            <a:ext cx="1005840" cy="384048"/>
          </a:xfrm>
          <a:prstGeom prst="roundRect">
            <a:avLst>
              <a:gd name="adj" fmla="val 35714"/>
            </a:avLst>
          </a:prstGeom>
          <a:solidFill>
            <a:schemeClr val="accent1"/>
          </a:solidFill>
          <a:ln/>
        </p:spPr>
      </p:sp>
      <p:sp>
        <p:nvSpPr>
          <p:cNvPr id="8" name="Text 4"/>
          <p:cNvSpPr txBox="1"/>
          <p:nvPr/>
        </p:nvSpPr>
        <p:spPr>
          <a:xfrm>
            <a:off x="868680" y="1737360"/>
            <a:ext cx="1005840" cy="384048"/>
          </a:xfrm>
          <a:prstGeom prst="rect">
            <a:avLst/>
          </a:prstGeom>
          <a:noFill/>
          <a:ln/>
        </p:spPr>
        <p:txBody>
          <a:bodyPr wrap="square" lIns="0" tIns="0" rIns="0" bIns="0" rtlCol="0" anchor="ctr"/>
          <a:lstStyle/>
          <a:p>
            <a:pPr algn="ctr" indent="0" marL="0">
              <a:buNone/>
            </a:pPr>
            <a:r>
              <a:rPr lang="en-US" sz="1300" b="1" dirty="0">
                <a:solidFill>
                  <a:schemeClr val="bg1"/>
                </a:solidFill>
              </a:rPr>
              <a:t>사례 1</a:t>
            </a:r>
            <a:endParaRPr lang="en-US" sz="1300" dirty="0"/>
          </a:p>
        </p:txBody>
      </p:sp>
      <p:sp>
        <p:nvSpPr>
          <p:cNvPr id="9" name="Text 5"/>
          <p:cNvSpPr txBox="1"/>
          <p:nvPr/>
        </p:nvSpPr>
        <p:spPr>
          <a:xfrm>
            <a:off x="868680" y="2286000"/>
            <a:ext cx="4389120" cy="1005840"/>
          </a:xfrm>
          <a:prstGeom prst="rect">
            <a:avLst/>
          </a:prstGeom>
          <a:noFill/>
          <a:ln/>
        </p:spPr>
        <p:txBody>
          <a:bodyPr wrap="square" lIns="0" tIns="0" rIns="0" bIns="0" rtlCol="0" anchor="t"/>
          <a:lstStyle/>
          <a:p>
            <a:pPr indent="0" marL="0">
              <a:buNone/>
            </a:pPr>
            <a:r>
              <a:rPr lang="en-US" sz="2600" b="1" dirty="0">
                <a:solidFill>
                  <a:schemeClr val="bg1"/>
                </a:solidFill>
              </a:rPr>
              <a:t>강남역 교제살인</a:t>
            </a:r>
            <a:endParaRPr lang="en-US" sz="2600" dirty="0"/>
          </a:p>
        </p:txBody>
      </p:sp>
      <p:sp>
        <p:nvSpPr>
          <p:cNvPr id="10" name="Text 6"/>
          <p:cNvSpPr txBox="1"/>
          <p:nvPr/>
        </p:nvSpPr>
        <p:spPr>
          <a:xfrm>
            <a:off x="868680" y="3337560"/>
            <a:ext cx="4389120" cy="365760"/>
          </a:xfrm>
          <a:prstGeom prst="rect">
            <a:avLst/>
          </a:prstGeom>
          <a:noFill/>
          <a:ln/>
        </p:spPr>
        <p:txBody>
          <a:bodyPr wrap="square" lIns="0" tIns="0" rIns="0" bIns="0" rtlCol="0" anchor="ctr"/>
          <a:lstStyle/>
          <a:p>
            <a:pPr indent="0" marL="0">
              <a:buNone/>
            </a:pPr>
            <a:r>
              <a:rPr lang="en-US" sz="1400" dirty="0">
                <a:solidFill>
                  <a:schemeClr val="accent3"/>
                </a:solidFill>
              </a:rPr>
              <a:t>2024년 5월 · 피해자 20대</a:t>
            </a:r>
            <a:endParaRPr lang="en-US" sz="1400" dirty="0"/>
          </a:p>
        </p:txBody>
      </p:sp>
      <p:sp>
        <p:nvSpPr>
          <p:cNvPr id="11" name="Text 7"/>
          <p:cNvSpPr txBox="1"/>
          <p:nvPr/>
        </p:nvSpPr>
        <p:spPr>
          <a:xfrm>
            <a:off x="868680" y="3840480"/>
            <a:ext cx="4389120" cy="1828800"/>
          </a:xfrm>
          <a:prstGeom prst="rect">
            <a:avLst/>
          </a:prstGeom>
          <a:noFill/>
          <a:ln/>
        </p:spPr>
        <p:txBody>
          <a:bodyPr wrap="square" lIns="0" tIns="0" rIns="0" bIns="0" rtlCol="0" anchor="t"/>
          <a:lstStyle/>
          <a:p>
            <a:pPr indent="0" marL="0">
              <a:buNone/>
            </a:pPr>
            <a:r>
              <a:rPr lang="en-US" sz="1700" dirty="0">
                <a:solidFill>
                  <a:schemeClr val="bg1"/>
                </a:solidFill>
              </a:rPr>
              <a:t>헤어지자는 문제로 다투던</a:t>
            </a:r>
            <a:endParaRPr lang="en-US" sz="1700" dirty="0"/>
          </a:p>
          <a:p>
            <a:pPr indent="0" marL="0">
              <a:buNone/>
            </a:pPr>
            <a:r>
              <a:rPr lang="en-US" sz="1700" dirty="0">
                <a:solidFill>
                  <a:schemeClr val="bg1"/>
                </a:solidFill>
              </a:rPr>
              <a:t>연인을 계획적으로 살해</a:t>
            </a:r>
            <a:endParaRPr lang="en-US" sz="1700" dirty="0"/>
          </a:p>
        </p:txBody>
      </p:sp>
      <p:sp>
        <p:nvSpPr>
          <p:cNvPr id="12" name="Card"/>
          <p:cNvSpPr/>
          <p:nvPr/>
        </p:nvSpPr>
        <p:spPr>
          <a:xfrm>
            <a:off x="5760720" y="1463040"/>
            <a:ext cx="585216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13" name="Text 9"/>
          <p:cNvSpPr txBox="1"/>
          <p:nvPr/>
        </p:nvSpPr>
        <p:spPr>
          <a:xfrm>
            <a:off x="6035040" y="1872996"/>
            <a:ext cx="5303520" cy="762000"/>
          </a:xfrm>
          <a:prstGeom prst="rect">
            <a:avLst/>
          </a:prstGeom>
          <a:noFill/>
          <a:ln/>
        </p:spPr>
        <p:txBody>
          <a:bodyPr wrap="square" lIns="0" tIns="0" rIns="0" bIns="0" rtlCol="0" anchor="ctr"/>
          <a:lstStyle/>
          <a:p>
            <a:pPr indent="0" marL="0">
              <a:buNone/>
            </a:pPr>
            <a:r>
              <a:rPr lang="en-US" sz="4000" b="1" dirty="0">
                <a:solidFill>
                  <a:schemeClr val="accent1"/>
                </a:solidFill>
              </a:rPr>
              <a:t>징역 30년</a:t>
            </a:r>
            <a:endParaRPr lang="en-US" sz="4000" dirty="0"/>
          </a:p>
        </p:txBody>
      </p:sp>
      <p:sp>
        <p:nvSpPr>
          <p:cNvPr id="14" name="Text 10"/>
          <p:cNvSpPr txBox="1"/>
          <p:nvPr/>
        </p:nvSpPr>
        <p:spPr>
          <a:xfrm>
            <a:off x="6035040" y="2772156"/>
            <a:ext cx="5303520" cy="384048"/>
          </a:xfrm>
          <a:prstGeom prst="rect">
            <a:avLst/>
          </a:prstGeom>
          <a:noFill/>
          <a:ln/>
        </p:spPr>
        <p:txBody>
          <a:bodyPr wrap="square" lIns="0" tIns="0" rIns="0" bIns="0" rtlCol="0" anchor="t"/>
          <a:lstStyle/>
          <a:p>
            <a:pPr indent="0" marL="0">
              <a:buNone/>
            </a:pPr>
            <a:r>
              <a:rPr lang="en-US" sz="1600" dirty="0">
                <a:solidFill>
                  <a:schemeClr val="tx1"/>
                </a:solidFill>
              </a:rPr>
              <a:t>2025년 9월 대법원 확정 (1심 26년 → 2심 30년)</a:t>
            </a:r>
            <a:endParaRPr lang="en-US" sz="1600" dirty="0"/>
          </a:p>
        </p:txBody>
      </p:sp>
      <p:sp>
        <p:nvSpPr>
          <p:cNvPr id="15" name="Card"/>
          <p:cNvSpPr/>
          <p:nvPr/>
        </p:nvSpPr>
        <p:spPr>
          <a:xfrm>
            <a:off x="5760720" y="3703320"/>
            <a:ext cx="5852160" cy="2194560"/>
          </a:xfrm>
          <a:prstGeom prst="roundRect">
            <a:avLst>
              <a:gd name="adj" fmla="val 8333"/>
            </a:avLst>
          </a:prstGeom>
          <a:solidFill>
            <a:schemeClr val="bg1"/>
          </a:solidFill>
          <a:ln w="19050">
            <a:solidFill>
              <a:srgbClr val="E8505B"/>
            </a:solidFill>
            <a:prstDash val="dash"/>
          </a:ln>
          <a:effectLst>
            <a:outerShdw sx="100000" sy="100000" kx="0" ky="0" algn="bl" rotWithShape="0" blurRad="101600" dist="25400" dir="5400000">
              <a:srgbClr val="4A1D3F">
                <a:alpha val="10000"/>
              </a:srgbClr>
            </a:outerShdw>
          </a:effectLst>
        </p:spPr>
      </p:sp>
      <p:pic>
        <p:nvPicPr>
          <p:cNvPr id="16" name="Illustration" descr="preencoded.png">    </p:cNvPr>
          <p:cNvPicPr>
            <a:picLocks noChangeAspect="1"/>
          </p:cNvPicPr>
          <p:nvPr/>
        </p:nvPicPr>
        <p:blipFill>
          <a:blip r:embed="rId2"/>
          <a:stretch>
            <a:fillRect/>
          </a:stretch>
        </p:blipFill>
        <p:spPr>
          <a:xfrm>
            <a:off x="6035040" y="3977640"/>
            <a:ext cx="731520" cy="731520"/>
          </a:xfrm>
          <a:prstGeom prst="rect">
            <a:avLst/>
          </a:prstGeom>
        </p:spPr>
      </p:pic>
      <p:sp>
        <p:nvSpPr>
          <p:cNvPr id="17" name="Text 12"/>
          <p:cNvSpPr txBox="1"/>
          <p:nvPr/>
        </p:nvSpPr>
        <p:spPr>
          <a:xfrm>
            <a:off x="6949440" y="3794760"/>
            <a:ext cx="4480560" cy="2011680"/>
          </a:xfrm>
          <a:prstGeom prst="rect">
            <a:avLst/>
          </a:prstGeom>
          <a:noFill/>
          <a:ln/>
        </p:spPr>
        <p:txBody>
          <a:bodyPr wrap="square" lIns="0" tIns="0" rIns="0" bIns="0" rtlCol="0" anchor="ctr"/>
          <a:lstStyle/>
          <a:p>
            <a:pPr indent="0" marL="0">
              <a:buNone/>
            </a:pPr>
            <a:r>
              <a:rPr lang="en-US" sz="1800" b="1" dirty="0">
                <a:solidFill>
                  <a:schemeClr val="tx2"/>
                </a:solidFill>
              </a:rPr>
              <a:t>이별을 말할 때가 가장 위험해요.</a:t>
            </a:r>
            <a:endParaRPr lang="en-US" sz="1800" dirty="0"/>
          </a:p>
          <a:p>
            <a:pPr indent="0" marL="0">
              <a:buNone/>
            </a:pPr>
            <a:r>
              <a:rPr lang="en-US" sz="1800" b="1" dirty="0">
                <a:solidFill>
                  <a:schemeClr val="tx2"/>
                </a:solidFill>
              </a:rPr>
              <a:t>단둘이 만나지 말고 주변에 먼저 알리기</a:t>
            </a:r>
            <a:endParaRPr lang="en-US" sz="1800" dirty="0"/>
          </a:p>
        </p:txBody>
      </p:sp>
      <p:sp>
        <p:nvSpPr>
          <p:cNvPr id="18"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노컷뉴스·경향신문 2025.9.11 · 법률신문(대법원 2025도10098)</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실제 사례 ② 반복된 폭력, 가벼운 처벌</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3. 폭력 유형</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4937760" cy="4434840"/>
          </a:xfrm>
          <a:prstGeom prst="roundRect">
            <a:avLst>
              <a:gd name="adj" fmla="val 4124"/>
            </a:avLst>
          </a:prstGeom>
          <a:solidFill>
            <a:schemeClr val="tx2"/>
          </a:solidFill>
          <a:ln/>
          <a:effectLst>
            <a:outerShdw sx="100000" sy="100000" kx="0" ky="0" algn="bl" rotWithShape="0" blurRad="101600" dist="25400" dir="5400000">
              <a:srgbClr val="4A1D3F">
                <a:alpha val="28000"/>
              </a:srgbClr>
            </a:outerShdw>
          </a:effectLst>
        </p:spPr>
      </p:sp>
      <p:sp>
        <p:nvSpPr>
          <p:cNvPr id="7" name="Case tag"/>
          <p:cNvSpPr/>
          <p:nvPr/>
        </p:nvSpPr>
        <p:spPr>
          <a:xfrm>
            <a:off x="868680" y="1737360"/>
            <a:ext cx="1005840" cy="384048"/>
          </a:xfrm>
          <a:prstGeom prst="roundRect">
            <a:avLst>
              <a:gd name="adj" fmla="val 35714"/>
            </a:avLst>
          </a:prstGeom>
          <a:solidFill>
            <a:schemeClr val="accent1"/>
          </a:solidFill>
          <a:ln/>
        </p:spPr>
      </p:sp>
      <p:sp>
        <p:nvSpPr>
          <p:cNvPr id="8" name="Text 4"/>
          <p:cNvSpPr txBox="1"/>
          <p:nvPr/>
        </p:nvSpPr>
        <p:spPr>
          <a:xfrm>
            <a:off x="868680" y="1737360"/>
            <a:ext cx="1005840" cy="384048"/>
          </a:xfrm>
          <a:prstGeom prst="rect">
            <a:avLst/>
          </a:prstGeom>
          <a:noFill/>
          <a:ln/>
        </p:spPr>
        <p:txBody>
          <a:bodyPr wrap="square" lIns="0" tIns="0" rIns="0" bIns="0" rtlCol="0" anchor="ctr"/>
          <a:lstStyle/>
          <a:p>
            <a:pPr algn="ctr" indent="0" marL="0">
              <a:buNone/>
            </a:pPr>
            <a:r>
              <a:rPr lang="en-US" sz="1300" b="1" dirty="0">
                <a:solidFill>
                  <a:schemeClr val="bg1"/>
                </a:solidFill>
              </a:rPr>
              <a:t>사례 2</a:t>
            </a:r>
            <a:endParaRPr lang="en-US" sz="1300" dirty="0"/>
          </a:p>
        </p:txBody>
      </p:sp>
      <p:sp>
        <p:nvSpPr>
          <p:cNvPr id="9" name="Text 5"/>
          <p:cNvSpPr txBox="1"/>
          <p:nvPr/>
        </p:nvSpPr>
        <p:spPr>
          <a:xfrm>
            <a:off x="868680" y="2286000"/>
            <a:ext cx="4389120" cy="1005840"/>
          </a:xfrm>
          <a:prstGeom prst="rect">
            <a:avLst/>
          </a:prstGeom>
          <a:noFill/>
          <a:ln/>
        </p:spPr>
        <p:txBody>
          <a:bodyPr wrap="square" lIns="0" tIns="0" rIns="0" bIns="0" rtlCol="0" anchor="t"/>
          <a:lstStyle/>
          <a:p>
            <a:pPr indent="0" marL="0">
              <a:buNone/>
            </a:pPr>
            <a:r>
              <a:rPr lang="en-US" sz="2600" b="1" dirty="0">
                <a:solidFill>
                  <a:schemeClr val="bg1"/>
                </a:solidFill>
              </a:rPr>
              <a:t>거제 교제폭력 사망</a:t>
            </a:r>
            <a:endParaRPr lang="en-US" sz="2600" dirty="0"/>
          </a:p>
        </p:txBody>
      </p:sp>
      <p:sp>
        <p:nvSpPr>
          <p:cNvPr id="10" name="Text 6"/>
          <p:cNvSpPr txBox="1"/>
          <p:nvPr/>
        </p:nvSpPr>
        <p:spPr>
          <a:xfrm>
            <a:off x="868680" y="3337560"/>
            <a:ext cx="4389120" cy="365760"/>
          </a:xfrm>
          <a:prstGeom prst="rect">
            <a:avLst/>
          </a:prstGeom>
          <a:noFill/>
          <a:ln/>
        </p:spPr>
        <p:txBody>
          <a:bodyPr wrap="square" lIns="0" tIns="0" rIns="0" bIns="0" rtlCol="0" anchor="ctr"/>
          <a:lstStyle/>
          <a:p>
            <a:pPr indent="0" marL="0">
              <a:buNone/>
            </a:pPr>
            <a:r>
              <a:rPr lang="en-US" sz="1400" dirty="0">
                <a:solidFill>
                  <a:schemeClr val="accent3"/>
                </a:solidFill>
              </a:rPr>
              <a:t>2024년 4월 · 피해자 19세</a:t>
            </a:r>
            <a:endParaRPr lang="en-US" sz="1400" dirty="0"/>
          </a:p>
        </p:txBody>
      </p:sp>
      <p:sp>
        <p:nvSpPr>
          <p:cNvPr id="11" name="Text 7"/>
          <p:cNvSpPr txBox="1"/>
          <p:nvPr/>
        </p:nvSpPr>
        <p:spPr>
          <a:xfrm>
            <a:off x="868680" y="3840480"/>
            <a:ext cx="4389120" cy="1828800"/>
          </a:xfrm>
          <a:prstGeom prst="rect">
            <a:avLst/>
          </a:prstGeom>
          <a:noFill/>
          <a:ln/>
        </p:spPr>
        <p:txBody>
          <a:bodyPr wrap="square" lIns="0" tIns="0" rIns="0" bIns="0" rtlCol="0" anchor="t"/>
          <a:lstStyle/>
          <a:p>
            <a:pPr indent="0" marL="0">
              <a:buNone/>
            </a:pPr>
            <a:r>
              <a:rPr lang="en-US" sz="1700" dirty="0">
                <a:solidFill>
                  <a:schemeClr val="bg1"/>
                </a:solidFill>
              </a:rPr>
              <a:t>헤어진 전 연인에게</a:t>
            </a:r>
            <a:endParaRPr lang="en-US" sz="1700" dirty="0"/>
          </a:p>
          <a:p>
            <a:pPr indent="0" marL="0">
              <a:buNone/>
            </a:pPr>
            <a:r>
              <a:rPr lang="en-US" sz="1700" dirty="0">
                <a:solidFill>
                  <a:schemeClr val="bg1"/>
                </a:solidFill>
              </a:rPr>
              <a:t>폭행당한 뒤 열흘 만에 사망</a:t>
            </a:r>
            <a:endParaRPr lang="en-US" sz="1700" dirty="0"/>
          </a:p>
        </p:txBody>
      </p:sp>
      <p:sp>
        <p:nvSpPr>
          <p:cNvPr id="12" name="Card"/>
          <p:cNvSpPr/>
          <p:nvPr/>
        </p:nvSpPr>
        <p:spPr>
          <a:xfrm>
            <a:off x="5760720" y="1463040"/>
            <a:ext cx="585216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13" name="Text 9"/>
          <p:cNvSpPr txBox="1"/>
          <p:nvPr/>
        </p:nvSpPr>
        <p:spPr>
          <a:xfrm>
            <a:off x="6035040" y="1872996"/>
            <a:ext cx="5303520" cy="762000"/>
          </a:xfrm>
          <a:prstGeom prst="rect">
            <a:avLst/>
          </a:prstGeom>
          <a:noFill/>
          <a:ln/>
        </p:spPr>
        <p:txBody>
          <a:bodyPr wrap="square" lIns="0" tIns="0" rIns="0" bIns="0" rtlCol="0" anchor="ctr"/>
          <a:lstStyle/>
          <a:p>
            <a:pPr indent="0" marL="0">
              <a:buNone/>
            </a:pPr>
            <a:r>
              <a:rPr lang="en-US" sz="4000" b="1" dirty="0">
                <a:solidFill>
                  <a:schemeClr val="accent1"/>
                </a:solidFill>
              </a:rPr>
              <a:t>징역 12년</a:t>
            </a:r>
            <a:endParaRPr lang="en-US" sz="4000" dirty="0"/>
          </a:p>
        </p:txBody>
      </p:sp>
      <p:sp>
        <p:nvSpPr>
          <p:cNvPr id="14" name="Text 10"/>
          <p:cNvSpPr txBox="1"/>
          <p:nvPr/>
        </p:nvSpPr>
        <p:spPr>
          <a:xfrm>
            <a:off x="6035040" y="2772156"/>
            <a:ext cx="5303520" cy="384048"/>
          </a:xfrm>
          <a:prstGeom prst="rect">
            <a:avLst/>
          </a:prstGeom>
          <a:noFill/>
          <a:ln/>
        </p:spPr>
        <p:txBody>
          <a:bodyPr wrap="square" lIns="0" tIns="0" rIns="0" bIns="0" rtlCol="0" anchor="t"/>
          <a:lstStyle/>
          <a:p>
            <a:pPr indent="0" marL="0">
              <a:buNone/>
            </a:pPr>
            <a:r>
              <a:rPr lang="en-US" sz="1600" dirty="0">
                <a:solidFill>
                  <a:schemeClr val="tx1"/>
                </a:solidFill>
              </a:rPr>
              <a:t>2025년 9월 대법원 확정 (검찰 구형 20년, 상해치사)</a:t>
            </a:r>
            <a:endParaRPr lang="en-US" sz="1600" dirty="0"/>
          </a:p>
        </p:txBody>
      </p:sp>
      <p:sp>
        <p:nvSpPr>
          <p:cNvPr id="15" name="Card"/>
          <p:cNvSpPr/>
          <p:nvPr/>
        </p:nvSpPr>
        <p:spPr>
          <a:xfrm>
            <a:off x="5760720" y="3703320"/>
            <a:ext cx="5852160" cy="2194560"/>
          </a:xfrm>
          <a:prstGeom prst="roundRect">
            <a:avLst>
              <a:gd name="adj" fmla="val 8333"/>
            </a:avLst>
          </a:prstGeom>
          <a:solidFill>
            <a:schemeClr val="bg1"/>
          </a:solidFill>
          <a:ln w="19050">
            <a:solidFill>
              <a:srgbClr val="E8505B"/>
            </a:solidFill>
            <a:prstDash val="dash"/>
          </a:ln>
          <a:effectLst>
            <a:outerShdw sx="100000" sy="100000" kx="0" ky="0" algn="bl" rotWithShape="0" blurRad="101600" dist="25400" dir="5400000">
              <a:srgbClr val="4A1D3F">
                <a:alpha val="10000"/>
              </a:srgbClr>
            </a:outerShdw>
          </a:effectLst>
        </p:spPr>
      </p:sp>
      <p:pic>
        <p:nvPicPr>
          <p:cNvPr id="16" name="Illustration" descr="preencoded.png">    </p:cNvPr>
          <p:cNvPicPr>
            <a:picLocks noChangeAspect="1"/>
          </p:cNvPicPr>
          <p:nvPr/>
        </p:nvPicPr>
        <p:blipFill>
          <a:blip r:embed="rId2"/>
          <a:stretch>
            <a:fillRect/>
          </a:stretch>
        </p:blipFill>
        <p:spPr>
          <a:xfrm>
            <a:off x="6035040" y="3977640"/>
            <a:ext cx="731520" cy="731520"/>
          </a:xfrm>
          <a:prstGeom prst="rect">
            <a:avLst/>
          </a:prstGeom>
        </p:spPr>
      </p:pic>
      <p:sp>
        <p:nvSpPr>
          <p:cNvPr id="17" name="Text 12"/>
          <p:cNvSpPr txBox="1"/>
          <p:nvPr/>
        </p:nvSpPr>
        <p:spPr>
          <a:xfrm>
            <a:off x="6949440" y="3794760"/>
            <a:ext cx="4480560" cy="2011680"/>
          </a:xfrm>
          <a:prstGeom prst="rect">
            <a:avLst/>
          </a:prstGeom>
          <a:noFill/>
          <a:ln/>
        </p:spPr>
        <p:txBody>
          <a:bodyPr wrap="square" lIns="0" tIns="0" rIns="0" bIns="0" rtlCol="0" anchor="ctr"/>
          <a:lstStyle/>
          <a:p>
            <a:pPr indent="0" marL="0">
              <a:buNone/>
            </a:pPr>
            <a:r>
              <a:rPr lang="en-US" sz="1800" b="1" dirty="0">
                <a:solidFill>
                  <a:schemeClr val="tx2"/>
                </a:solidFill>
              </a:rPr>
              <a:t>‘사랑싸움’은 없어요.</a:t>
            </a:r>
            <a:endParaRPr lang="en-US" sz="1800" dirty="0"/>
          </a:p>
          <a:p>
            <a:pPr indent="0" marL="0">
              <a:buNone/>
            </a:pPr>
            <a:r>
              <a:rPr lang="en-US" sz="1800" b="1" dirty="0">
                <a:solidFill>
                  <a:schemeClr val="tx2"/>
                </a:solidFill>
              </a:rPr>
              <a:t>반복되는 폭력은 더 심해집니다</a:t>
            </a:r>
            <a:endParaRPr lang="en-US" sz="1800" dirty="0"/>
          </a:p>
        </p:txBody>
      </p:sp>
      <p:sp>
        <p:nvSpPr>
          <p:cNvPr id="18"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경향신문 2024.11.14 · 경남도민일보(대법원 확정)</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내가 피해를 겪는다면</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4. 대처·예방·신고</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2606040" cy="3566160"/>
          </a:xfrm>
          <a:prstGeom prst="roundRect">
            <a:avLst>
              <a:gd name="adj" fmla="val 7018"/>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7" name="Illustration" descr="preencoded.png">    </p:cNvPr>
          <p:cNvPicPr>
            <a:picLocks noChangeAspect="1"/>
          </p:cNvPicPr>
          <p:nvPr/>
        </p:nvPicPr>
        <p:blipFill>
          <a:blip r:embed="rId2"/>
          <a:stretch>
            <a:fillRect/>
          </a:stretch>
        </p:blipFill>
        <p:spPr>
          <a:xfrm>
            <a:off x="1120140" y="1980248"/>
            <a:ext cx="1463040" cy="1463040"/>
          </a:xfrm>
          <a:prstGeom prst="rect">
            <a:avLst/>
          </a:prstGeom>
        </p:spPr>
      </p:pic>
      <p:sp>
        <p:nvSpPr>
          <p:cNvPr id="8" name="Text 3"/>
          <p:cNvSpPr txBox="1"/>
          <p:nvPr/>
        </p:nvSpPr>
        <p:spPr>
          <a:xfrm>
            <a:off x="731520" y="3626168"/>
            <a:ext cx="2240280" cy="502920"/>
          </a:xfrm>
          <a:prstGeom prst="rect">
            <a:avLst/>
          </a:prstGeom>
          <a:noFill/>
          <a:ln/>
        </p:spPr>
        <p:txBody>
          <a:bodyPr wrap="square" lIns="0" tIns="0" rIns="0" bIns="0" rtlCol="0" anchor="ctr"/>
          <a:lstStyle/>
          <a:p>
            <a:pPr algn="ctr" indent="0" marL="0">
              <a:buNone/>
            </a:pPr>
            <a:r>
              <a:rPr lang="en-US" sz="2300" b="1" dirty="0">
                <a:solidFill>
                  <a:schemeClr val="tx2"/>
                </a:solidFill>
              </a:rPr>
              <a:t>피하기</a:t>
            </a:r>
            <a:endParaRPr lang="en-US" sz="2300" dirty="0"/>
          </a:p>
        </p:txBody>
      </p:sp>
      <p:sp>
        <p:nvSpPr>
          <p:cNvPr id="9" name="Text 4"/>
          <p:cNvSpPr txBox="1"/>
          <p:nvPr/>
        </p:nvSpPr>
        <p:spPr>
          <a:xfrm>
            <a:off x="777240" y="4220528"/>
            <a:ext cx="2148840" cy="428625"/>
          </a:xfrm>
          <a:prstGeom prst="rect">
            <a:avLst/>
          </a:prstGeom>
          <a:noFill/>
          <a:ln/>
        </p:spPr>
        <p:txBody>
          <a:bodyPr wrap="square" lIns="0" tIns="0" rIns="0" bIns="0" rtlCol="0" anchor="t"/>
          <a:lstStyle/>
          <a:p>
            <a:pPr algn="ctr" indent="0" marL="0">
              <a:buNone/>
            </a:pPr>
            <a:r>
              <a:rPr lang="en-US" sz="1700" dirty="0">
                <a:solidFill>
                  <a:schemeClr val="tx1"/>
                </a:solidFill>
              </a:rPr>
              <a:t>안전한 곳으로</a:t>
            </a:r>
            <a:endParaRPr lang="en-US" sz="1700" dirty="0"/>
          </a:p>
        </p:txBody>
      </p:sp>
      <p:sp>
        <p:nvSpPr>
          <p:cNvPr id="10" name="Step badge"/>
          <p:cNvSpPr/>
          <p:nvPr/>
        </p:nvSpPr>
        <p:spPr>
          <a:xfrm>
            <a:off x="685800" y="1325880"/>
            <a:ext cx="548640" cy="548640"/>
          </a:xfrm>
          <a:prstGeom prst="ellipse">
            <a:avLst/>
          </a:prstGeom>
          <a:solidFill>
            <a:schemeClr val="accent1"/>
          </a:solidFill>
          <a:ln/>
        </p:spPr>
      </p:sp>
      <p:sp>
        <p:nvSpPr>
          <p:cNvPr id="11" name="Text 6"/>
          <p:cNvSpPr txBox="1"/>
          <p:nvPr/>
        </p:nvSpPr>
        <p:spPr>
          <a:xfrm>
            <a:off x="685800" y="13258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2" name="Card"/>
          <p:cNvSpPr/>
          <p:nvPr/>
        </p:nvSpPr>
        <p:spPr>
          <a:xfrm>
            <a:off x="3383280" y="1463040"/>
            <a:ext cx="2606040" cy="3566160"/>
          </a:xfrm>
          <a:prstGeom prst="roundRect">
            <a:avLst>
              <a:gd name="adj" fmla="val 7018"/>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3" name="Illustration" descr="preencoded.png">    </p:cNvPr>
          <p:cNvPicPr>
            <a:picLocks noChangeAspect="1"/>
          </p:cNvPicPr>
          <p:nvPr/>
        </p:nvPicPr>
        <p:blipFill>
          <a:blip r:embed="rId3"/>
          <a:stretch>
            <a:fillRect/>
          </a:stretch>
        </p:blipFill>
        <p:spPr>
          <a:xfrm>
            <a:off x="3954780" y="1980248"/>
            <a:ext cx="1463040" cy="1463040"/>
          </a:xfrm>
          <a:prstGeom prst="rect">
            <a:avLst/>
          </a:prstGeom>
        </p:spPr>
      </p:pic>
      <p:sp>
        <p:nvSpPr>
          <p:cNvPr id="14" name="Text 8"/>
          <p:cNvSpPr txBox="1"/>
          <p:nvPr/>
        </p:nvSpPr>
        <p:spPr>
          <a:xfrm>
            <a:off x="3566160" y="3626168"/>
            <a:ext cx="2240280" cy="502920"/>
          </a:xfrm>
          <a:prstGeom prst="rect">
            <a:avLst/>
          </a:prstGeom>
          <a:noFill/>
          <a:ln/>
        </p:spPr>
        <p:txBody>
          <a:bodyPr wrap="square" lIns="0" tIns="0" rIns="0" bIns="0" rtlCol="0" anchor="ctr"/>
          <a:lstStyle/>
          <a:p>
            <a:pPr algn="ctr" indent="0" marL="0">
              <a:buNone/>
            </a:pPr>
            <a:r>
              <a:rPr lang="en-US" sz="2300" b="1" dirty="0">
                <a:solidFill>
                  <a:schemeClr val="tx2"/>
                </a:solidFill>
              </a:rPr>
              <a:t>남기기</a:t>
            </a:r>
            <a:endParaRPr lang="en-US" sz="2300" dirty="0"/>
          </a:p>
        </p:txBody>
      </p:sp>
      <p:sp>
        <p:nvSpPr>
          <p:cNvPr id="15" name="Text 9"/>
          <p:cNvSpPr txBox="1"/>
          <p:nvPr/>
        </p:nvSpPr>
        <p:spPr>
          <a:xfrm>
            <a:off x="3611880" y="4220528"/>
            <a:ext cx="2148840" cy="428625"/>
          </a:xfrm>
          <a:prstGeom prst="rect">
            <a:avLst/>
          </a:prstGeom>
          <a:noFill/>
          <a:ln/>
        </p:spPr>
        <p:txBody>
          <a:bodyPr wrap="square" lIns="0" tIns="0" rIns="0" bIns="0" rtlCol="0" anchor="t"/>
          <a:lstStyle/>
          <a:p>
            <a:pPr algn="ctr" indent="0" marL="0">
              <a:buNone/>
            </a:pPr>
            <a:r>
              <a:rPr lang="en-US" sz="1700" dirty="0">
                <a:solidFill>
                  <a:schemeClr val="tx1"/>
                </a:solidFill>
              </a:rPr>
              <a:t>캡처·사진·기록</a:t>
            </a:r>
            <a:endParaRPr lang="en-US" sz="1700" dirty="0"/>
          </a:p>
        </p:txBody>
      </p:sp>
      <p:sp>
        <p:nvSpPr>
          <p:cNvPr id="16" name="Step badge"/>
          <p:cNvSpPr/>
          <p:nvPr/>
        </p:nvSpPr>
        <p:spPr>
          <a:xfrm>
            <a:off x="3520440" y="1325880"/>
            <a:ext cx="548640" cy="548640"/>
          </a:xfrm>
          <a:prstGeom prst="ellipse">
            <a:avLst/>
          </a:prstGeom>
          <a:solidFill>
            <a:schemeClr val="accent1"/>
          </a:solidFill>
          <a:ln/>
        </p:spPr>
      </p:sp>
      <p:sp>
        <p:nvSpPr>
          <p:cNvPr id="17" name="Text 11"/>
          <p:cNvSpPr txBox="1"/>
          <p:nvPr/>
        </p:nvSpPr>
        <p:spPr>
          <a:xfrm>
            <a:off x="3520440" y="13258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8" name="Card"/>
          <p:cNvSpPr/>
          <p:nvPr/>
        </p:nvSpPr>
        <p:spPr>
          <a:xfrm>
            <a:off x="6217920" y="1463040"/>
            <a:ext cx="2606040" cy="3566160"/>
          </a:xfrm>
          <a:prstGeom prst="roundRect">
            <a:avLst>
              <a:gd name="adj" fmla="val 7018"/>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9" name="Illustration" descr="preencoded.png">    </p:cNvPr>
          <p:cNvPicPr>
            <a:picLocks noChangeAspect="1"/>
          </p:cNvPicPr>
          <p:nvPr/>
        </p:nvPicPr>
        <p:blipFill>
          <a:blip r:embed="rId4"/>
          <a:stretch>
            <a:fillRect/>
          </a:stretch>
        </p:blipFill>
        <p:spPr>
          <a:xfrm>
            <a:off x="6789420" y="1980248"/>
            <a:ext cx="1463040" cy="1463040"/>
          </a:xfrm>
          <a:prstGeom prst="rect">
            <a:avLst/>
          </a:prstGeom>
        </p:spPr>
      </p:pic>
      <p:sp>
        <p:nvSpPr>
          <p:cNvPr id="20" name="Text 13"/>
          <p:cNvSpPr txBox="1"/>
          <p:nvPr/>
        </p:nvSpPr>
        <p:spPr>
          <a:xfrm>
            <a:off x="6400800" y="3626168"/>
            <a:ext cx="2240280" cy="502920"/>
          </a:xfrm>
          <a:prstGeom prst="rect">
            <a:avLst/>
          </a:prstGeom>
          <a:noFill/>
          <a:ln/>
        </p:spPr>
        <p:txBody>
          <a:bodyPr wrap="square" lIns="0" tIns="0" rIns="0" bIns="0" rtlCol="0" anchor="ctr"/>
          <a:lstStyle/>
          <a:p>
            <a:pPr algn="ctr" indent="0" marL="0">
              <a:buNone/>
            </a:pPr>
            <a:r>
              <a:rPr lang="en-US" sz="2300" b="1" dirty="0">
                <a:solidFill>
                  <a:schemeClr val="tx2"/>
                </a:solidFill>
              </a:rPr>
              <a:t>알리기</a:t>
            </a:r>
            <a:endParaRPr lang="en-US" sz="2300" dirty="0"/>
          </a:p>
        </p:txBody>
      </p:sp>
      <p:sp>
        <p:nvSpPr>
          <p:cNvPr id="21" name="Text 14"/>
          <p:cNvSpPr txBox="1"/>
          <p:nvPr/>
        </p:nvSpPr>
        <p:spPr>
          <a:xfrm>
            <a:off x="6446520" y="4220528"/>
            <a:ext cx="2148840" cy="428625"/>
          </a:xfrm>
          <a:prstGeom prst="rect">
            <a:avLst/>
          </a:prstGeom>
          <a:noFill/>
          <a:ln/>
        </p:spPr>
        <p:txBody>
          <a:bodyPr wrap="square" lIns="0" tIns="0" rIns="0" bIns="0" rtlCol="0" anchor="t"/>
          <a:lstStyle/>
          <a:p>
            <a:pPr algn="ctr" indent="0" marL="0">
              <a:buNone/>
            </a:pPr>
            <a:r>
              <a:rPr lang="en-US" sz="1700" dirty="0">
                <a:solidFill>
                  <a:schemeClr val="tx1"/>
                </a:solidFill>
              </a:rPr>
              <a:t>믿을 수 있는 어른에게</a:t>
            </a:r>
            <a:endParaRPr lang="en-US" sz="1700" dirty="0"/>
          </a:p>
        </p:txBody>
      </p:sp>
      <p:sp>
        <p:nvSpPr>
          <p:cNvPr id="22" name="Step badge"/>
          <p:cNvSpPr/>
          <p:nvPr/>
        </p:nvSpPr>
        <p:spPr>
          <a:xfrm>
            <a:off x="6355080" y="1325880"/>
            <a:ext cx="548640" cy="548640"/>
          </a:xfrm>
          <a:prstGeom prst="ellipse">
            <a:avLst/>
          </a:prstGeom>
          <a:solidFill>
            <a:schemeClr val="accent1"/>
          </a:solidFill>
          <a:ln/>
        </p:spPr>
      </p:sp>
      <p:sp>
        <p:nvSpPr>
          <p:cNvPr id="23" name="Text 16"/>
          <p:cNvSpPr txBox="1"/>
          <p:nvPr/>
        </p:nvSpPr>
        <p:spPr>
          <a:xfrm>
            <a:off x="6355080" y="13258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4" name="Card"/>
          <p:cNvSpPr/>
          <p:nvPr/>
        </p:nvSpPr>
        <p:spPr>
          <a:xfrm>
            <a:off x="9052560" y="1463040"/>
            <a:ext cx="2606040" cy="3566160"/>
          </a:xfrm>
          <a:prstGeom prst="roundRect">
            <a:avLst>
              <a:gd name="adj" fmla="val 7018"/>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25" name="Illustration" descr="preencoded.png">    </p:cNvPr>
          <p:cNvPicPr>
            <a:picLocks noChangeAspect="1"/>
          </p:cNvPicPr>
          <p:nvPr/>
        </p:nvPicPr>
        <p:blipFill>
          <a:blip r:embed="rId5"/>
          <a:stretch>
            <a:fillRect/>
          </a:stretch>
        </p:blipFill>
        <p:spPr>
          <a:xfrm>
            <a:off x="9624060" y="1980248"/>
            <a:ext cx="1463040" cy="1463040"/>
          </a:xfrm>
          <a:prstGeom prst="rect">
            <a:avLst/>
          </a:prstGeom>
        </p:spPr>
      </p:pic>
      <p:sp>
        <p:nvSpPr>
          <p:cNvPr id="26" name="Text 18"/>
          <p:cNvSpPr txBox="1"/>
          <p:nvPr/>
        </p:nvSpPr>
        <p:spPr>
          <a:xfrm>
            <a:off x="9235440" y="3626168"/>
            <a:ext cx="2240280" cy="502920"/>
          </a:xfrm>
          <a:prstGeom prst="rect">
            <a:avLst/>
          </a:prstGeom>
          <a:noFill/>
          <a:ln/>
        </p:spPr>
        <p:txBody>
          <a:bodyPr wrap="square" lIns="0" tIns="0" rIns="0" bIns="0" rtlCol="0" anchor="ctr"/>
          <a:lstStyle/>
          <a:p>
            <a:pPr algn="ctr" indent="0" marL="0">
              <a:buNone/>
            </a:pPr>
            <a:r>
              <a:rPr lang="en-US" sz="2300" b="1" dirty="0">
                <a:solidFill>
                  <a:schemeClr val="tx2"/>
                </a:solidFill>
              </a:rPr>
              <a:t>신고하기</a:t>
            </a:r>
            <a:endParaRPr lang="en-US" sz="2300" dirty="0"/>
          </a:p>
        </p:txBody>
      </p:sp>
      <p:sp>
        <p:nvSpPr>
          <p:cNvPr id="27" name="Text 19"/>
          <p:cNvSpPr txBox="1"/>
          <p:nvPr/>
        </p:nvSpPr>
        <p:spPr>
          <a:xfrm>
            <a:off x="9281160" y="4220528"/>
            <a:ext cx="2148840" cy="428625"/>
          </a:xfrm>
          <a:prstGeom prst="rect">
            <a:avLst/>
          </a:prstGeom>
          <a:noFill/>
          <a:ln/>
        </p:spPr>
        <p:txBody>
          <a:bodyPr wrap="square" lIns="0" tIns="0" rIns="0" bIns="0" rtlCol="0" anchor="t"/>
          <a:lstStyle/>
          <a:p>
            <a:pPr algn="ctr" indent="0" marL="0">
              <a:buNone/>
            </a:pPr>
            <a:r>
              <a:rPr lang="en-US" sz="1700" dirty="0">
                <a:solidFill>
                  <a:schemeClr val="tx1"/>
                </a:solidFill>
              </a:rPr>
              <a:t>112 · 117</a:t>
            </a:r>
            <a:endParaRPr lang="en-US" sz="1700" dirty="0"/>
          </a:p>
        </p:txBody>
      </p:sp>
      <p:sp>
        <p:nvSpPr>
          <p:cNvPr id="28" name="Step badge"/>
          <p:cNvSpPr/>
          <p:nvPr/>
        </p:nvSpPr>
        <p:spPr>
          <a:xfrm>
            <a:off x="9189720" y="1325880"/>
            <a:ext cx="548640" cy="548640"/>
          </a:xfrm>
          <a:prstGeom prst="ellipse">
            <a:avLst/>
          </a:prstGeom>
          <a:solidFill>
            <a:schemeClr val="accent1"/>
          </a:solidFill>
          <a:ln/>
        </p:spPr>
      </p:sp>
      <p:sp>
        <p:nvSpPr>
          <p:cNvPr id="29" name="Text 21"/>
          <p:cNvSpPr txBox="1"/>
          <p:nvPr/>
        </p:nvSpPr>
        <p:spPr>
          <a:xfrm>
            <a:off x="9189720" y="13258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30" name="Tagline"/>
          <p:cNvSpPr txBox="1"/>
          <p:nvPr/>
        </p:nvSpPr>
        <p:spPr>
          <a:xfrm>
            <a:off x="548640" y="5349240"/>
            <a:ext cx="11064240" cy="365760"/>
          </a:xfrm>
          <a:prstGeom prst="rect">
            <a:avLst/>
          </a:prstGeom>
          <a:noFill/>
          <a:ln/>
        </p:spPr>
        <p:txBody>
          <a:bodyPr wrap="square" lIns="0" tIns="0" rIns="0" bIns="0" rtlCol="0" anchor="ctr"/>
          <a:lstStyle/>
          <a:p>
            <a:pPr indent="0" marL="0">
              <a:buNone/>
            </a:pPr>
            <a:r>
              <a:rPr lang="en-US" sz="1500" b="1" i="1" dirty="0">
                <a:solidFill>
                  <a:schemeClr val="accent1"/>
                </a:solidFill>
              </a:rPr>
              <a:t>“내 잘못이 아니에요” — 책임은 언제나 가해자에게</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친구가 힘들어 보인다면: 5D</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4. 대처·예방·신고</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2103120" cy="3291840"/>
          </a:xfrm>
          <a:prstGeom prst="roundRect">
            <a:avLst>
              <a:gd name="adj" fmla="val 8696"/>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7" name="Illustration" descr="preencoded.png">    </p:cNvPr>
          <p:cNvPicPr>
            <a:picLocks noChangeAspect="1"/>
          </p:cNvPicPr>
          <p:nvPr/>
        </p:nvPicPr>
        <p:blipFill>
          <a:blip r:embed="rId2"/>
          <a:stretch>
            <a:fillRect/>
          </a:stretch>
        </p:blipFill>
        <p:spPr>
          <a:xfrm>
            <a:off x="1005840" y="2005965"/>
            <a:ext cx="1188720" cy="1188720"/>
          </a:xfrm>
          <a:prstGeom prst="rect">
            <a:avLst/>
          </a:prstGeom>
        </p:spPr>
      </p:pic>
      <p:sp>
        <p:nvSpPr>
          <p:cNvPr id="8" name="Text 3"/>
          <p:cNvSpPr txBox="1"/>
          <p:nvPr/>
        </p:nvSpPr>
        <p:spPr>
          <a:xfrm>
            <a:off x="731520" y="3377565"/>
            <a:ext cx="1737360" cy="502920"/>
          </a:xfrm>
          <a:prstGeom prst="rect">
            <a:avLst/>
          </a:prstGeom>
          <a:noFill/>
          <a:ln/>
        </p:spPr>
        <p:txBody>
          <a:bodyPr wrap="square" lIns="0" tIns="0" rIns="0" bIns="0" rtlCol="0" anchor="ctr"/>
          <a:lstStyle/>
          <a:p>
            <a:pPr algn="ctr" indent="0" marL="0">
              <a:buNone/>
            </a:pPr>
            <a:r>
              <a:rPr lang="en-US" sz="1800" b="1" dirty="0">
                <a:solidFill>
                  <a:schemeClr val="tx2"/>
                </a:solidFill>
              </a:rPr>
              <a:t>주의 돌리기</a:t>
            </a:r>
            <a:endParaRPr lang="en-US" sz="1800" dirty="0"/>
          </a:p>
        </p:txBody>
      </p:sp>
      <p:sp>
        <p:nvSpPr>
          <p:cNvPr id="9" name="Text 4"/>
          <p:cNvSpPr txBox="1"/>
          <p:nvPr/>
        </p:nvSpPr>
        <p:spPr>
          <a:xfrm>
            <a:off x="777240" y="3971925"/>
            <a:ext cx="1645920" cy="377190"/>
          </a:xfrm>
          <a:prstGeom prst="rect">
            <a:avLst/>
          </a:prstGeom>
          <a:noFill/>
          <a:ln/>
        </p:spPr>
        <p:txBody>
          <a:bodyPr wrap="square" lIns="0" tIns="0" rIns="0" bIns="0" rtlCol="0" anchor="t"/>
          <a:lstStyle/>
          <a:p>
            <a:pPr algn="ctr" indent="0" marL="0">
              <a:buNone/>
            </a:pPr>
            <a:r>
              <a:rPr lang="en-US" sz="1400" dirty="0">
                <a:solidFill>
                  <a:schemeClr val="tx1"/>
                </a:solidFill>
              </a:rPr>
              <a:t>“선생님이 찾으셔”</a:t>
            </a:r>
            <a:endParaRPr lang="en-US" sz="1400" dirty="0"/>
          </a:p>
        </p:txBody>
      </p:sp>
      <p:sp>
        <p:nvSpPr>
          <p:cNvPr id="10" name="Card"/>
          <p:cNvSpPr/>
          <p:nvPr/>
        </p:nvSpPr>
        <p:spPr>
          <a:xfrm>
            <a:off x="2788920" y="1463040"/>
            <a:ext cx="2103120" cy="3291840"/>
          </a:xfrm>
          <a:prstGeom prst="roundRect">
            <a:avLst>
              <a:gd name="adj" fmla="val 8696"/>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1" name="Illustration" descr="preencoded.png">    </p:cNvPr>
          <p:cNvPicPr>
            <a:picLocks noChangeAspect="1"/>
          </p:cNvPicPr>
          <p:nvPr/>
        </p:nvPicPr>
        <p:blipFill>
          <a:blip r:embed="rId3"/>
          <a:stretch>
            <a:fillRect/>
          </a:stretch>
        </p:blipFill>
        <p:spPr>
          <a:xfrm>
            <a:off x="3246120" y="2005965"/>
            <a:ext cx="1188720" cy="1188720"/>
          </a:xfrm>
          <a:prstGeom prst="rect">
            <a:avLst/>
          </a:prstGeom>
        </p:spPr>
      </p:pic>
      <p:sp>
        <p:nvSpPr>
          <p:cNvPr id="12" name="Text 6"/>
          <p:cNvSpPr txBox="1"/>
          <p:nvPr/>
        </p:nvSpPr>
        <p:spPr>
          <a:xfrm>
            <a:off x="2971800" y="3377565"/>
            <a:ext cx="1737360" cy="502920"/>
          </a:xfrm>
          <a:prstGeom prst="rect">
            <a:avLst/>
          </a:prstGeom>
          <a:noFill/>
          <a:ln/>
        </p:spPr>
        <p:txBody>
          <a:bodyPr wrap="square" lIns="0" tIns="0" rIns="0" bIns="0" rtlCol="0" anchor="ctr"/>
          <a:lstStyle/>
          <a:p>
            <a:pPr algn="ctr" indent="0" marL="0">
              <a:buNone/>
            </a:pPr>
            <a:r>
              <a:rPr lang="en-US" sz="1800" b="1" dirty="0">
                <a:solidFill>
                  <a:schemeClr val="tx2"/>
                </a:solidFill>
              </a:rPr>
              <a:t>도움 요청</a:t>
            </a:r>
            <a:endParaRPr lang="en-US" sz="1800" dirty="0"/>
          </a:p>
        </p:txBody>
      </p:sp>
      <p:sp>
        <p:nvSpPr>
          <p:cNvPr id="13" name="Text 7"/>
          <p:cNvSpPr txBox="1"/>
          <p:nvPr/>
        </p:nvSpPr>
        <p:spPr>
          <a:xfrm>
            <a:off x="3017520" y="3971925"/>
            <a:ext cx="1645920" cy="377190"/>
          </a:xfrm>
          <a:prstGeom prst="rect">
            <a:avLst/>
          </a:prstGeom>
          <a:noFill/>
          <a:ln/>
        </p:spPr>
        <p:txBody>
          <a:bodyPr wrap="square" lIns="0" tIns="0" rIns="0" bIns="0" rtlCol="0" anchor="t"/>
          <a:lstStyle/>
          <a:p>
            <a:pPr algn="ctr" indent="0" marL="0">
              <a:buNone/>
            </a:pPr>
            <a:r>
              <a:rPr lang="en-US" sz="1400" dirty="0">
                <a:solidFill>
                  <a:schemeClr val="tx1"/>
                </a:solidFill>
              </a:rPr>
              <a:t>어른·117에 알리기</a:t>
            </a:r>
            <a:endParaRPr lang="en-US" sz="1400" dirty="0"/>
          </a:p>
        </p:txBody>
      </p:sp>
      <p:sp>
        <p:nvSpPr>
          <p:cNvPr id="14" name="Card"/>
          <p:cNvSpPr/>
          <p:nvPr/>
        </p:nvSpPr>
        <p:spPr>
          <a:xfrm>
            <a:off x="5029200" y="1463040"/>
            <a:ext cx="2103120" cy="3291840"/>
          </a:xfrm>
          <a:prstGeom prst="roundRect">
            <a:avLst>
              <a:gd name="adj" fmla="val 8696"/>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5" name="Illustration" descr="preencoded.png">    </p:cNvPr>
          <p:cNvPicPr>
            <a:picLocks noChangeAspect="1"/>
          </p:cNvPicPr>
          <p:nvPr/>
        </p:nvPicPr>
        <p:blipFill>
          <a:blip r:embed="rId4"/>
          <a:stretch>
            <a:fillRect/>
          </a:stretch>
        </p:blipFill>
        <p:spPr>
          <a:xfrm>
            <a:off x="5486400" y="2005965"/>
            <a:ext cx="1188720" cy="1188720"/>
          </a:xfrm>
          <a:prstGeom prst="rect">
            <a:avLst/>
          </a:prstGeom>
        </p:spPr>
      </p:pic>
      <p:sp>
        <p:nvSpPr>
          <p:cNvPr id="16" name="Text 9"/>
          <p:cNvSpPr txBox="1"/>
          <p:nvPr/>
        </p:nvSpPr>
        <p:spPr>
          <a:xfrm>
            <a:off x="5212080" y="3377565"/>
            <a:ext cx="1737360" cy="502920"/>
          </a:xfrm>
          <a:prstGeom prst="rect">
            <a:avLst/>
          </a:prstGeom>
          <a:noFill/>
          <a:ln/>
        </p:spPr>
        <p:txBody>
          <a:bodyPr wrap="square" lIns="0" tIns="0" rIns="0" bIns="0" rtlCol="0" anchor="ctr"/>
          <a:lstStyle/>
          <a:p>
            <a:pPr algn="ctr" indent="0" marL="0">
              <a:buNone/>
            </a:pPr>
            <a:r>
              <a:rPr lang="en-US" sz="1800" b="1" dirty="0">
                <a:solidFill>
                  <a:schemeClr val="tx2"/>
                </a:solidFill>
              </a:rPr>
              <a:t>기록하기</a:t>
            </a:r>
            <a:endParaRPr lang="en-US" sz="1800" dirty="0"/>
          </a:p>
        </p:txBody>
      </p:sp>
      <p:sp>
        <p:nvSpPr>
          <p:cNvPr id="17" name="Text 10"/>
          <p:cNvSpPr txBox="1"/>
          <p:nvPr/>
        </p:nvSpPr>
        <p:spPr>
          <a:xfrm>
            <a:off x="5257800" y="3971925"/>
            <a:ext cx="1645920" cy="377190"/>
          </a:xfrm>
          <a:prstGeom prst="rect">
            <a:avLst/>
          </a:prstGeom>
          <a:noFill/>
          <a:ln/>
        </p:spPr>
        <p:txBody>
          <a:bodyPr wrap="square" lIns="0" tIns="0" rIns="0" bIns="0" rtlCol="0" anchor="t"/>
          <a:lstStyle/>
          <a:p>
            <a:pPr algn="ctr" indent="0" marL="0">
              <a:buNone/>
            </a:pPr>
            <a:r>
              <a:rPr lang="en-US" sz="1400" dirty="0">
                <a:solidFill>
                  <a:schemeClr val="tx1"/>
                </a:solidFill>
              </a:rPr>
              <a:t>날짜·내용 메모</a:t>
            </a:r>
            <a:endParaRPr lang="en-US" sz="1400" dirty="0"/>
          </a:p>
        </p:txBody>
      </p:sp>
      <p:sp>
        <p:nvSpPr>
          <p:cNvPr id="18" name="Card"/>
          <p:cNvSpPr/>
          <p:nvPr/>
        </p:nvSpPr>
        <p:spPr>
          <a:xfrm>
            <a:off x="7269480" y="1463040"/>
            <a:ext cx="2103120" cy="3291840"/>
          </a:xfrm>
          <a:prstGeom prst="roundRect">
            <a:avLst>
              <a:gd name="adj" fmla="val 8696"/>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9" name="Illustration" descr="preencoded.png">    </p:cNvPr>
          <p:cNvPicPr>
            <a:picLocks noChangeAspect="1"/>
          </p:cNvPicPr>
          <p:nvPr/>
        </p:nvPicPr>
        <p:blipFill>
          <a:blip r:embed="rId5"/>
          <a:stretch>
            <a:fillRect/>
          </a:stretch>
        </p:blipFill>
        <p:spPr>
          <a:xfrm>
            <a:off x="7726680" y="2005965"/>
            <a:ext cx="1188720" cy="1188720"/>
          </a:xfrm>
          <a:prstGeom prst="rect">
            <a:avLst/>
          </a:prstGeom>
        </p:spPr>
      </p:pic>
      <p:sp>
        <p:nvSpPr>
          <p:cNvPr id="20" name="Text 12"/>
          <p:cNvSpPr txBox="1"/>
          <p:nvPr/>
        </p:nvSpPr>
        <p:spPr>
          <a:xfrm>
            <a:off x="7452360" y="3377565"/>
            <a:ext cx="1737360" cy="502920"/>
          </a:xfrm>
          <a:prstGeom prst="rect">
            <a:avLst/>
          </a:prstGeom>
          <a:noFill/>
          <a:ln/>
        </p:spPr>
        <p:txBody>
          <a:bodyPr wrap="square" lIns="0" tIns="0" rIns="0" bIns="0" rtlCol="0" anchor="ctr"/>
          <a:lstStyle/>
          <a:p>
            <a:pPr algn="ctr" indent="0" marL="0">
              <a:buNone/>
            </a:pPr>
            <a:r>
              <a:rPr lang="en-US" sz="1800" b="1" dirty="0">
                <a:solidFill>
                  <a:schemeClr val="tx2"/>
                </a:solidFill>
              </a:rPr>
              <a:t>나중에 챙기기</a:t>
            </a:r>
            <a:endParaRPr lang="en-US" sz="1800" dirty="0"/>
          </a:p>
        </p:txBody>
      </p:sp>
      <p:sp>
        <p:nvSpPr>
          <p:cNvPr id="21" name="Text 13"/>
          <p:cNvSpPr txBox="1"/>
          <p:nvPr/>
        </p:nvSpPr>
        <p:spPr>
          <a:xfrm>
            <a:off x="7498080" y="3971925"/>
            <a:ext cx="1645920" cy="377190"/>
          </a:xfrm>
          <a:prstGeom prst="rect">
            <a:avLst/>
          </a:prstGeom>
          <a:noFill/>
          <a:ln/>
        </p:spPr>
        <p:txBody>
          <a:bodyPr wrap="square" lIns="0" tIns="0" rIns="0" bIns="0" rtlCol="0" anchor="t"/>
          <a:lstStyle/>
          <a:p>
            <a:pPr algn="ctr" indent="0" marL="0">
              <a:buNone/>
            </a:pPr>
            <a:r>
              <a:rPr lang="en-US" sz="1400" dirty="0">
                <a:solidFill>
                  <a:schemeClr val="tx1"/>
                </a:solidFill>
              </a:rPr>
              <a:t>“괜찮아? 고마워”</a:t>
            </a:r>
            <a:endParaRPr lang="en-US" sz="1400" dirty="0"/>
          </a:p>
        </p:txBody>
      </p:sp>
      <p:sp>
        <p:nvSpPr>
          <p:cNvPr id="22" name="Card"/>
          <p:cNvSpPr/>
          <p:nvPr/>
        </p:nvSpPr>
        <p:spPr>
          <a:xfrm>
            <a:off x="9509760" y="1463040"/>
            <a:ext cx="2103120" cy="3291840"/>
          </a:xfrm>
          <a:prstGeom prst="roundRect">
            <a:avLst>
              <a:gd name="adj" fmla="val 8696"/>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23" name="Illustration" descr="preencoded.png">    </p:cNvPr>
          <p:cNvPicPr>
            <a:picLocks noChangeAspect="1"/>
          </p:cNvPicPr>
          <p:nvPr/>
        </p:nvPicPr>
        <p:blipFill>
          <a:blip r:embed="rId6"/>
          <a:stretch>
            <a:fillRect/>
          </a:stretch>
        </p:blipFill>
        <p:spPr>
          <a:xfrm>
            <a:off x="9966960" y="2005965"/>
            <a:ext cx="1188720" cy="1188720"/>
          </a:xfrm>
          <a:prstGeom prst="rect">
            <a:avLst/>
          </a:prstGeom>
        </p:spPr>
      </p:pic>
      <p:sp>
        <p:nvSpPr>
          <p:cNvPr id="24" name="Text 15"/>
          <p:cNvSpPr txBox="1"/>
          <p:nvPr/>
        </p:nvSpPr>
        <p:spPr>
          <a:xfrm>
            <a:off x="9692640" y="3377565"/>
            <a:ext cx="1737360" cy="502920"/>
          </a:xfrm>
          <a:prstGeom prst="rect">
            <a:avLst/>
          </a:prstGeom>
          <a:noFill/>
          <a:ln/>
        </p:spPr>
        <p:txBody>
          <a:bodyPr wrap="square" lIns="0" tIns="0" rIns="0" bIns="0" rtlCol="0" anchor="ctr"/>
          <a:lstStyle/>
          <a:p>
            <a:pPr algn="ctr" indent="0" marL="0">
              <a:buNone/>
            </a:pPr>
            <a:r>
              <a:rPr lang="en-US" sz="1800" b="1" dirty="0">
                <a:solidFill>
                  <a:schemeClr val="tx2"/>
                </a:solidFill>
              </a:rPr>
              <a:t>직접 말하기</a:t>
            </a:r>
            <a:endParaRPr lang="en-US" sz="1800" dirty="0"/>
          </a:p>
        </p:txBody>
      </p:sp>
      <p:sp>
        <p:nvSpPr>
          <p:cNvPr id="25" name="Text 16"/>
          <p:cNvSpPr txBox="1"/>
          <p:nvPr/>
        </p:nvSpPr>
        <p:spPr>
          <a:xfrm>
            <a:off x="9738360" y="3971925"/>
            <a:ext cx="1645920" cy="377190"/>
          </a:xfrm>
          <a:prstGeom prst="rect">
            <a:avLst/>
          </a:prstGeom>
          <a:noFill/>
          <a:ln/>
        </p:spPr>
        <p:txBody>
          <a:bodyPr wrap="square" lIns="0" tIns="0" rIns="0" bIns="0" rtlCol="0" anchor="t"/>
          <a:lstStyle/>
          <a:p>
            <a:pPr algn="ctr" indent="0" marL="0">
              <a:buNone/>
            </a:pPr>
            <a:r>
              <a:rPr lang="en-US" sz="1400" dirty="0">
                <a:solidFill>
                  <a:schemeClr val="tx1"/>
                </a:solidFill>
              </a:rPr>
              <a:t>안전할 때만 “그만”</a:t>
            </a:r>
            <a:endParaRPr lang="en-US" sz="1400" dirty="0"/>
          </a:p>
        </p:txBody>
      </p:sp>
      <p:sp>
        <p:nvSpPr>
          <p:cNvPr id="26" name="Card"/>
          <p:cNvSpPr/>
          <p:nvPr/>
        </p:nvSpPr>
        <p:spPr>
          <a:xfrm>
            <a:off x="548640" y="4983480"/>
            <a:ext cx="11064240" cy="914400"/>
          </a:xfrm>
          <a:prstGeom prst="roundRect">
            <a:avLst>
              <a:gd name="adj" fmla="val 20000"/>
            </a:avLst>
          </a:prstGeom>
          <a:solidFill>
            <a:schemeClr val="bg1"/>
          </a:solidFill>
          <a:ln w="15875">
            <a:solidFill>
              <a:srgbClr val="E8505B"/>
            </a:solidFill>
            <a:prstDash val="dash"/>
          </a:ln>
          <a:effectLst>
            <a:outerShdw sx="100000" sy="100000" kx="0" ky="0" algn="bl" rotWithShape="0" blurRad="101600" dist="25400" dir="5400000">
              <a:srgbClr val="4A1D3F">
                <a:alpha val="10000"/>
              </a:srgbClr>
            </a:outerShdw>
          </a:effectLst>
        </p:spPr>
      </p:sp>
      <p:sp>
        <p:nvSpPr>
          <p:cNvPr id="27" name="Text 18"/>
          <p:cNvSpPr txBox="1"/>
          <p:nvPr/>
        </p:nvSpPr>
        <p:spPr>
          <a:xfrm>
            <a:off x="822960" y="4983480"/>
            <a:ext cx="10515600" cy="914400"/>
          </a:xfrm>
          <a:prstGeom prst="rect">
            <a:avLst/>
          </a:prstGeom>
          <a:noFill/>
          <a:ln/>
        </p:spPr>
        <p:txBody>
          <a:bodyPr wrap="square" lIns="0" tIns="0" rIns="0" bIns="0" rtlCol="0" anchor="ctr"/>
          <a:lstStyle/>
          <a:p>
            <a:pPr algn="ctr" indent="0" marL="0">
              <a:buNone/>
            </a:pPr>
            <a:r>
              <a:rPr lang="en-US" sz="1800" b="1" dirty="0">
                <a:solidFill>
                  <a:schemeClr val="tx2"/>
                </a:solidFill>
              </a:rPr>
              <a:t>✕ “왜 아직도 안 헤어졌어?”        ○ “말해 줘서 고마워. 같이 방법 찾자”</a:t>
            </a:r>
            <a:endParaRPr lang="en-US" sz="1800" dirty="0"/>
          </a:p>
        </p:txBody>
      </p:sp>
      <p:sp>
        <p:nvSpPr>
          <p:cNvPr id="28" name="Source"/>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출처: Right To Be 5D 방관자 개입 모델 · 여성폭력방지기본법 제3조</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신고하면 이렇게 진행돼요</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4. 대처·예방·신고</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2560320" cy="3749040"/>
          </a:xfrm>
          <a:prstGeom prst="roundRect">
            <a:avLst>
              <a:gd name="adj" fmla="val 7143"/>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7" name="Illustration" descr="preencoded.png">    </p:cNvPr>
          <p:cNvPicPr>
            <a:picLocks noChangeAspect="1"/>
          </p:cNvPicPr>
          <p:nvPr/>
        </p:nvPicPr>
        <p:blipFill>
          <a:blip r:embed="rId2"/>
          <a:stretch>
            <a:fillRect/>
          </a:stretch>
        </p:blipFill>
        <p:spPr>
          <a:xfrm>
            <a:off x="1143000" y="1988820"/>
            <a:ext cx="1371600" cy="1371600"/>
          </a:xfrm>
          <a:prstGeom prst="rect">
            <a:avLst/>
          </a:prstGeom>
        </p:spPr>
      </p:pic>
      <p:sp>
        <p:nvSpPr>
          <p:cNvPr id="8" name="Text 3"/>
          <p:cNvSpPr txBox="1"/>
          <p:nvPr/>
        </p:nvSpPr>
        <p:spPr>
          <a:xfrm>
            <a:off x="731520" y="3543300"/>
            <a:ext cx="2194560" cy="502920"/>
          </a:xfrm>
          <a:prstGeom prst="rect">
            <a:avLst/>
          </a:prstGeom>
          <a:noFill/>
          <a:ln/>
        </p:spPr>
        <p:txBody>
          <a:bodyPr wrap="square" lIns="0" tIns="0" rIns="0" bIns="0" rtlCol="0" anchor="ctr"/>
          <a:lstStyle/>
          <a:p>
            <a:pPr algn="ctr" indent="0" marL="0">
              <a:buNone/>
            </a:pPr>
            <a:r>
              <a:rPr lang="en-US" sz="2300" b="1" dirty="0">
                <a:solidFill>
                  <a:schemeClr val="tx2"/>
                </a:solidFill>
              </a:rPr>
              <a:t>알리기</a:t>
            </a:r>
            <a:endParaRPr lang="en-US" sz="2300" dirty="0"/>
          </a:p>
        </p:txBody>
      </p:sp>
      <p:sp>
        <p:nvSpPr>
          <p:cNvPr id="9" name="Text 4"/>
          <p:cNvSpPr txBox="1"/>
          <p:nvPr/>
        </p:nvSpPr>
        <p:spPr>
          <a:xfrm>
            <a:off x="777240" y="4137660"/>
            <a:ext cx="2103120" cy="685800"/>
          </a:xfrm>
          <a:prstGeom prst="rect">
            <a:avLst/>
          </a:prstGeom>
          <a:noFill/>
          <a:ln/>
        </p:spPr>
        <p:txBody>
          <a:bodyPr wrap="square" lIns="0" tIns="0" rIns="0" bIns="0" rtlCol="0" anchor="t"/>
          <a:lstStyle/>
          <a:p>
            <a:pPr algn="ctr" indent="0" marL="0">
              <a:buNone/>
            </a:pPr>
            <a:r>
              <a:rPr lang="en-US" sz="1600" dirty="0">
                <a:solidFill>
                  <a:schemeClr val="tx1"/>
                </a:solidFill>
              </a:rPr>
              <a:t>담임·상담 선생님</a:t>
            </a:r>
            <a:endParaRPr lang="en-US" sz="1600" dirty="0"/>
          </a:p>
          <a:p>
            <a:pPr algn="ctr" indent="0" marL="0">
              <a:buNone/>
            </a:pPr>
            <a:r>
              <a:rPr lang="en-US" sz="1600" dirty="0">
                <a:solidFill>
                  <a:schemeClr val="tx1"/>
                </a:solidFill>
              </a:rPr>
              <a:t>학교전담경찰관</a:t>
            </a:r>
            <a:endParaRPr lang="en-US" sz="1600" dirty="0"/>
          </a:p>
        </p:txBody>
      </p:sp>
      <p:sp>
        <p:nvSpPr>
          <p:cNvPr id="10" name="Flow arrow"/>
          <p:cNvSpPr/>
          <p:nvPr/>
        </p:nvSpPr>
        <p:spPr>
          <a:xfrm>
            <a:off x="3136392" y="3337560"/>
            <a:ext cx="219456" cy="0"/>
          </a:xfrm>
          <a:prstGeom prst="line">
            <a:avLst/>
          </a:prstGeom>
          <a:noFill/>
          <a:ln w="31750">
            <a:solidFill>
              <a:schemeClr val="accent1"/>
            </a:solidFill>
            <a:prstDash val="solid"/>
            <a:tailEnd type="triangle"/>
          </a:ln>
        </p:spPr>
      </p:sp>
      <p:sp>
        <p:nvSpPr>
          <p:cNvPr id="11" name="Card"/>
          <p:cNvSpPr/>
          <p:nvPr/>
        </p:nvSpPr>
        <p:spPr>
          <a:xfrm>
            <a:off x="3383280" y="1463040"/>
            <a:ext cx="2560320" cy="3749040"/>
          </a:xfrm>
          <a:prstGeom prst="roundRect">
            <a:avLst>
              <a:gd name="adj" fmla="val 7143"/>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2" name="Illustration" descr="preencoded.png">    </p:cNvPr>
          <p:cNvPicPr>
            <a:picLocks noChangeAspect="1"/>
          </p:cNvPicPr>
          <p:nvPr/>
        </p:nvPicPr>
        <p:blipFill>
          <a:blip r:embed="rId3"/>
          <a:stretch>
            <a:fillRect/>
          </a:stretch>
        </p:blipFill>
        <p:spPr>
          <a:xfrm>
            <a:off x="3977640" y="2125980"/>
            <a:ext cx="1371600" cy="1371600"/>
          </a:xfrm>
          <a:prstGeom prst="rect">
            <a:avLst/>
          </a:prstGeom>
        </p:spPr>
      </p:pic>
      <p:sp>
        <p:nvSpPr>
          <p:cNvPr id="13" name="Text 7"/>
          <p:cNvSpPr txBox="1"/>
          <p:nvPr/>
        </p:nvSpPr>
        <p:spPr>
          <a:xfrm>
            <a:off x="3566160" y="3680460"/>
            <a:ext cx="2194560" cy="502920"/>
          </a:xfrm>
          <a:prstGeom prst="rect">
            <a:avLst/>
          </a:prstGeom>
          <a:noFill/>
          <a:ln/>
        </p:spPr>
        <p:txBody>
          <a:bodyPr wrap="square" lIns="0" tIns="0" rIns="0" bIns="0" rtlCol="0" anchor="ctr"/>
          <a:lstStyle/>
          <a:p>
            <a:pPr algn="ctr" indent="0" marL="0">
              <a:buNone/>
            </a:pPr>
            <a:r>
              <a:rPr lang="en-US" sz="2300" b="1" dirty="0">
                <a:solidFill>
                  <a:schemeClr val="tx2"/>
                </a:solidFill>
              </a:rPr>
              <a:t>신고</a:t>
            </a:r>
            <a:endParaRPr lang="en-US" sz="2300" dirty="0"/>
          </a:p>
        </p:txBody>
      </p:sp>
      <p:sp>
        <p:nvSpPr>
          <p:cNvPr id="14" name="Text 8"/>
          <p:cNvSpPr txBox="1"/>
          <p:nvPr/>
        </p:nvSpPr>
        <p:spPr>
          <a:xfrm>
            <a:off x="3611880" y="4274820"/>
            <a:ext cx="2103120" cy="411480"/>
          </a:xfrm>
          <a:prstGeom prst="rect">
            <a:avLst/>
          </a:prstGeom>
          <a:noFill/>
          <a:ln/>
        </p:spPr>
        <p:txBody>
          <a:bodyPr wrap="square" lIns="0" tIns="0" rIns="0" bIns="0" rtlCol="0" anchor="t"/>
          <a:lstStyle/>
          <a:p>
            <a:pPr algn="ctr" indent="0" marL="0">
              <a:buNone/>
            </a:pPr>
            <a:r>
              <a:rPr lang="en-US" sz="1600" dirty="0">
                <a:solidFill>
                  <a:schemeClr val="tx1"/>
                </a:solidFill>
              </a:rPr>
              <a:t>112 · 117</a:t>
            </a:r>
            <a:endParaRPr lang="en-US" sz="1600" dirty="0"/>
          </a:p>
        </p:txBody>
      </p:sp>
      <p:sp>
        <p:nvSpPr>
          <p:cNvPr id="15" name="Flow arrow"/>
          <p:cNvSpPr/>
          <p:nvPr/>
        </p:nvSpPr>
        <p:spPr>
          <a:xfrm>
            <a:off x="5971032" y="3337560"/>
            <a:ext cx="219456" cy="0"/>
          </a:xfrm>
          <a:prstGeom prst="line">
            <a:avLst/>
          </a:prstGeom>
          <a:noFill/>
          <a:ln w="31750">
            <a:solidFill>
              <a:schemeClr val="accent1"/>
            </a:solidFill>
            <a:prstDash val="solid"/>
            <a:tailEnd type="triangle"/>
          </a:ln>
        </p:spPr>
      </p:sp>
      <p:sp>
        <p:nvSpPr>
          <p:cNvPr id="16" name="Card"/>
          <p:cNvSpPr/>
          <p:nvPr/>
        </p:nvSpPr>
        <p:spPr>
          <a:xfrm>
            <a:off x="6217920" y="1463040"/>
            <a:ext cx="2560320" cy="3749040"/>
          </a:xfrm>
          <a:prstGeom prst="roundRect">
            <a:avLst>
              <a:gd name="adj" fmla="val 7143"/>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7" name="Illustration" descr="preencoded.png">    </p:cNvPr>
          <p:cNvPicPr>
            <a:picLocks noChangeAspect="1"/>
          </p:cNvPicPr>
          <p:nvPr/>
        </p:nvPicPr>
        <p:blipFill>
          <a:blip r:embed="rId4"/>
          <a:stretch>
            <a:fillRect/>
          </a:stretch>
        </p:blipFill>
        <p:spPr>
          <a:xfrm>
            <a:off x="6812280" y="1988820"/>
            <a:ext cx="1371600" cy="1371600"/>
          </a:xfrm>
          <a:prstGeom prst="rect">
            <a:avLst/>
          </a:prstGeom>
        </p:spPr>
      </p:pic>
      <p:sp>
        <p:nvSpPr>
          <p:cNvPr id="18" name="Text 11"/>
          <p:cNvSpPr txBox="1"/>
          <p:nvPr/>
        </p:nvSpPr>
        <p:spPr>
          <a:xfrm>
            <a:off x="6400800" y="3543300"/>
            <a:ext cx="2194560" cy="502920"/>
          </a:xfrm>
          <a:prstGeom prst="rect">
            <a:avLst/>
          </a:prstGeom>
          <a:noFill/>
          <a:ln/>
        </p:spPr>
        <p:txBody>
          <a:bodyPr wrap="square" lIns="0" tIns="0" rIns="0" bIns="0" rtlCol="0" anchor="ctr"/>
          <a:lstStyle/>
          <a:p>
            <a:pPr algn="ctr" indent="0" marL="0">
              <a:buNone/>
            </a:pPr>
            <a:r>
              <a:rPr lang="en-US" sz="2300" b="1" dirty="0">
                <a:solidFill>
                  <a:schemeClr val="tx2"/>
                </a:solidFill>
              </a:rPr>
              <a:t>조사</a:t>
            </a:r>
            <a:endParaRPr lang="en-US" sz="2300" dirty="0"/>
          </a:p>
        </p:txBody>
      </p:sp>
      <p:sp>
        <p:nvSpPr>
          <p:cNvPr id="19" name="Text 12"/>
          <p:cNvSpPr txBox="1"/>
          <p:nvPr/>
        </p:nvSpPr>
        <p:spPr>
          <a:xfrm>
            <a:off x="6446520" y="4137660"/>
            <a:ext cx="2103120" cy="685800"/>
          </a:xfrm>
          <a:prstGeom prst="rect">
            <a:avLst/>
          </a:prstGeom>
          <a:noFill/>
          <a:ln/>
        </p:spPr>
        <p:txBody>
          <a:bodyPr wrap="square" lIns="0" tIns="0" rIns="0" bIns="0" rtlCol="0" anchor="t"/>
          <a:lstStyle/>
          <a:p>
            <a:pPr algn="ctr" indent="0" marL="0">
              <a:buNone/>
            </a:pPr>
            <a:r>
              <a:rPr lang="en-US" sz="1600" dirty="0">
                <a:solidFill>
                  <a:schemeClr val="tx1"/>
                </a:solidFill>
              </a:rPr>
              <a:t>경찰 수사</a:t>
            </a:r>
            <a:endParaRPr lang="en-US" sz="1600" dirty="0"/>
          </a:p>
          <a:p>
            <a:pPr algn="ctr" indent="0" marL="0">
              <a:buNone/>
            </a:pPr>
            <a:r>
              <a:rPr lang="en-US" sz="1600" dirty="0">
                <a:solidFill>
                  <a:schemeClr val="tx1"/>
                </a:solidFill>
              </a:rPr>
              <a:t>학교폭력심의위원회</a:t>
            </a:r>
            <a:endParaRPr lang="en-US" sz="1600" dirty="0"/>
          </a:p>
        </p:txBody>
      </p:sp>
      <p:sp>
        <p:nvSpPr>
          <p:cNvPr id="20" name="Flow arrow"/>
          <p:cNvSpPr/>
          <p:nvPr/>
        </p:nvSpPr>
        <p:spPr>
          <a:xfrm>
            <a:off x="8805672" y="3337560"/>
            <a:ext cx="219456" cy="0"/>
          </a:xfrm>
          <a:prstGeom prst="line">
            <a:avLst/>
          </a:prstGeom>
          <a:noFill/>
          <a:ln w="31750">
            <a:solidFill>
              <a:schemeClr val="accent1"/>
            </a:solidFill>
            <a:prstDash val="solid"/>
            <a:tailEnd type="triangle"/>
          </a:ln>
        </p:spPr>
      </p:sp>
      <p:sp>
        <p:nvSpPr>
          <p:cNvPr id="21" name="Card"/>
          <p:cNvSpPr/>
          <p:nvPr/>
        </p:nvSpPr>
        <p:spPr>
          <a:xfrm>
            <a:off x="9052560" y="1463040"/>
            <a:ext cx="2560320" cy="3749040"/>
          </a:xfrm>
          <a:prstGeom prst="roundRect">
            <a:avLst>
              <a:gd name="adj" fmla="val 7143"/>
            </a:avLst>
          </a:prstGeom>
          <a:solidFill>
            <a:schemeClr val="tx2"/>
          </a:solidFill>
          <a:ln/>
          <a:effectLst>
            <a:outerShdw sx="100000" sy="100000" kx="0" ky="0" algn="bl" rotWithShape="0" blurRad="101600" dist="25400" dir="5400000">
              <a:srgbClr val="4A1D3F">
                <a:alpha val="28000"/>
              </a:srgbClr>
            </a:outerShdw>
          </a:effectLst>
        </p:spPr>
      </p:sp>
      <p:pic>
        <p:nvPicPr>
          <p:cNvPr id="22" name="Illustration" descr="preencoded.png">    </p:cNvPr>
          <p:cNvPicPr>
            <a:picLocks noChangeAspect="1"/>
          </p:cNvPicPr>
          <p:nvPr/>
        </p:nvPicPr>
        <p:blipFill>
          <a:blip r:embed="rId5"/>
          <a:stretch>
            <a:fillRect/>
          </a:stretch>
        </p:blipFill>
        <p:spPr>
          <a:xfrm>
            <a:off x="9646920" y="1988820"/>
            <a:ext cx="1371600" cy="1371600"/>
          </a:xfrm>
          <a:prstGeom prst="rect">
            <a:avLst/>
          </a:prstGeom>
        </p:spPr>
      </p:pic>
      <p:sp>
        <p:nvSpPr>
          <p:cNvPr id="23" name="Text 15"/>
          <p:cNvSpPr txBox="1"/>
          <p:nvPr/>
        </p:nvSpPr>
        <p:spPr>
          <a:xfrm>
            <a:off x="9235440" y="3543300"/>
            <a:ext cx="2194560" cy="502920"/>
          </a:xfrm>
          <a:prstGeom prst="rect">
            <a:avLst/>
          </a:prstGeom>
          <a:noFill/>
          <a:ln/>
        </p:spPr>
        <p:txBody>
          <a:bodyPr wrap="square" lIns="0" tIns="0" rIns="0" bIns="0" rtlCol="0" anchor="ctr"/>
          <a:lstStyle/>
          <a:p>
            <a:pPr algn="ctr" indent="0" marL="0">
              <a:buNone/>
            </a:pPr>
            <a:r>
              <a:rPr lang="en-US" sz="2300" b="1" dirty="0">
                <a:solidFill>
                  <a:schemeClr val="bg1"/>
                </a:solidFill>
              </a:rPr>
              <a:t>보호</a:t>
            </a:r>
            <a:endParaRPr lang="en-US" sz="2300" dirty="0"/>
          </a:p>
        </p:txBody>
      </p:sp>
      <p:sp>
        <p:nvSpPr>
          <p:cNvPr id="24" name="Text 16"/>
          <p:cNvSpPr txBox="1"/>
          <p:nvPr/>
        </p:nvSpPr>
        <p:spPr>
          <a:xfrm>
            <a:off x="9281160" y="4137660"/>
            <a:ext cx="2103120" cy="685800"/>
          </a:xfrm>
          <a:prstGeom prst="rect">
            <a:avLst/>
          </a:prstGeom>
          <a:noFill/>
          <a:ln/>
        </p:spPr>
        <p:txBody>
          <a:bodyPr wrap="square" lIns="0" tIns="0" rIns="0" bIns="0" rtlCol="0" anchor="t"/>
          <a:lstStyle/>
          <a:p>
            <a:pPr algn="ctr" indent="0" marL="0">
              <a:buNone/>
            </a:pPr>
            <a:r>
              <a:rPr lang="en-US" sz="1600" dirty="0">
                <a:solidFill>
                  <a:schemeClr val="accent3"/>
                </a:solidFill>
              </a:rPr>
              <a:t>접근금지</a:t>
            </a:r>
            <a:endParaRPr lang="en-US" sz="1600" dirty="0"/>
          </a:p>
          <a:p>
            <a:pPr algn="ctr" indent="0" marL="0">
              <a:buNone/>
            </a:pPr>
            <a:r>
              <a:rPr lang="en-US" sz="1600" dirty="0">
                <a:solidFill>
                  <a:schemeClr val="accent3"/>
                </a:solidFill>
              </a:rPr>
              <a:t>상담·의료 지원</a:t>
            </a:r>
            <a:endParaRPr lang="en-US" sz="1600" dirty="0"/>
          </a:p>
        </p:txBody>
      </p:sp>
      <p:sp>
        <p:nvSpPr>
          <p:cNvPr id="25" name="Tagline"/>
          <p:cNvSpPr txBox="1"/>
          <p:nvPr/>
        </p:nvSpPr>
        <p:spPr>
          <a:xfrm>
            <a:off x="548640" y="5440680"/>
            <a:ext cx="11064240" cy="365760"/>
          </a:xfrm>
          <a:prstGeom prst="rect">
            <a:avLst/>
          </a:prstGeom>
          <a:noFill/>
          <a:ln/>
        </p:spPr>
        <p:txBody>
          <a:bodyPr wrap="square" lIns="0" tIns="0" rIns="0" bIns="0" rtlCol="0" anchor="ctr"/>
          <a:lstStyle/>
          <a:p>
            <a:pPr indent="0" marL="0">
              <a:buNone/>
            </a:pPr>
            <a:r>
              <a:rPr lang="en-US" sz="1500" b="1" i="1" dirty="0">
                <a:solidFill>
                  <a:schemeClr val="accent1"/>
                </a:solidFill>
              </a:rPr>
              <a:t>신고한 사람의 비밀은 보호돼요 · 위험하면 접근금지를 꼭 요청하세요</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도움이 필요할 때 연락하세요</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4. 대처·예방·신고</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3474720" cy="2011680"/>
          </a:xfrm>
          <a:prstGeom prst="roundRect">
            <a:avLst>
              <a:gd name="adj" fmla="val 9091"/>
            </a:avLst>
          </a:prstGeom>
          <a:solidFill>
            <a:schemeClr val="accent1"/>
          </a:solidFill>
          <a:ln/>
          <a:effectLst>
            <a:outerShdw sx="100000" sy="100000" kx="0" ky="0" algn="bl" rotWithShape="0" blurRad="101600" dist="25400" dir="5400000">
              <a:srgbClr val="4A1D3F">
                <a:alpha val="28000"/>
              </a:srgbClr>
            </a:outerShdw>
          </a:effectLst>
        </p:spPr>
      </p:sp>
      <p:sp>
        <p:nvSpPr>
          <p:cNvPr id="7" name="Text 3"/>
          <p:cNvSpPr txBox="1"/>
          <p:nvPr/>
        </p:nvSpPr>
        <p:spPr>
          <a:xfrm>
            <a:off x="822960" y="1645920"/>
            <a:ext cx="2926080" cy="822960"/>
          </a:xfrm>
          <a:prstGeom prst="rect">
            <a:avLst/>
          </a:prstGeom>
          <a:noFill/>
          <a:ln/>
        </p:spPr>
        <p:txBody>
          <a:bodyPr wrap="square" lIns="0" tIns="0" rIns="0" bIns="0" rtlCol="0" anchor="ctr"/>
          <a:lstStyle/>
          <a:p>
            <a:pPr indent="0" marL="0">
              <a:buNone/>
            </a:pPr>
            <a:r>
              <a:rPr lang="en-US" sz="4000" b="1" dirty="0">
                <a:solidFill>
                  <a:schemeClr val="bg1"/>
                </a:solidFill>
              </a:rPr>
              <a:t>112</a:t>
            </a:r>
            <a:endParaRPr lang="en-US" sz="4000" dirty="0"/>
          </a:p>
        </p:txBody>
      </p:sp>
      <p:sp>
        <p:nvSpPr>
          <p:cNvPr id="8" name="Text 4"/>
          <p:cNvSpPr txBox="1"/>
          <p:nvPr/>
        </p:nvSpPr>
        <p:spPr>
          <a:xfrm>
            <a:off x="822960" y="2468880"/>
            <a:ext cx="2926080" cy="411480"/>
          </a:xfrm>
          <a:prstGeom prst="rect">
            <a:avLst/>
          </a:prstGeom>
          <a:noFill/>
          <a:ln/>
        </p:spPr>
        <p:txBody>
          <a:bodyPr wrap="square" lIns="0" tIns="0" rIns="0" bIns="0" rtlCol="0" anchor="ctr"/>
          <a:lstStyle/>
          <a:p>
            <a:pPr indent="0" marL="0">
              <a:buNone/>
            </a:pPr>
            <a:r>
              <a:rPr lang="en-US" sz="1700" b="1" dirty="0">
                <a:solidFill>
                  <a:schemeClr val="bg1"/>
                </a:solidFill>
              </a:rPr>
              <a:t>경찰 긴급 신고</a:t>
            </a:r>
            <a:endParaRPr lang="en-US" sz="1700" dirty="0"/>
          </a:p>
        </p:txBody>
      </p:sp>
      <p:sp>
        <p:nvSpPr>
          <p:cNvPr id="9" name="Text 5"/>
          <p:cNvSpPr txBox="1"/>
          <p:nvPr/>
        </p:nvSpPr>
        <p:spPr>
          <a:xfrm>
            <a:off x="822960" y="2880360"/>
            <a:ext cx="2926080" cy="411480"/>
          </a:xfrm>
          <a:prstGeom prst="rect">
            <a:avLst/>
          </a:prstGeom>
          <a:noFill/>
          <a:ln/>
        </p:spPr>
        <p:txBody>
          <a:bodyPr wrap="square" lIns="0" tIns="0" rIns="0" bIns="0" rtlCol="0" anchor="ctr"/>
          <a:lstStyle/>
          <a:p>
            <a:pPr indent="0" marL="0">
              <a:buNone/>
            </a:pPr>
            <a:r>
              <a:rPr lang="en-US" sz="1400" dirty="0">
                <a:solidFill>
                  <a:schemeClr val="bg1"/>
                </a:solidFill>
              </a:rPr>
              <a:t>문자 112도 가능</a:t>
            </a:r>
            <a:endParaRPr lang="en-US" sz="1400" dirty="0"/>
          </a:p>
        </p:txBody>
      </p:sp>
      <p:pic>
        <p:nvPicPr>
          <p:cNvPr id="10" name="Illustration" descr="preencoded.png">    </p:cNvPr>
          <p:cNvPicPr>
            <a:picLocks noChangeAspect="1"/>
          </p:cNvPicPr>
          <p:nvPr/>
        </p:nvPicPr>
        <p:blipFill>
          <a:blip r:embed="rId2"/>
          <a:stretch>
            <a:fillRect/>
          </a:stretch>
        </p:blipFill>
        <p:spPr>
          <a:xfrm>
            <a:off x="3246120" y="1737360"/>
            <a:ext cx="548640" cy="548640"/>
          </a:xfrm>
          <a:prstGeom prst="rect">
            <a:avLst/>
          </a:prstGeom>
        </p:spPr>
      </p:pic>
      <p:sp>
        <p:nvSpPr>
          <p:cNvPr id="11" name="Card"/>
          <p:cNvSpPr/>
          <p:nvPr/>
        </p:nvSpPr>
        <p:spPr>
          <a:xfrm>
            <a:off x="4297680" y="1463040"/>
            <a:ext cx="347472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12" name="Text 7"/>
          <p:cNvSpPr txBox="1"/>
          <p:nvPr/>
        </p:nvSpPr>
        <p:spPr>
          <a:xfrm>
            <a:off x="4572000" y="1645920"/>
            <a:ext cx="2926080" cy="822960"/>
          </a:xfrm>
          <a:prstGeom prst="rect">
            <a:avLst/>
          </a:prstGeom>
          <a:noFill/>
          <a:ln/>
        </p:spPr>
        <p:txBody>
          <a:bodyPr wrap="square" lIns="0" tIns="0" rIns="0" bIns="0" rtlCol="0" anchor="ctr"/>
          <a:lstStyle/>
          <a:p>
            <a:pPr indent="0" marL="0">
              <a:buNone/>
            </a:pPr>
            <a:r>
              <a:rPr lang="en-US" sz="4000" b="1" dirty="0">
                <a:solidFill>
                  <a:schemeClr val="accent1"/>
                </a:solidFill>
              </a:rPr>
              <a:t>117</a:t>
            </a:r>
            <a:endParaRPr lang="en-US" sz="4000" dirty="0"/>
          </a:p>
        </p:txBody>
      </p:sp>
      <p:sp>
        <p:nvSpPr>
          <p:cNvPr id="13" name="Text 8"/>
          <p:cNvSpPr txBox="1"/>
          <p:nvPr/>
        </p:nvSpPr>
        <p:spPr>
          <a:xfrm>
            <a:off x="4572000" y="2468880"/>
            <a:ext cx="2926080" cy="411480"/>
          </a:xfrm>
          <a:prstGeom prst="rect">
            <a:avLst/>
          </a:prstGeom>
          <a:noFill/>
          <a:ln/>
        </p:spPr>
        <p:txBody>
          <a:bodyPr wrap="square" lIns="0" tIns="0" rIns="0" bIns="0" rtlCol="0" anchor="ctr"/>
          <a:lstStyle/>
          <a:p>
            <a:pPr indent="0" marL="0">
              <a:buNone/>
            </a:pPr>
            <a:r>
              <a:rPr lang="en-US" sz="1700" b="1" dirty="0">
                <a:solidFill>
                  <a:schemeClr val="tx2"/>
                </a:solidFill>
              </a:rPr>
              <a:t>학교폭력 신고·상담</a:t>
            </a:r>
            <a:endParaRPr lang="en-US" sz="1700" dirty="0"/>
          </a:p>
        </p:txBody>
      </p:sp>
      <p:sp>
        <p:nvSpPr>
          <p:cNvPr id="14" name="Text 9"/>
          <p:cNvSpPr txBox="1"/>
          <p:nvPr/>
        </p:nvSpPr>
        <p:spPr>
          <a:xfrm>
            <a:off x="4572000" y="2880360"/>
            <a:ext cx="2926080" cy="411480"/>
          </a:xfrm>
          <a:prstGeom prst="rect">
            <a:avLst/>
          </a:prstGeom>
          <a:noFill/>
          <a:ln/>
        </p:spPr>
        <p:txBody>
          <a:bodyPr wrap="square" lIns="0" tIns="0" rIns="0" bIns="0" rtlCol="0" anchor="ctr"/>
          <a:lstStyle/>
          <a:p>
            <a:pPr indent="0" marL="0">
              <a:buNone/>
            </a:pPr>
            <a:r>
              <a:rPr lang="en-US" sz="1400" dirty="0">
                <a:solidFill>
                  <a:schemeClr val="tx1"/>
                </a:solidFill>
              </a:rPr>
              <a:t>문자 #0117</a:t>
            </a:r>
            <a:endParaRPr lang="en-US" sz="1400" dirty="0"/>
          </a:p>
        </p:txBody>
      </p:sp>
      <p:pic>
        <p:nvPicPr>
          <p:cNvPr id="15" name="Illustration" descr="preencoded.png">    </p:cNvPr>
          <p:cNvPicPr>
            <a:picLocks noChangeAspect="1"/>
          </p:cNvPicPr>
          <p:nvPr/>
        </p:nvPicPr>
        <p:blipFill>
          <a:blip r:embed="rId3"/>
          <a:stretch>
            <a:fillRect/>
          </a:stretch>
        </p:blipFill>
        <p:spPr>
          <a:xfrm>
            <a:off x="6995160" y="1737360"/>
            <a:ext cx="548640" cy="548640"/>
          </a:xfrm>
          <a:prstGeom prst="rect">
            <a:avLst/>
          </a:prstGeom>
        </p:spPr>
      </p:pic>
      <p:sp>
        <p:nvSpPr>
          <p:cNvPr id="16" name="Card"/>
          <p:cNvSpPr/>
          <p:nvPr/>
        </p:nvSpPr>
        <p:spPr>
          <a:xfrm>
            <a:off x="8046720" y="1463040"/>
            <a:ext cx="347472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17" name="Text 11"/>
          <p:cNvSpPr txBox="1"/>
          <p:nvPr/>
        </p:nvSpPr>
        <p:spPr>
          <a:xfrm>
            <a:off x="8321040" y="1645920"/>
            <a:ext cx="2926080" cy="822960"/>
          </a:xfrm>
          <a:prstGeom prst="rect">
            <a:avLst/>
          </a:prstGeom>
          <a:noFill/>
          <a:ln/>
        </p:spPr>
        <p:txBody>
          <a:bodyPr wrap="square" lIns="0" tIns="0" rIns="0" bIns="0" rtlCol="0" anchor="ctr"/>
          <a:lstStyle/>
          <a:p>
            <a:pPr indent="0" marL="0">
              <a:buNone/>
            </a:pPr>
            <a:r>
              <a:rPr lang="en-US" sz="4000" b="1" dirty="0">
                <a:solidFill>
                  <a:schemeClr val="accent1"/>
                </a:solidFill>
              </a:rPr>
              <a:t>1388</a:t>
            </a:r>
            <a:endParaRPr lang="en-US" sz="4000" dirty="0"/>
          </a:p>
        </p:txBody>
      </p:sp>
      <p:sp>
        <p:nvSpPr>
          <p:cNvPr id="18" name="Text 12"/>
          <p:cNvSpPr txBox="1"/>
          <p:nvPr/>
        </p:nvSpPr>
        <p:spPr>
          <a:xfrm>
            <a:off x="8321040" y="2468880"/>
            <a:ext cx="2926080" cy="411480"/>
          </a:xfrm>
          <a:prstGeom prst="rect">
            <a:avLst/>
          </a:prstGeom>
          <a:noFill/>
          <a:ln/>
        </p:spPr>
        <p:txBody>
          <a:bodyPr wrap="square" lIns="0" tIns="0" rIns="0" bIns="0" rtlCol="0" anchor="ctr"/>
          <a:lstStyle/>
          <a:p>
            <a:pPr indent="0" marL="0">
              <a:buNone/>
            </a:pPr>
            <a:r>
              <a:rPr lang="en-US" sz="1700" b="1" dirty="0">
                <a:solidFill>
                  <a:schemeClr val="tx2"/>
                </a:solidFill>
              </a:rPr>
              <a:t>청소년상담전화</a:t>
            </a:r>
            <a:endParaRPr lang="en-US" sz="1700" dirty="0"/>
          </a:p>
        </p:txBody>
      </p:sp>
      <p:sp>
        <p:nvSpPr>
          <p:cNvPr id="19" name="Text 13"/>
          <p:cNvSpPr txBox="1"/>
          <p:nvPr/>
        </p:nvSpPr>
        <p:spPr>
          <a:xfrm>
            <a:off x="8321040" y="2880360"/>
            <a:ext cx="2926080" cy="411480"/>
          </a:xfrm>
          <a:prstGeom prst="rect">
            <a:avLst/>
          </a:prstGeom>
          <a:noFill/>
          <a:ln/>
        </p:spPr>
        <p:txBody>
          <a:bodyPr wrap="square" lIns="0" tIns="0" rIns="0" bIns="0" rtlCol="0" anchor="ctr"/>
          <a:lstStyle/>
          <a:p>
            <a:pPr indent="0" marL="0">
              <a:buNone/>
            </a:pPr>
            <a:r>
              <a:rPr lang="en-US" sz="1400" dirty="0">
                <a:solidFill>
                  <a:schemeClr val="tx1"/>
                </a:solidFill>
              </a:rPr>
              <a:t>카카오톡 상담</a:t>
            </a:r>
            <a:endParaRPr lang="en-US" sz="1400" dirty="0"/>
          </a:p>
        </p:txBody>
      </p:sp>
      <p:pic>
        <p:nvPicPr>
          <p:cNvPr id="20" name="Illustration" descr="preencoded.png">    </p:cNvPr>
          <p:cNvPicPr>
            <a:picLocks noChangeAspect="1"/>
          </p:cNvPicPr>
          <p:nvPr/>
        </p:nvPicPr>
        <p:blipFill>
          <a:blip r:embed="rId4"/>
          <a:stretch>
            <a:fillRect/>
          </a:stretch>
        </p:blipFill>
        <p:spPr>
          <a:xfrm>
            <a:off x="10744200" y="1737360"/>
            <a:ext cx="548640" cy="548640"/>
          </a:xfrm>
          <a:prstGeom prst="rect">
            <a:avLst/>
          </a:prstGeom>
        </p:spPr>
      </p:pic>
      <p:sp>
        <p:nvSpPr>
          <p:cNvPr id="21" name="Card"/>
          <p:cNvSpPr/>
          <p:nvPr/>
        </p:nvSpPr>
        <p:spPr>
          <a:xfrm>
            <a:off x="548640" y="3703320"/>
            <a:ext cx="347472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22" name="Text 15"/>
          <p:cNvSpPr txBox="1"/>
          <p:nvPr/>
        </p:nvSpPr>
        <p:spPr>
          <a:xfrm>
            <a:off x="822960" y="3886200"/>
            <a:ext cx="2926080" cy="822960"/>
          </a:xfrm>
          <a:prstGeom prst="rect">
            <a:avLst/>
          </a:prstGeom>
          <a:noFill/>
          <a:ln/>
        </p:spPr>
        <p:txBody>
          <a:bodyPr wrap="square" lIns="0" tIns="0" rIns="0" bIns="0" rtlCol="0" anchor="ctr"/>
          <a:lstStyle/>
          <a:p>
            <a:pPr indent="0" marL="0">
              <a:buNone/>
            </a:pPr>
            <a:r>
              <a:rPr lang="en-US" sz="4000" b="1" dirty="0">
                <a:solidFill>
                  <a:schemeClr val="accent1"/>
                </a:solidFill>
              </a:rPr>
              <a:t>1366</a:t>
            </a:r>
            <a:endParaRPr lang="en-US" sz="4000" dirty="0"/>
          </a:p>
        </p:txBody>
      </p:sp>
      <p:sp>
        <p:nvSpPr>
          <p:cNvPr id="23" name="Text 16"/>
          <p:cNvSpPr txBox="1"/>
          <p:nvPr/>
        </p:nvSpPr>
        <p:spPr>
          <a:xfrm>
            <a:off x="822960" y="4709160"/>
            <a:ext cx="2926080" cy="411480"/>
          </a:xfrm>
          <a:prstGeom prst="rect">
            <a:avLst/>
          </a:prstGeom>
          <a:noFill/>
          <a:ln/>
        </p:spPr>
        <p:txBody>
          <a:bodyPr wrap="square" lIns="0" tIns="0" rIns="0" bIns="0" rtlCol="0" anchor="ctr"/>
          <a:lstStyle/>
          <a:p>
            <a:pPr indent="0" marL="0">
              <a:buNone/>
            </a:pPr>
            <a:r>
              <a:rPr lang="en-US" sz="1700" b="1" dirty="0">
                <a:solidFill>
                  <a:schemeClr val="tx2"/>
                </a:solidFill>
              </a:rPr>
              <a:t>여성긴급전화</a:t>
            </a:r>
            <a:endParaRPr lang="en-US" sz="1700" dirty="0"/>
          </a:p>
        </p:txBody>
      </p:sp>
      <p:sp>
        <p:nvSpPr>
          <p:cNvPr id="24" name="Text 17"/>
          <p:cNvSpPr txBox="1"/>
          <p:nvPr/>
        </p:nvSpPr>
        <p:spPr>
          <a:xfrm>
            <a:off x="822960" y="5120640"/>
            <a:ext cx="2926080" cy="411480"/>
          </a:xfrm>
          <a:prstGeom prst="rect">
            <a:avLst/>
          </a:prstGeom>
          <a:noFill/>
          <a:ln/>
        </p:spPr>
        <p:txBody>
          <a:bodyPr wrap="square" lIns="0" tIns="0" rIns="0" bIns="0" rtlCol="0" anchor="ctr"/>
          <a:lstStyle/>
          <a:p>
            <a:pPr indent="0" marL="0">
              <a:buNone/>
            </a:pPr>
            <a:r>
              <a:rPr lang="en-US" sz="1400" dirty="0">
                <a:solidFill>
                  <a:schemeClr val="tx1"/>
                </a:solidFill>
              </a:rPr>
              <a:t>24시간</a:t>
            </a:r>
            <a:endParaRPr lang="en-US" sz="1400" dirty="0"/>
          </a:p>
        </p:txBody>
      </p:sp>
      <p:pic>
        <p:nvPicPr>
          <p:cNvPr id="25" name="Illustration" descr="preencoded.png">    </p:cNvPr>
          <p:cNvPicPr>
            <a:picLocks noChangeAspect="1"/>
          </p:cNvPicPr>
          <p:nvPr/>
        </p:nvPicPr>
        <p:blipFill>
          <a:blip r:embed="rId5"/>
          <a:stretch>
            <a:fillRect/>
          </a:stretch>
        </p:blipFill>
        <p:spPr>
          <a:xfrm>
            <a:off x="3246120" y="3977640"/>
            <a:ext cx="548640" cy="548640"/>
          </a:xfrm>
          <a:prstGeom prst="rect">
            <a:avLst/>
          </a:prstGeom>
        </p:spPr>
      </p:pic>
      <p:sp>
        <p:nvSpPr>
          <p:cNvPr id="26" name="Card"/>
          <p:cNvSpPr/>
          <p:nvPr/>
        </p:nvSpPr>
        <p:spPr>
          <a:xfrm>
            <a:off x="4297680" y="3703320"/>
            <a:ext cx="347472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27" name="Text 19"/>
          <p:cNvSpPr txBox="1"/>
          <p:nvPr/>
        </p:nvSpPr>
        <p:spPr>
          <a:xfrm>
            <a:off x="4572000" y="3886200"/>
            <a:ext cx="2926080" cy="822960"/>
          </a:xfrm>
          <a:prstGeom prst="rect">
            <a:avLst/>
          </a:prstGeom>
          <a:noFill/>
          <a:ln/>
        </p:spPr>
        <p:txBody>
          <a:bodyPr wrap="square" lIns="0" tIns="0" rIns="0" bIns="0" rtlCol="0" anchor="ctr"/>
          <a:lstStyle/>
          <a:p>
            <a:pPr indent="0" marL="0">
              <a:buNone/>
            </a:pPr>
            <a:r>
              <a:rPr lang="en-US" sz="2800" b="1" dirty="0">
                <a:solidFill>
                  <a:schemeClr val="accent1"/>
                </a:solidFill>
              </a:rPr>
              <a:t>1899-3075</a:t>
            </a:r>
            <a:endParaRPr lang="en-US" sz="2800" dirty="0"/>
          </a:p>
        </p:txBody>
      </p:sp>
      <p:sp>
        <p:nvSpPr>
          <p:cNvPr id="28" name="Text 20"/>
          <p:cNvSpPr txBox="1"/>
          <p:nvPr/>
        </p:nvSpPr>
        <p:spPr>
          <a:xfrm>
            <a:off x="4572000" y="4709160"/>
            <a:ext cx="2926080" cy="411480"/>
          </a:xfrm>
          <a:prstGeom prst="rect">
            <a:avLst/>
          </a:prstGeom>
          <a:noFill/>
          <a:ln/>
        </p:spPr>
        <p:txBody>
          <a:bodyPr wrap="square" lIns="0" tIns="0" rIns="0" bIns="0" rtlCol="0" anchor="ctr"/>
          <a:lstStyle/>
          <a:p>
            <a:pPr indent="0" marL="0">
              <a:buNone/>
            </a:pPr>
            <a:r>
              <a:rPr lang="en-US" sz="1700" b="1" dirty="0">
                <a:solidFill>
                  <a:schemeClr val="tx2"/>
                </a:solidFill>
              </a:rPr>
              <a:t>해바라기센터</a:t>
            </a:r>
            <a:endParaRPr lang="en-US" sz="1700" dirty="0"/>
          </a:p>
        </p:txBody>
      </p:sp>
      <p:sp>
        <p:nvSpPr>
          <p:cNvPr id="29" name="Text 21"/>
          <p:cNvSpPr txBox="1"/>
          <p:nvPr/>
        </p:nvSpPr>
        <p:spPr>
          <a:xfrm>
            <a:off x="4572000" y="5120640"/>
            <a:ext cx="2926080" cy="411480"/>
          </a:xfrm>
          <a:prstGeom prst="rect">
            <a:avLst/>
          </a:prstGeom>
          <a:noFill/>
          <a:ln/>
        </p:spPr>
        <p:txBody>
          <a:bodyPr wrap="square" lIns="0" tIns="0" rIns="0" bIns="0" rtlCol="0" anchor="ctr"/>
          <a:lstStyle/>
          <a:p>
            <a:pPr indent="0" marL="0">
              <a:buNone/>
            </a:pPr>
            <a:r>
              <a:rPr lang="en-US" sz="1400" dirty="0">
                <a:solidFill>
                  <a:schemeClr val="tx1"/>
                </a:solidFill>
              </a:rPr>
              <a:t>의료·법률 통합 지원</a:t>
            </a:r>
            <a:endParaRPr lang="en-US" sz="1400" dirty="0"/>
          </a:p>
        </p:txBody>
      </p:sp>
      <p:pic>
        <p:nvPicPr>
          <p:cNvPr id="30" name="Illustration" descr="preencoded.png">    </p:cNvPr>
          <p:cNvPicPr>
            <a:picLocks noChangeAspect="1"/>
          </p:cNvPicPr>
          <p:nvPr/>
        </p:nvPicPr>
        <p:blipFill>
          <a:blip r:embed="rId6"/>
          <a:stretch>
            <a:fillRect/>
          </a:stretch>
        </p:blipFill>
        <p:spPr>
          <a:xfrm>
            <a:off x="6995160" y="3977640"/>
            <a:ext cx="548640" cy="548640"/>
          </a:xfrm>
          <a:prstGeom prst="rect">
            <a:avLst/>
          </a:prstGeom>
        </p:spPr>
      </p:pic>
      <p:sp>
        <p:nvSpPr>
          <p:cNvPr id="31" name="Card"/>
          <p:cNvSpPr/>
          <p:nvPr/>
        </p:nvSpPr>
        <p:spPr>
          <a:xfrm>
            <a:off x="8046720" y="3703320"/>
            <a:ext cx="3474720" cy="2011680"/>
          </a:xfrm>
          <a:prstGeom prst="roundRect">
            <a:avLst>
              <a:gd name="adj" fmla="val 9091"/>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32" name="Text 23"/>
          <p:cNvSpPr txBox="1"/>
          <p:nvPr/>
        </p:nvSpPr>
        <p:spPr>
          <a:xfrm>
            <a:off x="8321040" y="3886200"/>
            <a:ext cx="2926080" cy="822960"/>
          </a:xfrm>
          <a:prstGeom prst="rect">
            <a:avLst/>
          </a:prstGeom>
          <a:noFill/>
          <a:ln/>
        </p:spPr>
        <p:txBody>
          <a:bodyPr wrap="square" lIns="0" tIns="0" rIns="0" bIns="0" rtlCol="0" anchor="ctr"/>
          <a:lstStyle/>
          <a:p>
            <a:pPr indent="0" marL="0">
              <a:buNone/>
            </a:pPr>
            <a:r>
              <a:rPr lang="en-US" sz="2800" b="1" dirty="0">
                <a:solidFill>
                  <a:schemeClr val="accent1"/>
                </a:solidFill>
              </a:rPr>
              <a:t>02-735-8994</a:t>
            </a:r>
            <a:endParaRPr lang="en-US" sz="2800" dirty="0"/>
          </a:p>
        </p:txBody>
      </p:sp>
      <p:sp>
        <p:nvSpPr>
          <p:cNvPr id="33" name="Text 24"/>
          <p:cNvSpPr txBox="1"/>
          <p:nvPr/>
        </p:nvSpPr>
        <p:spPr>
          <a:xfrm>
            <a:off x="8321040" y="4709160"/>
            <a:ext cx="2926080" cy="411480"/>
          </a:xfrm>
          <a:prstGeom prst="rect">
            <a:avLst/>
          </a:prstGeom>
          <a:noFill/>
          <a:ln/>
        </p:spPr>
        <p:txBody>
          <a:bodyPr wrap="square" lIns="0" tIns="0" rIns="0" bIns="0" rtlCol="0" anchor="ctr"/>
          <a:lstStyle/>
          <a:p>
            <a:pPr indent="0" marL="0">
              <a:buNone/>
            </a:pPr>
            <a:r>
              <a:rPr lang="en-US" sz="1700" b="1" dirty="0">
                <a:solidFill>
                  <a:schemeClr val="tx2"/>
                </a:solidFill>
              </a:rPr>
              <a:t>디지털성범죄 지원센터</a:t>
            </a:r>
            <a:endParaRPr lang="en-US" sz="1700" dirty="0"/>
          </a:p>
        </p:txBody>
      </p:sp>
      <p:sp>
        <p:nvSpPr>
          <p:cNvPr id="34" name="Text 25"/>
          <p:cNvSpPr txBox="1"/>
          <p:nvPr/>
        </p:nvSpPr>
        <p:spPr>
          <a:xfrm>
            <a:off x="8321040" y="5120640"/>
            <a:ext cx="2926080" cy="411480"/>
          </a:xfrm>
          <a:prstGeom prst="rect">
            <a:avLst/>
          </a:prstGeom>
          <a:noFill/>
          <a:ln/>
        </p:spPr>
        <p:txBody>
          <a:bodyPr wrap="square" lIns="0" tIns="0" rIns="0" bIns="0" rtlCol="0" anchor="ctr"/>
          <a:lstStyle/>
          <a:p>
            <a:pPr indent="0" marL="0">
              <a:buNone/>
            </a:pPr>
            <a:r>
              <a:rPr lang="en-US" sz="1400" dirty="0">
                <a:solidFill>
                  <a:schemeClr val="tx1"/>
                </a:solidFill>
              </a:rPr>
              <a:t>불법촬영물 삭제</a:t>
            </a:r>
            <a:endParaRPr lang="en-US" sz="1400" dirty="0"/>
          </a:p>
        </p:txBody>
      </p:sp>
      <p:pic>
        <p:nvPicPr>
          <p:cNvPr id="35" name="Illustration" descr="preencoded.png">    </p:cNvPr>
          <p:cNvPicPr>
            <a:picLocks noChangeAspect="1"/>
          </p:cNvPicPr>
          <p:nvPr/>
        </p:nvPicPr>
        <p:blipFill>
          <a:blip r:embed="rId7"/>
          <a:stretch>
            <a:fillRect/>
          </a:stretch>
        </p:blipFill>
        <p:spPr>
          <a:xfrm>
            <a:off x="10744200" y="3977640"/>
            <a:ext cx="548640" cy="54864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건강한 관계 기술 3가지</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5. 노력과 다짐</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3474720" cy="4434840"/>
          </a:xfrm>
          <a:prstGeom prst="roundRect">
            <a:avLst>
              <a:gd name="adj" fmla="val 5263"/>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7" name="Illustration" descr="preencoded.png">    </p:cNvPr>
          <p:cNvPicPr>
            <a:picLocks noChangeAspect="1"/>
          </p:cNvPicPr>
          <p:nvPr/>
        </p:nvPicPr>
        <p:blipFill>
          <a:blip r:embed="rId2"/>
          <a:stretch>
            <a:fillRect/>
          </a:stretch>
        </p:blipFill>
        <p:spPr>
          <a:xfrm>
            <a:off x="1417320" y="2114550"/>
            <a:ext cx="1737360" cy="1737360"/>
          </a:xfrm>
          <a:prstGeom prst="rect">
            <a:avLst/>
          </a:prstGeom>
        </p:spPr>
      </p:pic>
      <p:sp>
        <p:nvSpPr>
          <p:cNvPr id="8" name="Text 3"/>
          <p:cNvSpPr txBox="1"/>
          <p:nvPr/>
        </p:nvSpPr>
        <p:spPr>
          <a:xfrm>
            <a:off x="731520" y="4034790"/>
            <a:ext cx="3108960" cy="502920"/>
          </a:xfrm>
          <a:prstGeom prst="rect">
            <a:avLst/>
          </a:prstGeom>
          <a:noFill/>
          <a:ln/>
        </p:spPr>
        <p:txBody>
          <a:bodyPr wrap="square" lIns="0" tIns="0" rIns="0" bIns="0" rtlCol="0" anchor="ctr"/>
          <a:lstStyle/>
          <a:p>
            <a:pPr algn="ctr" indent="0" marL="0">
              <a:buNone/>
            </a:pPr>
            <a:r>
              <a:rPr lang="en-US" sz="2300" b="1" dirty="0">
                <a:solidFill>
                  <a:schemeClr val="tx2"/>
                </a:solidFill>
              </a:rPr>
              <a:t>나-전달법</a:t>
            </a:r>
            <a:endParaRPr lang="en-US" sz="2300" dirty="0"/>
          </a:p>
        </p:txBody>
      </p:sp>
      <p:sp>
        <p:nvSpPr>
          <p:cNvPr id="9" name="Text 4"/>
          <p:cNvSpPr txBox="1"/>
          <p:nvPr/>
        </p:nvSpPr>
        <p:spPr>
          <a:xfrm>
            <a:off x="777240" y="4629150"/>
            <a:ext cx="3017520" cy="754380"/>
          </a:xfrm>
          <a:prstGeom prst="rect">
            <a:avLst/>
          </a:prstGeom>
          <a:noFill/>
          <a:ln/>
        </p:spPr>
        <p:txBody>
          <a:bodyPr wrap="square" lIns="0" tIns="0" rIns="0" bIns="0" rtlCol="0" anchor="t"/>
          <a:lstStyle/>
          <a:p>
            <a:pPr algn="ctr" indent="0" marL="0">
              <a:buNone/>
            </a:pPr>
            <a:r>
              <a:rPr lang="en-US" sz="1800" dirty="0">
                <a:solidFill>
                  <a:schemeClr val="tx1"/>
                </a:solidFill>
              </a:rPr>
              <a:t>“연락이 없으면</a:t>
            </a:r>
            <a:endParaRPr lang="en-US" sz="1800" dirty="0"/>
          </a:p>
          <a:p>
            <a:pPr algn="ctr" indent="0" marL="0">
              <a:buNone/>
            </a:pPr>
            <a:r>
              <a:rPr lang="en-US" sz="1800" dirty="0">
                <a:solidFill>
                  <a:schemeClr val="tx1"/>
                </a:solidFill>
              </a:rPr>
              <a:t>나는 걱정돼”</a:t>
            </a:r>
            <a:endParaRPr lang="en-US" sz="1800" dirty="0"/>
          </a:p>
        </p:txBody>
      </p:sp>
      <p:sp>
        <p:nvSpPr>
          <p:cNvPr id="10" name="Card"/>
          <p:cNvSpPr/>
          <p:nvPr/>
        </p:nvSpPr>
        <p:spPr>
          <a:xfrm>
            <a:off x="4297680" y="1463040"/>
            <a:ext cx="3474720" cy="4434840"/>
          </a:xfrm>
          <a:prstGeom prst="roundRect">
            <a:avLst>
              <a:gd name="adj" fmla="val 5263"/>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1" name="Illustration" descr="preencoded.png">    </p:cNvPr>
          <p:cNvPicPr>
            <a:picLocks noChangeAspect="1"/>
          </p:cNvPicPr>
          <p:nvPr/>
        </p:nvPicPr>
        <p:blipFill>
          <a:blip r:embed="rId3"/>
          <a:stretch>
            <a:fillRect/>
          </a:stretch>
        </p:blipFill>
        <p:spPr>
          <a:xfrm>
            <a:off x="5166360" y="2114550"/>
            <a:ext cx="1737360" cy="1737360"/>
          </a:xfrm>
          <a:prstGeom prst="rect">
            <a:avLst/>
          </a:prstGeom>
        </p:spPr>
      </p:pic>
      <p:sp>
        <p:nvSpPr>
          <p:cNvPr id="12" name="Text 6"/>
          <p:cNvSpPr txBox="1"/>
          <p:nvPr/>
        </p:nvSpPr>
        <p:spPr>
          <a:xfrm>
            <a:off x="4480560" y="4034790"/>
            <a:ext cx="3108960" cy="502920"/>
          </a:xfrm>
          <a:prstGeom prst="rect">
            <a:avLst/>
          </a:prstGeom>
          <a:noFill/>
          <a:ln/>
        </p:spPr>
        <p:txBody>
          <a:bodyPr wrap="square" lIns="0" tIns="0" rIns="0" bIns="0" rtlCol="0" anchor="ctr"/>
          <a:lstStyle/>
          <a:p>
            <a:pPr algn="ctr" indent="0" marL="0">
              <a:buNone/>
            </a:pPr>
            <a:r>
              <a:rPr lang="en-US" sz="2300" b="1" dirty="0">
                <a:solidFill>
                  <a:schemeClr val="tx2"/>
                </a:solidFill>
              </a:rPr>
              <a:t>경계 말하기</a:t>
            </a:r>
            <a:endParaRPr lang="en-US" sz="2300" dirty="0"/>
          </a:p>
        </p:txBody>
      </p:sp>
      <p:sp>
        <p:nvSpPr>
          <p:cNvPr id="13" name="Text 7"/>
          <p:cNvSpPr txBox="1"/>
          <p:nvPr/>
        </p:nvSpPr>
        <p:spPr>
          <a:xfrm>
            <a:off x="4526280" y="4629150"/>
            <a:ext cx="3017520" cy="754380"/>
          </a:xfrm>
          <a:prstGeom prst="rect">
            <a:avLst/>
          </a:prstGeom>
          <a:noFill/>
          <a:ln/>
        </p:spPr>
        <p:txBody>
          <a:bodyPr wrap="square" lIns="0" tIns="0" rIns="0" bIns="0" rtlCol="0" anchor="t"/>
          <a:lstStyle/>
          <a:p>
            <a:pPr algn="ctr" indent="0" marL="0">
              <a:buNone/>
            </a:pPr>
            <a:r>
              <a:rPr lang="en-US" sz="1800" dirty="0">
                <a:solidFill>
                  <a:schemeClr val="tx1"/>
                </a:solidFill>
              </a:rPr>
              <a:t>“그건 싫어.</a:t>
            </a:r>
            <a:endParaRPr lang="en-US" sz="1800" dirty="0"/>
          </a:p>
          <a:p>
            <a:pPr algn="ctr" indent="0" marL="0">
              <a:buNone/>
            </a:pPr>
            <a:r>
              <a:rPr lang="en-US" sz="1800" dirty="0">
                <a:solidFill>
                  <a:schemeClr val="tx1"/>
                </a:solidFill>
              </a:rPr>
              <a:t>너를 못 믿어서가 아니야”</a:t>
            </a:r>
            <a:endParaRPr lang="en-US" sz="1800" dirty="0"/>
          </a:p>
        </p:txBody>
      </p:sp>
      <p:sp>
        <p:nvSpPr>
          <p:cNvPr id="14" name="Card"/>
          <p:cNvSpPr/>
          <p:nvPr/>
        </p:nvSpPr>
        <p:spPr>
          <a:xfrm>
            <a:off x="8046720" y="1463040"/>
            <a:ext cx="3474720" cy="4434840"/>
          </a:xfrm>
          <a:prstGeom prst="roundRect">
            <a:avLst>
              <a:gd name="adj" fmla="val 5263"/>
            </a:avLst>
          </a:prstGeom>
          <a:solidFill>
            <a:schemeClr val="tx2"/>
          </a:solidFill>
          <a:ln/>
          <a:effectLst>
            <a:outerShdw sx="100000" sy="100000" kx="0" ky="0" algn="bl" rotWithShape="0" blurRad="101600" dist="25400" dir="5400000">
              <a:srgbClr val="4A1D3F">
                <a:alpha val="28000"/>
              </a:srgbClr>
            </a:outerShdw>
          </a:effectLst>
        </p:spPr>
      </p:sp>
      <p:pic>
        <p:nvPicPr>
          <p:cNvPr id="15" name="Illustration" descr="preencoded.png">    </p:cNvPr>
          <p:cNvPicPr>
            <a:picLocks noChangeAspect="1"/>
          </p:cNvPicPr>
          <p:nvPr/>
        </p:nvPicPr>
        <p:blipFill>
          <a:blip r:embed="rId4"/>
          <a:stretch>
            <a:fillRect/>
          </a:stretch>
        </p:blipFill>
        <p:spPr>
          <a:xfrm>
            <a:off x="8915400" y="2114550"/>
            <a:ext cx="1737360" cy="1737360"/>
          </a:xfrm>
          <a:prstGeom prst="rect">
            <a:avLst/>
          </a:prstGeom>
        </p:spPr>
      </p:pic>
      <p:sp>
        <p:nvSpPr>
          <p:cNvPr id="16" name="Text 9"/>
          <p:cNvSpPr txBox="1"/>
          <p:nvPr/>
        </p:nvSpPr>
        <p:spPr>
          <a:xfrm>
            <a:off x="8229600" y="4034790"/>
            <a:ext cx="3108960" cy="502920"/>
          </a:xfrm>
          <a:prstGeom prst="rect">
            <a:avLst/>
          </a:prstGeom>
          <a:noFill/>
          <a:ln/>
        </p:spPr>
        <p:txBody>
          <a:bodyPr wrap="square" lIns="0" tIns="0" rIns="0" bIns="0" rtlCol="0" anchor="ctr"/>
          <a:lstStyle/>
          <a:p>
            <a:pPr algn="ctr" indent="0" marL="0">
              <a:buNone/>
            </a:pPr>
            <a:r>
              <a:rPr lang="en-US" sz="2300" b="1" dirty="0">
                <a:solidFill>
                  <a:schemeClr val="bg1"/>
                </a:solidFill>
              </a:rPr>
              <a:t>잘 헤어지기</a:t>
            </a:r>
            <a:endParaRPr lang="en-US" sz="2300" dirty="0"/>
          </a:p>
        </p:txBody>
      </p:sp>
      <p:sp>
        <p:nvSpPr>
          <p:cNvPr id="17" name="Text 10"/>
          <p:cNvSpPr txBox="1"/>
          <p:nvPr/>
        </p:nvSpPr>
        <p:spPr>
          <a:xfrm>
            <a:off x="8275320" y="4629150"/>
            <a:ext cx="3017520" cy="754380"/>
          </a:xfrm>
          <a:prstGeom prst="rect">
            <a:avLst/>
          </a:prstGeom>
          <a:noFill/>
          <a:ln/>
        </p:spPr>
        <p:txBody>
          <a:bodyPr wrap="square" lIns="0" tIns="0" rIns="0" bIns="0" rtlCol="0" anchor="t"/>
          <a:lstStyle/>
          <a:p>
            <a:pPr algn="ctr" indent="0" marL="0">
              <a:buNone/>
            </a:pPr>
            <a:r>
              <a:rPr lang="en-US" sz="1800" dirty="0">
                <a:solidFill>
                  <a:schemeClr val="accent3"/>
                </a:solidFill>
              </a:rPr>
              <a:t>공개된 장소에서,</a:t>
            </a:r>
            <a:endParaRPr lang="en-US" sz="1800" dirty="0"/>
          </a:p>
          <a:p>
            <a:pPr algn="ctr" indent="0" marL="0">
              <a:buNone/>
            </a:pPr>
            <a:r>
              <a:rPr lang="en-US" sz="1800" dirty="0">
                <a:solidFill>
                  <a:schemeClr val="accent3"/>
                </a:solidFill>
              </a:rPr>
              <a:t>주변에 알리고</a:t>
            </a:r>
            <a:endParaRPr lang="en-US" sz="18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나는 좋은 연인일까?</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5. 노력과 다짐</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5394960" cy="1024128"/>
          </a:xfrm>
          <a:prstGeom prst="roundRect">
            <a:avLst>
              <a:gd name="adj" fmla="val 17857"/>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7" name="Checkbox"/>
          <p:cNvSpPr/>
          <p:nvPr/>
        </p:nvSpPr>
        <p:spPr>
          <a:xfrm>
            <a:off x="822960" y="1746504"/>
            <a:ext cx="457200" cy="457200"/>
          </a:xfrm>
          <a:prstGeom prst="roundRect">
            <a:avLst>
              <a:gd name="adj" fmla="val 16000"/>
            </a:avLst>
          </a:prstGeom>
          <a:solidFill>
            <a:schemeClr val="bg1"/>
          </a:solidFill>
          <a:ln w="25400">
            <a:solidFill>
              <a:schemeClr val="accent5"/>
            </a:solidFill>
            <a:prstDash val="solid"/>
          </a:ln>
        </p:spPr>
      </p:sp>
      <p:sp>
        <p:nvSpPr>
          <p:cNvPr id="8" name="Text 4"/>
          <p:cNvSpPr txBox="1"/>
          <p:nvPr/>
        </p:nvSpPr>
        <p:spPr>
          <a:xfrm>
            <a:off x="1508760" y="1463040"/>
            <a:ext cx="4297680" cy="1024128"/>
          </a:xfrm>
          <a:prstGeom prst="rect">
            <a:avLst/>
          </a:prstGeom>
          <a:noFill/>
          <a:ln/>
        </p:spPr>
        <p:txBody>
          <a:bodyPr wrap="square" lIns="0" tIns="0" rIns="0" bIns="0" rtlCol="0" anchor="ctr"/>
          <a:lstStyle/>
          <a:p>
            <a:pPr indent="0" marL="0">
              <a:buNone/>
            </a:pPr>
            <a:r>
              <a:rPr lang="en-US" sz="1900" dirty="0">
                <a:solidFill>
                  <a:schemeClr val="tx1"/>
                </a:solidFill>
              </a:rPr>
              <a:t>친구 만나는 걸 응원해 준다</a:t>
            </a:r>
            <a:endParaRPr lang="en-US" sz="1900" dirty="0"/>
          </a:p>
        </p:txBody>
      </p:sp>
      <p:sp>
        <p:nvSpPr>
          <p:cNvPr id="9" name="Card"/>
          <p:cNvSpPr/>
          <p:nvPr/>
        </p:nvSpPr>
        <p:spPr>
          <a:xfrm>
            <a:off x="6217920" y="1463040"/>
            <a:ext cx="5394960" cy="1024128"/>
          </a:xfrm>
          <a:prstGeom prst="roundRect">
            <a:avLst>
              <a:gd name="adj" fmla="val 17857"/>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10" name="Checkbox"/>
          <p:cNvSpPr/>
          <p:nvPr/>
        </p:nvSpPr>
        <p:spPr>
          <a:xfrm>
            <a:off x="6492240" y="1746504"/>
            <a:ext cx="457200" cy="457200"/>
          </a:xfrm>
          <a:prstGeom prst="roundRect">
            <a:avLst>
              <a:gd name="adj" fmla="val 16000"/>
            </a:avLst>
          </a:prstGeom>
          <a:solidFill>
            <a:schemeClr val="bg1"/>
          </a:solidFill>
          <a:ln w="25400">
            <a:solidFill>
              <a:schemeClr val="accent5"/>
            </a:solidFill>
            <a:prstDash val="solid"/>
          </a:ln>
        </p:spPr>
      </p:sp>
      <p:sp>
        <p:nvSpPr>
          <p:cNvPr id="11" name="Text 7"/>
          <p:cNvSpPr txBox="1"/>
          <p:nvPr/>
        </p:nvSpPr>
        <p:spPr>
          <a:xfrm>
            <a:off x="7178040" y="1463040"/>
            <a:ext cx="4297680" cy="1024128"/>
          </a:xfrm>
          <a:prstGeom prst="rect">
            <a:avLst/>
          </a:prstGeom>
          <a:noFill/>
          <a:ln/>
        </p:spPr>
        <p:txBody>
          <a:bodyPr wrap="square" lIns="0" tIns="0" rIns="0" bIns="0" rtlCol="0" anchor="ctr"/>
          <a:lstStyle/>
          <a:p>
            <a:pPr indent="0" marL="0">
              <a:buNone/>
            </a:pPr>
            <a:r>
              <a:rPr lang="en-US" sz="1900" dirty="0">
                <a:solidFill>
                  <a:schemeClr val="tx1"/>
                </a:solidFill>
              </a:rPr>
              <a:t>연락이 늦어도 기다려 준다</a:t>
            </a:r>
            <a:endParaRPr lang="en-US" sz="1900" dirty="0"/>
          </a:p>
        </p:txBody>
      </p:sp>
      <p:sp>
        <p:nvSpPr>
          <p:cNvPr id="12" name="Card"/>
          <p:cNvSpPr/>
          <p:nvPr/>
        </p:nvSpPr>
        <p:spPr>
          <a:xfrm>
            <a:off x="548640" y="2697480"/>
            <a:ext cx="5394960" cy="1024128"/>
          </a:xfrm>
          <a:prstGeom prst="roundRect">
            <a:avLst>
              <a:gd name="adj" fmla="val 17857"/>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13" name="Checkbox"/>
          <p:cNvSpPr/>
          <p:nvPr/>
        </p:nvSpPr>
        <p:spPr>
          <a:xfrm>
            <a:off x="822960" y="2980944"/>
            <a:ext cx="457200" cy="457200"/>
          </a:xfrm>
          <a:prstGeom prst="roundRect">
            <a:avLst>
              <a:gd name="adj" fmla="val 16000"/>
            </a:avLst>
          </a:prstGeom>
          <a:solidFill>
            <a:schemeClr val="bg1"/>
          </a:solidFill>
          <a:ln w="25400">
            <a:solidFill>
              <a:schemeClr val="accent5"/>
            </a:solidFill>
            <a:prstDash val="solid"/>
          </a:ln>
        </p:spPr>
      </p:sp>
      <p:sp>
        <p:nvSpPr>
          <p:cNvPr id="14" name="Text 10"/>
          <p:cNvSpPr txBox="1"/>
          <p:nvPr/>
        </p:nvSpPr>
        <p:spPr>
          <a:xfrm>
            <a:off x="1508760" y="2697480"/>
            <a:ext cx="4297680" cy="1024128"/>
          </a:xfrm>
          <a:prstGeom prst="rect">
            <a:avLst/>
          </a:prstGeom>
          <a:noFill/>
          <a:ln/>
        </p:spPr>
        <p:txBody>
          <a:bodyPr wrap="square" lIns="0" tIns="0" rIns="0" bIns="0" rtlCol="0" anchor="ctr"/>
          <a:lstStyle/>
          <a:p>
            <a:pPr indent="0" marL="0">
              <a:buNone/>
            </a:pPr>
            <a:r>
              <a:rPr lang="en-US" sz="1900" dirty="0">
                <a:solidFill>
                  <a:schemeClr val="tx1"/>
                </a:solidFill>
              </a:rPr>
              <a:t>스킨십 전에 마음을 묻는다</a:t>
            </a:r>
            <a:endParaRPr lang="en-US" sz="1900" dirty="0"/>
          </a:p>
        </p:txBody>
      </p:sp>
      <p:sp>
        <p:nvSpPr>
          <p:cNvPr id="15" name="Card"/>
          <p:cNvSpPr/>
          <p:nvPr/>
        </p:nvSpPr>
        <p:spPr>
          <a:xfrm>
            <a:off x="6217920" y="2697480"/>
            <a:ext cx="5394960" cy="1024128"/>
          </a:xfrm>
          <a:prstGeom prst="roundRect">
            <a:avLst>
              <a:gd name="adj" fmla="val 17857"/>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16" name="Checkbox"/>
          <p:cNvSpPr/>
          <p:nvPr/>
        </p:nvSpPr>
        <p:spPr>
          <a:xfrm>
            <a:off x="6492240" y="2980944"/>
            <a:ext cx="457200" cy="457200"/>
          </a:xfrm>
          <a:prstGeom prst="roundRect">
            <a:avLst>
              <a:gd name="adj" fmla="val 16000"/>
            </a:avLst>
          </a:prstGeom>
          <a:solidFill>
            <a:schemeClr val="bg1"/>
          </a:solidFill>
          <a:ln w="25400">
            <a:solidFill>
              <a:schemeClr val="accent5"/>
            </a:solidFill>
            <a:prstDash val="solid"/>
          </a:ln>
        </p:spPr>
      </p:sp>
      <p:sp>
        <p:nvSpPr>
          <p:cNvPr id="17" name="Text 13"/>
          <p:cNvSpPr txBox="1"/>
          <p:nvPr/>
        </p:nvSpPr>
        <p:spPr>
          <a:xfrm>
            <a:off x="7178040" y="2697480"/>
            <a:ext cx="4297680" cy="1024128"/>
          </a:xfrm>
          <a:prstGeom prst="rect">
            <a:avLst/>
          </a:prstGeom>
          <a:noFill/>
          <a:ln/>
        </p:spPr>
        <p:txBody>
          <a:bodyPr wrap="square" lIns="0" tIns="0" rIns="0" bIns="0" rtlCol="0" anchor="ctr"/>
          <a:lstStyle/>
          <a:p>
            <a:pPr indent="0" marL="0">
              <a:buNone/>
            </a:pPr>
            <a:r>
              <a:rPr lang="en-US" sz="1900" dirty="0">
                <a:solidFill>
                  <a:schemeClr val="tx1"/>
                </a:solidFill>
              </a:rPr>
              <a:t>화나면 멈추고 말로 한다</a:t>
            </a:r>
            <a:endParaRPr lang="en-US" sz="1900" dirty="0"/>
          </a:p>
        </p:txBody>
      </p:sp>
      <p:sp>
        <p:nvSpPr>
          <p:cNvPr id="18" name="Card"/>
          <p:cNvSpPr/>
          <p:nvPr/>
        </p:nvSpPr>
        <p:spPr>
          <a:xfrm>
            <a:off x="548640" y="3931920"/>
            <a:ext cx="5394960" cy="1024128"/>
          </a:xfrm>
          <a:prstGeom prst="roundRect">
            <a:avLst>
              <a:gd name="adj" fmla="val 17857"/>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19" name="Checkbox"/>
          <p:cNvSpPr/>
          <p:nvPr/>
        </p:nvSpPr>
        <p:spPr>
          <a:xfrm>
            <a:off x="822960" y="4215384"/>
            <a:ext cx="457200" cy="457200"/>
          </a:xfrm>
          <a:prstGeom prst="roundRect">
            <a:avLst>
              <a:gd name="adj" fmla="val 16000"/>
            </a:avLst>
          </a:prstGeom>
          <a:solidFill>
            <a:schemeClr val="bg1"/>
          </a:solidFill>
          <a:ln w="25400">
            <a:solidFill>
              <a:schemeClr val="accent5"/>
            </a:solidFill>
            <a:prstDash val="solid"/>
          </a:ln>
        </p:spPr>
      </p:sp>
      <p:sp>
        <p:nvSpPr>
          <p:cNvPr id="20" name="Text 16"/>
          <p:cNvSpPr txBox="1"/>
          <p:nvPr/>
        </p:nvSpPr>
        <p:spPr>
          <a:xfrm>
            <a:off x="1508760" y="3931920"/>
            <a:ext cx="4297680" cy="1024128"/>
          </a:xfrm>
          <a:prstGeom prst="rect">
            <a:avLst/>
          </a:prstGeom>
          <a:noFill/>
          <a:ln/>
        </p:spPr>
        <p:txBody>
          <a:bodyPr wrap="square" lIns="0" tIns="0" rIns="0" bIns="0" rtlCol="0" anchor="ctr"/>
          <a:lstStyle/>
          <a:p>
            <a:pPr indent="0" marL="0">
              <a:buNone/>
            </a:pPr>
            <a:r>
              <a:rPr lang="en-US" sz="1900" dirty="0">
                <a:solidFill>
                  <a:schemeClr val="tx1"/>
                </a:solidFill>
              </a:rPr>
              <a:t>몰래 휴대폰을 보지 않는다</a:t>
            </a:r>
            <a:endParaRPr lang="en-US" sz="1900" dirty="0"/>
          </a:p>
        </p:txBody>
      </p:sp>
      <p:sp>
        <p:nvSpPr>
          <p:cNvPr id="21" name="Card"/>
          <p:cNvSpPr/>
          <p:nvPr/>
        </p:nvSpPr>
        <p:spPr>
          <a:xfrm>
            <a:off x="6217920" y="3931920"/>
            <a:ext cx="5394960" cy="1024128"/>
          </a:xfrm>
          <a:prstGeom prst="roundRect">
            <a:avLst>
              <a:gd name="adj" fmla="val 17857"/>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22" name="Checkbox"/>
          <p:cNvSpPr/>
          <p:nvPr/>
        </p:nvSpPr>
        <p:spPr>
          <a:xfrm>
            <a:off x="6492240" y="4215384"/>
            <a:ext cx="457200" cy="457200"/>
          </a:xfrm>
          <a:prstGeom prst="roundRect">
            <a:avLst>
              <a:gd name="adj" fmla="val 16000"/>
            </a:avLst>
          </a:prstGeom>
          <a:solidFill>
            <a:schemeClr val="bg1"/>
          </a:solidFill>
          <a:ln w="25400">
            <a:solidFill>
              <a:schemeClr val="accent5"/>
            </a:solidFill>
            <a:prstDash val="solid"/>
          </a:ln>
        </p:spPr>
      </p:sp>
      <p:sp>
        <p:nvSpPr>
          <p:cNvPr id="23" name="Text 19"/>
          <p:cNvSpPr txBox="1"/>
          <p:nvPr/>
        </p:nvSpPr>
        <p:spPr>
          <a:xfrm>
            <a:off x="7178040" y="3931920"/>
            <a:ext cx="4297680" cy="1024128"/>
          </a:xfrm>
          <a:prstGeom prst="rect">
            <a:avLst/>
          </a:prstGeom>
          <a:noFill/>
          <a:ln/>
        </p:spPr>
        <p:txBody>
          <a:bodyPr wrap="square" lIns="0" tIns="0" rIns="0" bIns="0" rtlCol="0" anchor="ctr"/>
          <a:lstStyle/>
          <a:p>
            <a:pPr indent="0" marL="0">
              <a:buNone/>
            </a:pPr>
            <a:r>
              <a:rPr lang="en-US" sz="1900" dirty="0">
                <a:solidFill>
                  <a:schemeClr val="tx1"/>
                </a:solidFill>
              </a:rPr>
              <a:t>이별도 존중할 수 있다</a:t>
            </a:r>
            <a:endParaRPr lang="en-US" sz="1900" dirty="0"/>
          </a:p>
        </p:txBody>
      </p:sp>
      <p:sp>
        <p:nvSpPr>
          <p:cNvPr id="24" name="Tagline"/>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500" b="1" i="1" dirty="0">
                <a:solidFill>
                  <a:schemeClr val="accent1"/>
                </a:solidFill>
              </a:rPr>
              <a:t>체크 못 한 칸 = 내가 연습할 부분</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3" name="Promise icon" descr="preencoded.png">    </p:cNvPr>
          <p:cNvPicPr>
            <a:picLocks noChangeAspect="1"/>
          </p:cNvPicPr>
          <p:nvPr/>
        </p:nvPicPr>
        <p:blipFill>
          <a:blip r:embed="rId1"/>
          <a:stretch>
            <a:fillRect/>
          </a:stretch>
        </p:blipFill>
        <p:spPr>
          <a:xfrm>
            <a:off x="731520" y="640080"/>
            <a:ext cx="914400" cy="914400"/>
          </a:xfrm>
          <a:prstGeom prst="rect">
            <a:avLst/>
          </a:prstGeom>
        </p:spPr>
      </p:pic>
      <p:sp>
        <p:nvSpPr>
          <p:cNvPr id="4" name="Text 0"/>
          <p:cNvSpPr txBox="1"/>
          <p:nvPr/>
        </p:nvSpPr>
        <p:spPr>
          <a:xfrm>
            <a:off x="1828800" y="640080"/>
            <a:ext cx="8229600" cy="914400"/>
          </a:xfrm>
          <a:prstGeom prst="rect">
            <a:avLst/>
          </a:prstGeom>
          <a:noFill/>
          <a:ln/>
        </p:spPr>
        <p:txBody>
          <a:bodyPr wrap="square" lIns="0" tIns="0" rIns="0" bIns="0" rtlCol="0" anchor="ctr"/>
          <a:lstStyle/>
          <a:p>
            <a:pPr indent="0" marL="0">
              <a:buNone/>
            </a:pPr>
            <a:r>
              <a:rPr lang="en-US" sz="3600" b="1" dirty="0">
                <a:solidFill>
                  <a:schemeClr val="bg1"/>
                </a:solidFill>
              </a:rPr>
              <a:t>나의 약속</a:t>
            </a:r>
            <a:endParaRPr lang="en-US" sz="3600" dirty="0"/>
          </a:p>
        </p:txBody>
      </p:sp>
      <p:sp>
        <p:nvSpPr>
          <p:cNvPr id="5" name="Illustration frame"/>
          <p:cNvSpPr/>
          <p:nvPr/>
        </p:nvSpPr>
        <p:spPr>
          <a:xfrm>
            <a:off x="9098280" y="1828800"/>
            <a:ext cx="2651760" cy="2651760"/>
          </a:xfrm>
          <a:prstGeom prst="ellipse">
            <a:avLst/>
          </a:prstGeom>
          <a:solidFill>
            <a:schemeClr val="bg1">
              <a:alpha val="12000"/>
            </a:schemeClr>
          </a:solidFill>
          <a:ln w="19050">
            <a:solidFill>
              <a:schemeClr val="accent3"/>
            </a:solidFill>
            <a:prstDash val="dash"/>
          </a:ln>
        </p:spPr>
      </p:sp>
      <p:pic>
        <p:nvPicPr>
          <p:cNvPr id="6" name="Illustration" descr="preencoded.png">    </p:cNvPr>
          <p:cNvPicPr>
            <a:picLocks noChangeAspect="1"/>
          </p:cNvPicPr>
          <p:nvPr/>
        </p:nvPicPr>
        <p:blipFill>
          <a:blip r:embed="rId2"/>
          <a:stretch>
            <a:fillRect/>
          </a:stretch>
        </p:blipFill>
        <p:spPr>
          <a:xfrm>
            <a:off x="9509760" y="2240280"/>
            <a:ext cx="1828800" cy="1828800"/>
          </a:xfrm>
          <a:prstGeom prst="rect">
            <a:avLst/>
          </a:prstGeom>
        </p:spPr>
      </p:pic>
      <p:sp>
        <p:nvSpPr>
          <p:cNvPr id="7" name="Text 2"/>
          <p:cNvSpPr txBox="1"/>
          <p:nvPr/>
        </p:nvSpPr>
        <p:spPr>
          <a:xfrm>
            <a:off x="731520" y="1828800"/>
            <a:ext cx="548640" cy="594360"/>
          </a:xfrm>
          <a:prstGeom prst="rect">
            <a:avLst/>
          </a:prstGeom>
          <a:noFill/>
          <a:ln/>
        </p:spPr>
        <p:txBody>
          <a:bodyPr wrap="square" lIns="0" tIns="0" rIns="0" bIns="0" rtlCol="0" anchor="ctr"/>
          <a:lstStyle/>
          <a:p>
            <a:pPr indent="0" marL="0">
              <a:buNone/>
            </a:pPr>
            <a:r>
              <a:rPr lang="en-US" sz="2400" b="1" dirty="0">
                <a:solidFill>
                  <a:schemeClr val="accent1"/>
                </a:solidFill>
              </a:rPr>
              <a:t>1</a:t>
            </a:r>
            <a:endParaRPr lang="en-US" sz="2400" dirty="0"/>
          </a:p>
        </p:txBody>
      </p:sp>
      <p:sp>
        <p:nvSpPr>
          <p:cNvPr id="8" name="Text 3"/>
          <p:cNvSpPr txBox="1"/>
          <p:nvPr/>
        </p:nvSpPr>
        <p:spPr>
          <a:xfrm>
            <a:off x="1371600" y="1828800"/>
            <a:ext cx="7589520" cy="594360"/>
          </a:xfrm>
          <a:prstGeom prst="rect">
            <a:avLst/>
          </a:prstGeom>
          <a:noFill/>
          <a:ln/>
        </p:spPr>
        <p:txBody>
          <a:bodyPr wrap="square" lIns="0" tIns="0" rIns="0" bIns="0" rtlCol="0" anchor="ctr"/>
          <a:lstStyle/>
          <a:p>
            <a:pPr indent="0" marL="0">
              <a:buNone/>
            </a:pPr>
            <a:r>
              <a:rPr lang="en-US" sz="2200" dirty="0">
                <a:solidFill>
                  <a:schemeClr val="bg1"/>
                </a:solidFill>
              </a:rPr>
              <a:t>사랑을 핑계로 감시하지 않겠습니다</a:t>
            </a:r>
            <a:endParaRPr lang="en-US" sz="2200" dirty="0"/>
          </a:p>
        </p:txBody>
      </p:sp>
      <p:sp>
        <p:nvSpPr>
          <p:cNvPr id="9" name="Text 4"/>
          <p:cNvSpPr txBox="1"/>
          <p:nvPr/>
        </p:nvSpPr>
        <p:spPr>
          <a:xfrm>
            <a:off x="731520" y="2578608"/>
            <a:ext cx="548640" cy="594360"/>
          </a:xfrm>
          <a:prstGeom prst="rect">
            <a:avLst/>
          </a:prstGeom>
          <a:noFill/>
          <a:ln/>
        </p:spPr>
        <p:txBody>
          <a:bodyPr wrap="square" lIns="0" tIns="0" rIns="0" bIns="0" rtlCol="0" anchor="ctr"/>
          <a:lstStyle/>
          <a:p>
            <a:pPr indent="0" marL="0">
              <a:buNone/>
            </a:pPr>
            <a:r>
              <a:rPr lang="en-US" sz="2400" b="1" dirty="0">
                <a:solidFill>
                  <a:schemeClr val="accent1"/>
                </a:solidFill>
              </a:rPr>
              <a:t>2</a:t>
            </a:r>
            <a:endParaRPr lang="en-US" sz="2400" dirty="0"/>
          </a:p>
        </p:txBody>
      </p:sp>
      <p:sp>
        <p:nvSpPr>
          <p:cNvPr id="10" name="Text 5"/>
          <p:cNvSpPr txBox="1"/>
          <p:nvPr/>
        </p:nvSpPr>
        <p:spPr>
          <a:xfrm>
            <a:off x="1371600" y="2578608"/>
            <a:ext cx="7589520" cy="594360"/>
          </a:xfrm>
          <a:prstGeom prst="rect">
            <a:avLst/>
          </a:prstGeom>
          <a:noFill/>
          <a:ln/>
        </p:spPr>
        <p:txBody>
          <a:bodyPr wrap="square" lIns="0" tIns="0" rIns="0" bIns="0" rtlCol="0" anchor="ctr"/>
          <a:lstStyle/>
          <a:p>
            <a:pPr indent="0" marL="0">
              <a:buNone/>
            </a:pPr>
            <a:r>
              <a:rPr lang="en-US" sz="2200" dirty="0">
                <a:solidFill>
                  <a:schemeClr val="bg1"/>
                </a:solidFill>
              </a:rPr>
              <a:t>‘싫어’를 존중하겠습니다</a:t>
            </a:r>
            <a:endParaRPr lang="en-US" sz="2200" dirty="0"/>
          </a:p>
        </p:txBody>
      </p:sp>
      <p:sp>
        <p:nvSpPr>
          <p:cNvPr id="11" name="Text 6"/>
          <p:cNvSpPr txBox="1"/>
          <p:nvPr/>
        </p:nvSpPr>
        <p:spPr>
          <a:xfrm>
            <a:off x="731520" y="3328416"/>
            <a:ext cx="548640" cy="594360"/>
          </a:xfrm>
          <a:prstGeom prst="rect">
            <a:avLst/>
          </a:prstGeom>
          <a:noFill/>
          <a:ln/>
        </p:spPr>
        <p:txBody>
          <a:bodyPr wrap="square" lIns="0" tIns="0" rIns="0" bIns="0" rtlCol="0" anchor="ctr"/>
          <a:lstStyle/>
          <a:p>
            <a:pPr indent="0" marL="0">
              <a:buNone/>
            </a:pPr>
            <a:r>
              <a:rPr lang="en-US" sz="2400" b="1" dirty="0">
                <a:solidFill>
                  <a:schemeClr val="accent1"/>
                </a:solidFill>
              </a:rPr>
              <a:t>3</a:t>
            </a:r>
            <a:endParaRPr lang="en-US" sz="2400" dirty="0"/>
          </a:p>
        </p:txBody>
      </p:sp>
      <p:sp>
        <p:nvSpPr>
          <p:cNvPr id="12" name="Text 7"/>
          <p:cNvSpPr txBox="1"/>
          <p:nvPr/>
        </p:nvSpPr>
        <p:spPr>
          <a:xfrm>
            <a:off x="1371600" y="3328416"/>
            <a:ext cx="7589520" cy="594360"/>
          </a:xfrm>
          <a:prstGeom prst="rect">
            <a:avLst/>
          </a:prstGeom>
          <a:noFill/>
          <a:ln/>
        </p:spPr>
        <p:txBody>
          <a:bodyPr wrap="square" lIns="0" tIns="0" rIns="0" bIns="0" rtlCol="0" anchor="ctr"/>
          <a:lstStyle/>
          <a:p>
            <a:pPr indent="0" marL="0">
              <a:buNone/>
            </a:pPr>
            <a:r>
              <a:rPr lang="en-US" sz="2200" dirty="0">
                <a:solidFill>
                  <a:schemeClr val="bg1"/>
                </a:solidFill>
              </a:rPr>
              <a:t>화가 나도 말로 풀겠습니다</a:t>
            </a:r>
            <a:endParaRPr lang="en-US" sz="2200" dirty="0"/>
          </a:p>
        </p:txBody>
      </p:sp>
      <p:sp>
        <p:nvSpPr>
          <p:cNvPr id="13" name="Text 8"/>
          <p:cNvSpPr txBox="1"/>
          <p:nvPr/>
        </p:nvSpPr>
        <p:spPr>
          <a:xfrm>
            <a:off x="731520" y="4078224"/>
            <a:ext cx="548640" cy="594360"/>
          </a:xfrm>
          <a:prstGeom prst="rect">
            <a:avLst/>
          </a:prstGeom>
          <a:noFill/>
          <a:ln/>
        </p:spPr>
        <p:txBody>
          <a:bodyPr wrap="square" lIns="0" tIns="0" rIns="0" bIns="0" rtlCol="0" anchor="ctr"/>
          <a:lstStyle/>
          <a:p>
            <a:pPr indent="0" marL="0">
              <a:buNone/>
            </a:pPr>
            <a:r>
              <a:rPr lang="en-US" sz="2400" b="1" dirty="0">
                <a:solidFill>
                  <a:schemeClr val="accent1"/>
                </a:solidFill>
              </a:rPr>
              <a:t>4</a:t>
            </a:r>
            <a:endParaRPr lang="en-US" sz="2400" dirty="0"/>
          </a:p>
        </p:txBody>
      </p:sp>
      <p:sp>
        <p:nvSpPr>
          <p:cNvPr id="14" name="Text 9"/>
          <p:cNvSpPr txBox="1"/>
          <p:nvPr/>
        </p:nvSpPr>
        <p:spPr>
          <a:xfrm>
            <a:off x="1371600" y="4078224"/>
            <a:ext cx="7589520" cy="594360"/>
          </a:xfrm>
          <a:prstGeom prst="rect">
            <a:avLst/>
          </a:prstGeom>
          <a:noFill/>
          <a:ln/>
        </p:spPr>
        <p:txBody>
          <a:bodyPr wrap="square" lIns="0" tIns="0" rIns="0" bIns="0" rtlCol="0" anchor="ctr"/>
          <a:lstStyle/>
          <a:p>
            <a:pPr indent="0" marL="0">
              <a:buNone/>
            </a:pPr>
            <a:r>
              <a:rPr lang="en-US" sz="2200" dirty="0">
                <a:solidFill>
                  <a:schemeClr val="bg1"/>
                </a:solidFill>
              </a:rPr>
              <a:t>이별을 받아들이겠습니다</a:t>
            </a:r>
            <a:endParaRPr lang="en-US" sz="2200" dirty="0"/>
          </a:p>
        </p:txBody>
      </p:sp>
      <p:sp>
        <p:nvSpPr>
          <p:cNvPr id="15" name="Text 10"/>
          <p:cNvSpPr txBox="1"/>
          <p:nvPr/>
        </p:nvSpPr>
        <p:spPr>
          <a:xfrm>
            <a:off x="731520" y="4828032"/>
            <a:ext cx="548640" cy="594360"/>
          </a:xfrm>
          <a:prstGeom prst="rect">
            <a:avLst/>
          </a:prstGeom>
          <a:noFill/>
          <a:ln/>
        </p:spPr>
        <p:txBody>
          <a:bodyPr wrap="square" lIns="0" tIns="0" rIns="0" bIns="0" rtlCol="0" anchor="ctr"/>
          <a:lstStyle/>
          <a:p>
            <a:pPr indent="0" marL="0">
              <a:buNone/>
            </a:pPr>
            <a:r>
              <a:rPr lang="en-US" sz="2400" b="1" dirty="0">
                <a:solidFill>
                  <a:schemeClr val="accent1"/>
                </a:solidFill>
              </a:rPr>
              <a:t>5</a:t>
            </a:r>
            <a:endParaRPr lang="en-US" sz="2400" dirty="0"/>
          </a:p>
        </p:txBody>
      </p:sp>
      <p:sp>
        <p:nvSpPr>
          <p:cNvPr id="16" name="Text 11"/>
          <p:cNvSpPr txBox="1"/>
          <p:nvPr/>
        </p:nvSpPr>
        <p:spPr>
          <a:xfrm>
            <a:off x="1371600" y="4828032"/>
            <a:ext cx="7589520" cy="594360"/>
          </a:xfrm>
          <a:prstGeom prst="rect">
            <a:avLst/>
          </a:prstGeom>
          <a:noFill/>
          <a:ln/>
        </p:spPr>
        <p:txBody>
          <a:bodyPr wrap="square" lIns="0" tIns="0" rIns="0" bIns="0" rtlCol="0" anchor="ctr"/>
          <a:lstStyle/>
          <a:p>
            <a:pPr indent="0" marL="0">
              <a:buNone/>
            </a:pPr>
            <a:r>
              <a:rPr lang="en-US" sz="2200" dirty="0">
                <a:solidFill>
                  <a:schemeClr val="bg1"/>
                </a:solidFill>
              </a:rPr>
              <a:t>폭력을 보면 침묵하지 않겠습니다</a:t>
            </a:r>
            <a:endParaRPr lang="en-US" sz="2200" dirty="0"/>
          </a:p>
        </p:txBody>
      </p:sp>
      <p:sp>
        <p:nvSpPr>
          <p:cNvPr id="17" name="Text 12"/>
          <p:cNvSpPr txBox="1"/>
          <p:nvPr/>
        </p:nvSpPr>
        <p:spPr>
          <a:xfrm>
            <a:off x="6217920" y="5806440"/>
            <a:ext cx="5120640" cy="457200"/>
          </a:xfrm>
          <a:prstGeom prst="rect">
            <a:avLst/>
          </a:prstGeom>
          <a:noFill/>
          <a:ln/>
        </p:spPr>
        <p:txBody>
          <a:bodyPr wrap="square" lIns="0" tIns="0" rIns="0" bIns="0" rtlCol="0" anchor="ctr"/>
          <a:lstStyle/>
          <a:p>
            <a:pPr algn="r" indent="0" marL="0">
              <a:buNone/>
            </a:pPr>
            <a:r>
              <a:rPr lang="en-US" sz="1600" dirty="0">
                <a:solidFill>
                  <a:schemeClr val="accent3"/>
                </a:solidFill>
              </a:rPr>
              <a:t>다짐한 사람: ______________ (서명)</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함께 볼 영상</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6. 참고 영상</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3474720" cy="3200400"/>
          </a:xfrm>
          <a:prstGeom prst="roundRect">
            <a:avLst>
              <a:gd name="adj" fmla="val 5714"/>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7" name="Video thumbnail"/>
          <p:cNvSpPr/>
          <p:nvPr/>
        </p:nvSpPr>
        <p:spPr>
          <a:xfrm>
            <a:off x="777240" y="1691640"/>
            <a:ext cx="3017520" cy="1280160"/>
          </a:xfrm>
          <a:prstGeom prst="roundRect">
            <a:avLst>
              <a:gd name="adj" fmla="val 10714"/>
            </a:avLst>
          </a:prstGeom>
          <a:solidFill>
            <a:schemeClr val="tx2"/>
          </a:solidFill>
          <a:ln/>
        </p:spPr>
      </p:sp>
      <p:sp>
        <p:nvSpPr>
          <p:cNvPr id="8" name="Icon circle"/>
          <p:cNvSpPr/>
          <p:nvPr/>
        </p:nvSpPr>
        <p:spPr>
          <a:xfrm>
            <a:off x="1920240" y="1965960"/>
            <a:ext cx="731520" cy="731520"/>
          </a:xfrm>
          <a:prstGeom prst="ellipse">
            <a:avLst/>
          </a:prstGeom>
          <a:solidFill>
            <a:schemeClr val="accent1"/>
          </a:solidFill>
          <a:ln/>
        </p:spPr>
      </p:sp>
      <p:pic>
        <p:nvPicPr>
          <p:cNvPr id="9" name="Icon" descr="preencoded.png">    </p:cNvPr>
          <p:cNvPicPr>
            <a:picLocks noChangeAspect="1"/>
          </p:cNvPicPr>
          <p:nvPr/>
        </p:nvPicPr>
        <p:blipFill>
          <a:blip r:embed="rId2"/>
          <a:stretch>
            <a:fillRect/>
          </a:stretch>
        </p:blipFill>
        <p:spPr>
          <a:xfrm>
            <a:off x="2125066" y="2170786"/>
            <a:ext cx="321869" cy="321869"/>
          </a:xfrm>
          <a:prstGeom prst="rect">
            <a:avLst/>
          </a:prstGeom>
        </p:spPr>
      </p:pic>
      <p:sp>
        <p:nvSpPr>
          <p:cNvPr id="10" name="Text 5"/>
          <p:cNvSpPr txBox="1"/>
          <p:nvPr/>
        </p:nvSpPr>
        <p:spPr>
          <a:xfrm>
            <a:off x="777240" y="3108960"/>
            <a:ext cx="3017520" cy="868680"/>
          </a:xfrm>
          <a:prstGeom prst="rect">
            <a:avLst/>
          </a:prstGeom>
          <a:noFill/>
          <a:ln/>
        </p:spPr>
        <p:txBody>
          <a:bodyPr wrap="square" lIns="0" tIns="0" rIns="0" bIns="0" rtlCol="0" anchor="t"/>
          <a:lstStyle/>
          <a:p>
            <a:pPr indent="0" marL="0">
              <a:buNone/>
            </a:pPr>
            <a:r>
              <a:rPr lang="en-US" sz="1600" b="1" u="sng" dirty="0">
                <a:solidFill>
                  <a:schemeClr val="tx2"/>
                </a:solidFill>
                <a:hlinkClick r:id="rId3" invalidUrl="" action="" tgtFrame="" tooltip="" history="1" highlightClick="0" endSnd="0">
                  <a:extLst>
                    <a:ext uri="{A12FA001-AC4F-418D-AE19-62706E023703}">
                      <ahyp:hlinkClr xmlns:ahyp="http://schemas.microsoft.com/office/drawing/2018/hyperlinkcolor" val="tx"/>
                    </a:ext>
                  </a:extLst>
                </a:hlinkClick>
              </a:rPr>
              <a:t>어디까지가 사랑이고</a:t>
            </a:r>
            <a:endParaRPr lang="en-US" sz="1600" dirty="0"/>
          </a:p>
          <a:p>
            <a:pPr indent="0" marL="0">
              <a:buNone/>
            </a:pPr>
            <a:r>
              <a:rPr lang="en-US" sz="1600" b="1" u="sng" dirty="0">
                <a:solidFill>
                  <a:schemeClr val="tx2"/>
                </a:solidFill>
                <a:hlinkClick r:id="rId3" invalidUrl="" action="" tgtFrame="" tooltip="" history="1" highlightClick="0" endSnd="0">
                  <a:extLst>
                    <a:ext uri="{A12FA001-AC4F-418D-AE19-62706E023703}">
                      <ahyp:hlinkClr xmlns:ahyp="http://schemas.microsoft.com/office/drawing/2018/hyperlinkcolor" val="tx"/>
                    </a:ext>
                  </a:extLst>
                </a:hlinkClick>
              </a:rPr>
              <a:t>어디부터가 폭력일까?</a:t>
            </a:r>
            <a:endParaRPr lang="en-US" sz="1600" dirty="0"/>
          </a:p>
        </p:txBody>
      </p:sp>
      <p:sp>
        <p:nvSpPr>
          <p:cNvPr id="11" name="Text 6"/>
          <p:cNvSpPr txBox="1"/>
          <p:nvPr/>
        </p:nvSpPr>
        <p:spPr>
          <a:xfrm>
            <a:off x="777240" y="4069080"/>
            <a:ext cx="3017520" cy="365760"/>
          </a:xfrm>
          <a:prstGeom prst="rect">
            <a:avLst/>
          </a:prstGeom>
          <a:noFill/>
          <a:ln/>
        </p:spPr>
        <p:txBody>
          <a:bodyPr wrap="square" lIns="0" tIns="0" rIns="0" bIns="0" rtlCol="0" anchor="ctr"/>
          <a:lstStyle/>
          <a:p>
            <a:pPr indent="0" marL="0">
              <a:buNone/>
            </a:pPr>
            <a:r>
              <a:rPr lang="en-US" sz="1200" dirty="0">
                <a:solidFill>
                  <a:schemeClr val="accent6"/>
                </a:solidFill>
              </a:rPr>
              <a:t>성평등가족부 (2025)</a:t>
            </a:r>
            <a:endParaRPr lang="en-US" sz="1200" dirty="0"/>
          </a:p>
        </p:txBody>
      </p:sp>
      <p:sp>
        <p:nvSpPr>
          <p:cNvPr id="12" name="Card"/>
          <p:cNvSpPr/>
          <p:nvPr/>
        </p:nvSpPr>
        <p:spPr>
          <a:xfrm>
            <a:off x="4297680" y="1463040"/>
            <a:ext cx="3474720" cy="3200400"/>
          </a:xfrm>
          <a:prstGeom prst="roundRect">
            <a:avLst>
              <a:gd name="adj" fmla="val 5714"/>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13" name="Video thumbnail"/>
          <p:cNvSpPr/>
          <p:nvPr/>
        </p:nvSpPr>
        <p:spPr>
          <a:xfrm>
            <a:off x="4526280" y="1691640"/>
            <a:ext cx="3017520" cy="1280160"/>
          </a:xfrm>
          <a:prstGeom prst="roundRect">
            <a:avLst>
              <a:gd name="adj" fmla="val 10714"/>
            </a:avLst>
          </a:prstGeom>
          <a:solidFill>
            <a:schemeClr val="tx2"/>
          </a:solidFill>
          <a:ln/>
        </p:spPr>
      </p:sp>
      <p:sp>
        <p:nvSpPr>
          <p:cNvPr id="14" name="Icon circle"/>
          <p:cNvSpPr/>
          <p:nvPr/>
        </p:nvSpPr>
        <p:spPr>
          <a:xfrm>
            <a:off x="5669280" y="1965960"/>
            <a:ext cx="731520" cy="731520"/>
          </a:xfrm>
          <a:prstGeom prst="ellipse">
            <a:avLst/>
          </a:prstGeom>
          <a:solidFill>
            <a:schemeClr val="accent1"/>
          </a:solidFill>
          <a:ln/>
        </p:spPr>
      </p:sp>
      <p:pic>
        <p:nvPicPr>
          <p:cNvPr id="15" name="Icon" descr="preencoded.png">    </p:cNvPr>
          <p:cNvPicPr>
            <a:picLocks noChangeAspect="1"/>
          </p:cNvPicPr>
          <p:nvPr/>
        </p:nvPicPr>
        <p:blipFill>
          <a:blip r:embed="rId4"/>
          <a:stretch>
            <a:fillRect/>
          </a:stretch>
        </p:blipFill>
        <p:spPr>
          <a:xfrm>
            <a:off x="5874106" y="2170786"/>
            <a:ext cx="321869" cy="321869"/>
          </a:xfrm>
          <a:prstGeom prst="rect">
            <a:avLst/>
          </a:prstGeom>
        </p:spPr>
      </p:pic>
      <p:sp>
        <p:nvSpPr>
          <p:cNvPr id="16" name="Text 10"/>
          <p:cNvSpPr txBox="1"/>
          <p:nvPr/>
        </p:nvSpPr>
        <p:spPr>
          <a:xfrm>
            <a:off x="4526280" y="3108960"/>
            <a:ext cx="3017520" cy="868680"/>
          </a:xfrm>
          <a:prstGeom prst="rect">
            <a:avLst/>
          </a:prstGeom>
          <a:noFill/>
          <a:ln/>
        </p:spPr>
        <p:txBody>
          <a:bodyPr wrap="square" lIns="0" tIns="0" rIns="0" bIns="0" rtlCol="0" anchor="t"/>
          <a:lstStyle/>
          <a:p>
            <a:pPr indent="0" marL="0">
              <a:buNone/>
            </a:pPr>
            <a:r>
              <a:rPr lang="en-US" sz="1600" b="1" u="sng" dirty="0">
                <a:solidFill>
                  <a:schemeClr val="tx2"/>
                </a:solidFill>
                <a:hlinkClick r:id="rId5" invalidUrl="" action="" tgtFrame="" tooltip="" history="1" highlightClick="0" endSnd="0">
                  <a:extLst>
                    <a:ext uri="{A12FA001-AC4F-418D-AE19-62706E023703}">
                      <ahyp:hlinkClr xmlns:ahyp="http://schemas.microsoft.com/office/drawing/2018/hyperlinkcolor" val="tx"/>
                    </a:ext>
                  </a:extLst>
                </a:hlinkClick>
              </a:rPr>
              <a:t>‘강남 교제 살인’</a:t>
            </a:r>
            <a:endParaRPr lang="en-US" sz="1600" dirty="0"/>
          </a:p>
          <a:p>
            <a:pPr indent="0" marL="0">
              <a:buNone/>
            </a:pPr>
            <a:r>
              <a:rPr lang="en-US" sz="1600" b="1" u="sng" dirty="0">
                <a:solidFill>
                  <a:schemeClr val="tx2"/>
                </a:solidFill>
                <a:hlinkClick r:id="rId5" invalidUrl="" action="" tgtFrame="" tooltip="" history="1" highlightClick="0" endSnd="0">
                  <a:extLst>
                    <a:ext uri="{A12FA001-AC4F-418D-AE19-62706E023703}">
                      <ahyp:hlinkClr xmlns:ahyp="http://schemas.microsoft.com/office/drawing/2018/hyperlinkcolor" val="tx"/>
                    </a:ext>
                  </a:extLst>
                </a:hlinkClick>
              </a:rPr>
              <a:t>징역 30년 확정</a:t>
            </a:r>
            <a:endParaRPr lang="en-US" sz="1600" dirty="0"/>
          </a:p>
        </p:txBody>
      </p:sp>
      <p:sp>
        <p:nvSpPr>
          <p:cNvPr id="17" name="Text 11"/>
          <p:cNvSpPr txBox="1"/>
          <p:nvPr/>
        </p:nvSpPr>
        <p:spPr>
          <a:xfrm>
            <a:off x="4526280" y="4069080"/>
            <a:ext cx="3017520" cy="365760"/>
          </a:xfrm>
          <a:prstGeom prst="rect">
            <a:avLst/>
          </a:prstGeom>
          <a:noFill/>
          <a:ln/>
        </p:spPr>
        <p:txBody>
          <a:bodyPr wrap="square" lIns="0" tIns="0" rIns="0" bIns="0" rtlCol="0" anchor="ctr"/>
          <a:lstStyle/>
          <a:p>
            <a:pPr indent="0" marL="0">
              <a:buNone/>
            </a:pPr>
            <a:r>
              <a:rPr lang="en-US" sz="1200" dirty="0">
                <a:solidFill>
                  <a:schemeClr val="accent6"/>
                </a:solidFill>
              </a:rPr>
              <a:t>연합뉴스TV (2025.9)</a:t>
            </a:r>
            <a:endParaRPr lang="en-US" sz="1200" dirty="0"/>
          </a:p>
        </p:txBody>
      </p:sp>
      <p:sp>
        <p:nvSpPr>
          <p:cNvPr id="18" name="Card"/>
          <p:cNvSpPr/>
          <p:nvPr/>
        </p:nvSpPr>
        <p:spPr>
          <a:xfrm>
            <a:off x="8046720" y="1463040"/>
            <a:ext cx="3474720" cy="3200400"/>
          </a:xfrm>
          <a:prstGeom prst="roundRect">
            <a:avLst>
              <a:gd name="adj" fmla="val 5714"/>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sp>
        <p:nvSpPr>
          <p:cNvPr id="19" name="Video thumbnail"/>
          <p:cNvSpPr/>
          <p:nvPr/>
        </p:nvSpPr>
        <p:spPr>
          <a:xfrm>
            <a:off x="8275320" y="1691640"/>
            <a:ext cx="3017520" cy="1280160"/>
          </a:xfrm>
          <a:prstGeom prst="roundRect">
            <a:avLst>
              <a:gd name="adj" fmla="val 10714"/>
            </a:avLst>
          </a:prstGeom>
          <a:solidFill>
            <a:schemeClr val="tx2"/>
          </a:solidFill>
          <a:ln/>
        </p:spPr>
      </p:sp>
      <p:sp>
        <p:nvSpPr>
          <p:cNvPr id="20" name="Icon circle"/>
          <p:cNvSpPr/>
          <p:nvPr/>
        </p:nvSpPr>
        <p:spPr>
          <a:xfrm>
            <a:off x="9418320" y="1965960"/>
            <a:ext cx="731520" cy="731520"/>
          </a:xfrm>
          <a:prstGeom prst="ellipse">
            <a:avLst/>
          </a:prstGeom>
          <a:solidFill>
            <a:schemeClr val="accent1"/>
          </a:solidFill>
          <a:ln/>
        </p:spPr>
      </p:sp>
      <p:pic>
        <p:nvPicPr>
          <p:cNvPr id="21" name="Icon" descr="preencoded.png">    </p:cNvPr>
          <p:cNvPicPr>
            <a:picLocks noChangeAspect="1"/>
          </p:cNvPicPr>
          <p:nvPr/>
        </p:nvPicPr>
        <p:blipFill>
          <a:blip r:embed="rId6"/>
          <a:stretch>
            <a:fillRect/>
          </a:stretch>
        </p:blipFill>
        <p:spPr>
          <a:xfrm>
            <a:off x="9623146" y="2170786"/>
            <a:ext cx="321869" cy="321869"/>
          </a:xfrm>
          <a:prstGeom prst="rect">
            <a:avLst/>
          </a:prstGeom>
        </p:spPr>
      </p:pic>
      <p:sp>
        <p:nvSpPr>
          <p:cNvPr id="22" name="Text 15"/>
          <p:cNvSpPr txBox="1"/>
          <p:nvPr/>
        </p:nvSpPr>
        <p:spPr>
          <a:xfrm>
            <a:off x="8275320" y="3108960"/>
            <a:ext cx="3017520" cy="868680"/>
          </a:xfrm>
          <a:prstGeom prst="rect">
            <a:avLst/>
          </a:prstGeom>
          <a:noFill/>
          <a:ln/>
        </p:spPr>
        <p:txBody>
          <a:bodyPr wrap="square" lIns="0" tIns="0" rIns="0" bIns="0" rtlCol="0" anchor="t"/>
          <a:lstStyle/>
          <a:p>
            <a:pPr indent="0" marL="0">
              <a:buNone/>
            </a:pPr>
            <a:r>
              <a:rPr lang="en-US" sz="1600" b="1" u="sng" dirty="0">
                <a:solidFill>
                  <a:schemeClr val="tx2"/>
                </a:solidFill>
                <a:hlinkClick r:id="rId7" invalidUrl="" action="" tgtFrame="" tooltip="" history="1" highlightClick="0" endSnd="0">
                  <a:extLst>
                    <a:ext uri="{A12FA001-AC4F-418D-AE19-62706E023703}">
                      <ahyp:hlinkClr xmlns:ahyp="http://schemas.microsoft.com/office/drawing/2018/hyperlinkcolor" val="tx"/>
                    </a:ext>
                  </a:extLst>
                </a:hlinkClick>
              </a:rPr>
              <a:t>서울시 데이트폭력</a:t>
            </a:r>
            <a:endParaRPr lang="en-US" sz="1600" dirty="0"/>
          </a:p>
          <a:p>
            <a:pPr indent="0" marL="0">
              <a:buNone/>
            </a:pPr>
            <a:r>
              <a:rPr lang="en-US" sz="1600" b="1" u="sng" dirty="0">
                <a:solidFill>
                  <a:schemeClr val="tx2"/>
                </a:solidFill>
                <a:hlinkClick r:id="rId7" invalidUrl="" action="" tgtFrame="" tooltip="" history="1" highlightClick="0" endSnd="0">
                  <a:extLst>
                    <a:ext uri="{A12FA001-AC4F-418D-AE19-62706E023703}">
                      <ahyp:hlinkClr xmlns:ahyp="http://schemas.microsoft.com/office/drawing/2018/hyperlinkcolor" val="tx"/>
                    </a:ext>
                  </a:extLst>
                </a:hlinkClick>
              </a:rPr>
              <a:t>예방 숏폼 1편</a:t>
            </a:r>
            <a:endParaRPr lang="en-US" sz="1600" dirty="0"/>
          </a:p>
        </p:txBody>
      </p:sp>
      <p:sp>
        <p:nvSpPr>
          <p:cNvPr id="23" name="Text 16"/>
          <p:cNvSpPr txBox="1"/>
          <p:nvPr/>
        </p:nvSpPr>
        <p:spPr>
          <a:xfrm>
            <a:off x="8275320" y="4069080"/>
            <a:ext cx="3017520" cy="365760"/>
          </a:xfrm>
          <a:prstGeom prst="rect">
            <a:avLst/>
          </a:prstGeom>
          <a:noFill/>
          <a:ln/>
        </p:spPr>
        <p:txBody>
          <a:bodyPr wrap="square" lIns="0" tIns="0" rIns="0" bIns="0" rtlCol="0" anchor="ctr"/>
          <a:lstStyle/>
          <a:p>
            <a:pPr indent="0" marL="0">
              <a:buNone/>
            </a:pPr>
            <a:r>
              <a:rPr lang="en-US" sz="1200" dirty="0">
                <a:solidFill>
                  <a:schemeClr val="accent6"/>
                </a:solidFill>
              </a:rPr>
              <a:t>서울시 (2025)</a:t>
            </a:r>
            <a:endParaRPr lang="en-US" sz="1200" dirty="0"/>
          </a:p>
        </p:txBody>
      </p:sp>
      <p:sp>
        <p:nvSpPr>
          <p:cNvPr id="24" name="Card"/>
          <p:cNvSpPr/>
          <p:nvPr/>
        </p:nvSpPr>
        <p:spPr>
          <a:xfrm>
            <a:off x="548640" y="4892040"/>
            <a:ext cx="11064240" cy="1005840"/>
          </a:xfrm>
          <a:prstGeom prst="roundRect">
            <a:avLst>
              <a:gd name="adj" fmla="val 18182"/>
            </a:avLst>
          </a:prstGeom>
          <a:solidFill>
            <a:schemeClr val="tx2"/>
          </a:solidFill>
          <a:ln/>
          <a:effectLst>
            <a:outerShdw sx="100000" sy="100000" kx="0" ky="0" algn="bl" rotWithShape="0" blurRad="101600" dist="25400" dir="5400000">
              <a:srgbClr val="4A1D3F">
                <a:alpha val="28000"/>
              </a:srgbClr>
            </a:outerShdw>
          </a:effectLst>
        </p:spPr>
      </p:sp>
      <p:pic>
        <p:nvPicPr>
          <p:cNvPr id="25" name="Illustration" descr="preencoded.png">    </p:cNvPr>
          <p:cNvPicPr>
            <a:picLocks noChangeAspect="1"/>
          </p:cNvPicPr>
          <p:nvPr/>
        </p:nvPicPr>
        <p:blipFill>
          <a:blip r:embed="rId8"/>
          <a:stretch>
            <a:fillRect/>
          </a:stretch>
        </p:blipFill>
        <p:spPr>
          <a:xfrm>
            <a:off x="822960" y="5029200"/>
            <a:ext cx="731520" cy="731520"/>
          </a:xfrm>
          <a:prstGeom prst="rect">
            <a:avLst/>
          </a:prstGeom>
        </p:spPr>
      </p:pic>
      <p:sp>
        <p:nvSpPr>
          <p:cNvPr id="26" name="Text 18"/>
          <p:cNvSpPr txBox="1"/>
          <p:nvPr/>
        </p:nvSpPr>
        <p:spPr>
          <a:xfrm>
            <a:off x="1783080" y="4892040"/>
            <a:ext cx="9601200" cy="1005840"/>
          </a:xfrm>
          <a:prstGeom prst="rect">
            <a:avLst/>
          </a:prstGeom>
          <a:noFill/>
          <a:ln/>
        </p:spPr>
        <p:txBody>
          <a:bodyPr wrap="square" lIns="0" tIns="0" rIns="0" bIns="0" rtlCol="0" anchor="ctr"/>
          <a:lstStyle/>
          <a:p>
            <a:pPr indent="0" marL="0">
              <a:buNone/>
            </a:pPr>
            <a:r>
              <a:rPr lang="en-US" sz="2000" b="1" dirty="0">
                <a:solidFill>
                  <a:schemeClr val="bg1"/>
                </a:solidFill>
              </a:rPr>
              <a:t>영상 속 ‘폭력’은 어디서부터였을까요?</a:t>
            </a:r>
            <a:endParaRPr lang="en-US" sz="2000" dirty="0"/>
          </a:p>
        </p:txBody>
      </p:sp>
      <p:sp>
        <p:nvSpPr>
          <p:cNvPr id="27" name="Text 19"/>
          <p:cNvSpPr txBox="1"/>
          <p:nvPr/>
        </p:nvSpPr>
        <p:spPr>
          <a:xfrm>
            <a:off x="548640" y="6053328"/>
            <a:ext cx="11064240" cy="274320"/>
          </a:xfrm>
          <a:prstGeom prst="rect">
            <a:avLst/>
          </a:prstGeom>
          <a:noFill/>
          <a:ln/>
        </p:spPr>
        <p:txBody>
          <a:bodyPr wrap="square" lIns="0" tIns="0" rIns="0" bIns="0" rtlCol="0" anchor="ctr"/>
          <a:lstStyle/>
          <a:p>
            <a:pPr indent="0" marL="0">
              <a:buNone/>
            </a:pPr>
            <a:r>
              <a:rPr lang="en-US" sz="1000" dirty="0">
                <a:solidFill>
                  <a:schemeClr val="accent6"/>
                </a:solidFill>
              </a:rPr>
              <a:t>※ 제목을 클릭하면 영상 페이지로 이동합니다</a:t>
            </a:r>
            <a:endParaRPr lang="en-US" sz="1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692640" cy="822960"/>
          </a:xfrm>
          <a:prstGeom prst="rect">
            <a:avLst/>
          </a:prstGeom>
          <a:noFill/>
          <a:ln/>
        </p:spPr>
        <p:txBody>
          <a:bodyPr wrap="square" rtlCol="0" anchor="ctr"/>
          <a:lstStyle/>
          <a:p>
            <a:pPr algn="l" indent="0" marL="0">
              <a:buNone/>
            </a:pPr>
            <a:r>
              <a:rPr lang="en-US" sz="3000" b="1" dirty="0">
                <a:solidFill>
                  <a:schemeClr val="tx2"/>
                </a:solidFill>
              </a:rPr>
              <a:t>AI에게 물었습니다: 강사라면 무엇을 가르칠까?</a:t>
            </a:r>
            <a:endParaRPr lang="en-US" sz="3000" dirty="0"/>
          </a:p>
        </p:txBody>
      </p:sp>
      <p:sp>
        <p:nvSpPr>
          <p:cNvPr id="3" name="Section tag"/>
          <p:cNvSpPr txBox="1"/>
          <p:nvPr/>
        </p:nvSpPr>
        <p:spPr>
          <a:xfrm>
            <a:off x="548640" y="109728"/>
            <a:ext cx="7315200" cy="292608"/>
          </a:xfrm>
          <a:prstGeom prst="rect">
            <a:avLst/>
          </a:prstGeom>
          <a:noFill/>
          <a:ln/>
        </p:spPr>
        <p:txBody>
          <a:bodyPr wrap="square" lIns="0" tIns="0" rIns="0" bIns="0" rtlCol="0" anchor="ctr"/>
          <a:lstStyle/>
          <a:p>
            <a:pPr indent="0" marL="0">
              <a:buNone/>
            </a:pPr>
            <a:r>
              <a:rPr lang="en-US" sz="1200" b="1" dirty="0">
                <a:solidFill>
                  <a:schemeClr val="accent1"/>
                </a:solidFill>
              </a:rPr>
              <a:t>7. 내가 강사라면</a:t>
            </a:r>
            <a:endParaRPr lang="en-US" sz="1200" dirty="0"/>
          </a:p>
        </p:txBody>
      </p:sp>
      <p:pic>
        <p:nvPicPr>
          <p:cNvPr id="4" name="Illustration" descr="preencoded.png">    </p:cNvPr>
          <p:cNvPicPr>
            <a:picLocks noChangeAspect="1"/>
          </p:cNvPicPr>
          <p:nvPr/>
        </p:nvPicPr>
        <p:blipFill>
          <a:blip r:embed="rId1"/>
          <a:stretch>
            <a:fillRect/>
          </a:stretch>
        </p:blipFill>
        <p:spPr>
          <a:xfrm>
            <a:off x="10744200" y="256032"/>
            <a:ext cx="868680" cy="868680"/>
          </a:xfrm>
          <a:prstGeom prst="rect">
            <a:avLst/>
          </a:prstGeom>
        </p:spPr>
      </p:pic>
      <p:sp>
        <p:nvSpPr>
          <p:cNvPr id="6" name="Card"/>
          <p:cNvSpPr/>
          <p:nvPr/>
        </p:nvSpPr>
        <p:spPr>
          <a:xfrm>
            <a:off x="548640" y="1463040"/>
            <a:ext cx="2103120" cy="3383280"/>
          </a:xfrm>
          <a:prstGeom prst="roundRect">
            <a:avLst>
              <a:gd name="adj" fmla="val 8696"/>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7" name="Illustration" descr="preencoded.png">    </p:cNvPr>
          <p:cNvPicPr>
            <a:picLocks noChangeAspect="1"/>
          </p:cNvPicPr>
          <p:nvPr/>
        </p:nvPicPr>
        <p:blipFill>
          <a:blip r:embed="rId2"/>
          <a:stretch>
            <a:fillRect/>
          </a:stretch>
        </p:blipFill>
        <p:spPr>
          <a:xfrm>
            <a:off x="1005840" y="2051685"/>
            <a:ext cx="1188720" cy="1188720"/>
          </a:xfrm>
          <a:prstGeom prst="rect">
            <a:avLst/>
          </a:prstGeom>
        </p:spPr>
      </p:pic>
      <p:sp>
        <p:nvSpPr>
          <p:cNvPr id="8" name="Text 3"/>
          <p:cNvSpPr txBox="1"/>
          <p:nvPr/>
        </p:nvSpPr>
        <p:spPr>
          <a:xfrm>
            <a:off x="731520" y="3423285"/>
            <a:ext cx="1737360" cy="502920"/>
          </a:xfrm>
          <a:prstGeom prst="rect">
            <a:avLst/>
          </a:prstGeom>
          <a:noFill/>
          <a:ln/>
        </p:spPr>
        <p:txBody>
          <a:bodyPr wrap="square" lIns="0" tIns="0" rIns="0" bIns="0" rtlCol="0" anchor="ctr"/>
          <a:lstStyle/>
          <a:p>
            <a:pPr algn="ctr" indent="0" marL="0">
              <a:buNone/>
            </a:pPr>
            <a:r>
              <a:rPr lang="en-US" sz="1600" b="1" dirty="0">
                <a:solidFill>
                  <a:schemeClr val="tx2"/>
                </a:solidFill>
              </a:rPr>
              <a:t>사랑은 묻는 것</a:t>
            </a:r>
            <a:endParaRPr lang="en-US" sz="1600" dirty="0"/>
          </a:p>
        </p:txBody>
      </p:sp>
      <p:sp>
        <p:nvSpPr>
          <p:cNvPr id="9" name="Text 4"/>
          <p:cNvSpPr txBox="1"/>
          <p:nvPr/>
        </p:nvSpPr>
        <p:spPr>
          <a:xfrm>
            <a:off x="777240" y="4017645"/>
            <a:ext cx="1645920" cy="377190"/>
          </a:xfrm>
          <a:prstGeom prst="rect">
            <a:avLst/>
          </a:prstGeom>
          <a:noFill/>
          <a:ln/>
        </p:spPr>
        <p:txBody>
          <a:bodyPr wrap="square" lIns="0" tIns="0" rIns="0" bIns="0" rtlCol="0" anchor="t"/>
          <a:lstStyle/>
          <a:p>
            <a:pPr algn="ctr" indent="0" marL="0">
              <a:buNone/>
            </a:pPr>
            <a:r>
              <a:rPr lang="en-US" sz="1400" dirty="0">
                <a:solidFill>
                  <a:schemeClr val="tx1"/>
                </a:solidFill>
              </a:rPr>
              <a:t>‘싫어’에 멈추기</a:t>
            </a:r>
            <a:endParaRPr lang="en-US" sz="1400" dirty="0"/>
          </a:p>
        </p:txBody>
      </p:sp>
      <p:sp>
        <p:nvSpPr>
          <p:cNvPr id="10" name="Card"/>
          <p:cNvSpPr/>
          <p:nvPr/>
        </p:nvSpPr>
        <p:spPr>
          <a:xfrm>
            <a:off x="2788920" y="1463040"/>
            <a:ext cx="2103120" cy="3383280"/>
          </a:xfrm>
          <a:prstGeom prst="roundRect">
            <a:avLst>
              <a:gd name="adj" fmla="val 8696"/>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1" name="Illustration" descr="preencoded.png">    </p:cNvPr>
          <p:cNvPicPr>
            <a:picLocks noChangeAspect="1"/>
          </p:cNvPicPr>
          <p:nvPr/>
        </p:nvPicPr>
        <p:blipFill>
          <a:blip r:embed="rId3"/>
          <a:stretch>
            <a:fillRect/>
          </a:stretch>
        </p:blipFill>
        <p:spPr>
          <a:xfrm>
            <a:off x="3246120" y="2051685"/>
            <a:ext cx="1188720" cy="1188720"/>
          </a:xfrm>
          <a:prstGeom prst="rect">
            <a:avLst/>
          </a:prstGeom>
        </p:spPr>
      </p:pic>
      <p:sp>
        <p:nvSpPr>
          <p:cNvPr id="12" name="Text 6"/>
          <p:cNvSpPr txBox="1"/>
          <p:nvPr/>
        </p:nvSpPr>
        <p:spPr>
          <a:xfrm>
            <a:off x="2971800" y="3423285"/>
            <a:ext cx="1737360" cy="502920"/>
          </a:xfrm>
          <a:prstGeom prst="rect">
            <a:avLst/>
          </a:prstGeom>
          <a:noFill/>
          <a:ln/>
        </p:spPr>
        <p:txBody>
          <a:bodyPr wrap="square" lIns="0" tIns="0" rIns="0" bIns="0" rtlCol="0" anchor="ctr"/>
          <a:lstStyle/>
          <a:p>
            <a:pPr algn="ctr" indent="0" marL="0">
              <a:buNone/>
            </a:pPr>
            <a:r>
              <a:rPr lang="en-US" sz="1600" b="1" dirty="0">
                <a:solidFill>
                  <a:schemeClr val="tx2"/>
                </a:solidFill>
              </a:rPr>
              <a:t>통제를 알아보기</a:t>
            </a:r>
            <a:endParaRPr lang="en-US" sz="1600" dirty="0"/>
          </a:p>
        </p:txBody>
      </p:sp>
      <p:sp>
        <p:nvSpPr>
          <p:cNvPr id="13" name="Text 7"/>
          <p:cNvSpPr txBox="1"/>
          <p:nvPr/>
        </p:nvSpPr>
        <p:spPr>
          <a:xfrm>
            <a:off x="3017520" y="4017645"/>
            <a:ext cx="1645920" cy="377190"/>
          </a:xfrm>
          <a:prstGeom prst="rect">
            <a:avLst/>
          </a:prstGeom>
          <a:noFill/>
          <a:ln/>
        </p:spPr>
        <p:txBody>
          <a:bodyPr wrap="square" lIns="0" tIns="0" rIns="0" bIns="0" rtlCol="0" anchor="t"/>
          <a:lstStyle/>
          <a:p>
            <a:pPr algn="ctr" indent="0" marL="0">
              <a:buNone/>
            </a:pPr>
            <a:r>
              <a:rPr lang="en-US" sz="1400" dirty="0">
                <a:solidFill>
                  <a:schemeClr val="tx1"/>
                </a:solidFill>
              </a:rPr>
              <a:t>감시는 사랑이 아님</a:t>
            </a:r>
            <a:endParaRPr lang="en-US" sz="1400" dirty="0"/>
          </a:p>
        </p:txBody>
      </p:sp>
      <p:sp>
        <p:nvSpPr>
          <p:cNvPr id="14" name="Card"/>
          <p:cNvSpPr/>
          <p:nvPr/>
        </p:nvSpPr>
        <p:spPr>
          <a:xfrm>
            <a:off x="5029200" y="1463040"/>
            <a:ext cx="2103120" cy="3383280"/>
          </a:xfrm>
          <a:prstGeom prst="roundRect">
            <a:avLst>
              <a:gd name="adj" fmla="val 8696"/>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5" name="Illustration" descr="preencoded.png">    </p:cNvPr>
          <p:cNvPicPr>
            <a:picLocks noChangeAspect="1"/>
          </p:cNvPicPr>
          <p:nvPr/>
        </p:nvPicPr>
        <p:blipFill>
          <a:blip r:embed="rId4"/>
          <a:stretch>
            <a:fillRect/>
          </a:stretch>
        </p:blipFill>
        <p:spPr>
          <a:xfrm>
            <a:off x="5486400" y="2051685"/>
            <a:ext cx="1188720" cy="1188720"/>
          </a:xfrm>
          <a:prstGeom prst="rect">
            <a:avLst/>
          </a:prstGeom>
        </p:spPr>
      </p:pic>
      <p:sp>
        <p:nvSpPr>
          <p:cNvPr id="16" name="Text 9"/>
          <p:cNvSpPr txBox="1"/>
          <p:nvPr/>
        </p:nvSpPr>
        <p:spPr>
          <a:xfrm>
            <a:off x="5212080" y="3423285"/>
            <a:ext cx="1737360" cy="502920"/>
          </a:xfrm>
          <a:prstGeom prst="rect">
            <a:avLst/>
          </a:prstGeom>
          <a:noFill/>
          <a:ln/>
        </p:spPr>
        <p:txBody>
          <a:bodyPr wrap="square" lIns="0" tIns="0" rIns="0" bIns="0" rtlCol="0" anchor="ctr"/>
          <a:lstStyle/>
          <a:p>
            <a:pPr algn="ctr" indent="0" marL="0">
              <a:buNone/>
            </a:pPr>
            <a:r>
              <a:rPr lang="en-US" sz="1600" b="1" dirty="0">
                <a:solidFill>
                  <a:schemeClr val="tx2"/>
                </a:solidFill>
              </a:rPr>
              <a:t>“네 잘못이 아니야”</a:t>
            </a:r>
            <a:endParaRPr lang="en-US" sz="1600" dirty="0"/>
          </a:p>
        </p:txBody>
      </p:sp>
      <p:sp>
        <p:nvSpPr>
          <p:cNvPr id="17" name="Text 10"/>
          <p:cNvSpPr txBox="1"/>
          <p:nvPr/>
        </p:nvSpPr>
        <p:spPr>
          <a:xfrm>
            <a:off x="5257800" y="4017645"/>
            <a:ext cx="1645920" cy="377190"/>
          </a:xfrm>
          <a:prstGeom prst="rect">
            <a:avLst/>
          </a:prstGeom>
          <a:noFill/>
          <a:ln/>
        </p:spPr>
        <p:txBody>
          <a:bodyPr wrap="square" lIns="0" tIns="0" rIns="0" bIns="0" rtlCol="0" anchor="t"/>
          <a:lstStyle/>
          <a:p>
            <a:pPr algn="ctr" indent="0" marL="0">
              <a:buNone/>
            </a:pPr>
            <a:r>
              <a:rPr lang="en-US" sz="1400" dirty="0">
                <a:solidFill>
                  <a:schemeClr val="tx1"/>
                </a:solidFill>
              </a:rPr>
              <a:t>가장 먼저 할 말</a:t>
            </a:r>
            <a:endParaRPr lang="en-US" sz="1400" dirty="0"/>
          </a:p>
        </p:txBody>
      </p:sp>
      <p:sp>
        <p:nvSpPr>
          <p:cNvPr id="18" name="Card"/>
          <p:cNvSpPr/>
          <p:nvPr/>
        </p:nvSpPr>
        <p:spPr>
          <a:xfrm>
            <a:off x="7269480" y="1463040"/>
            <a:ext cx="2103120" cy="3383280"/>
          </a:xfrm>
          <a:prstGeom prst="roundRect">
            <a:avLst>
              <a:gd name="adj" fmla="val 8696"/>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19" name="Illustration" descr="preencoded.png">    </p:cNvPr>
          <p:cNvPicPr>
            <a:picLocks noChangeAspect="1"/>
          </p:cNvPicPr>
          <p:nvPr/>
        </p:nvPicPr>
        <p:blipFill>
          <a:blip r:embed="rId5"/>
          <a:stretch>
            <a:fillRect/>
          </a:stretch>
        </p:blipFill>
        <p:spPr>
          <a:xfrm>
            <a:off x="7726680" y="2051685"/>
            <a:ext cx="1188720" cy="1188720"/>
          </a:xfrm>
          <a:prstGeom prst="rect">
            <a:avLst/>
          </a:prstGeom>
        </p:spPr>
      </p:pic>
      <p:sp>
        <p:nvSpPr>
          <p:cNvPr id="20" name="Text 12"/>
          <p:cNvSpPr txBox="1"/>
          <p:nvPr/>
        </p:nvSpPr>
        <p:spPr>
          <a:xfrm>
            <a:off x="7452360" y="3423285"/>
            <a:ext cx="1737360" cy="502920"/>
          </a:xfrm>
          <a:prstGeom prst="rect">
            <a:avLst/>
          </a:prstGeom>
          <a:noFill/>
          <a:ln/>
        </p:spPr>
        <p:txBody>
          <a:bodyPr wrap="square" lIns="0" tIns="0" rIns="0" bIns="0" rtlCol="0" anchor="ctr"/>
          <a:lstStyle/>
          <a:p>
            <a:pPr algn="ctr" indent="0" marL="0">
              <a:buNone/>
            </a:pPr>
            <a:r>
              <a:rPr lang="en-US" sz="1600" b="1" dirty="0">
                <a:solidFill>
                  <a:schemeClr val="tx2"/>
                </a:solidFill>
              </a:rPr>
              <a:t>친구가 지킨다</a:t>
            </a:r>
            <a:endParaRPr lang="en-US" sz="1600" dirty="0"/>
          </a:p>
        </p:txBody>
      </p:sp>
      <p:sp>
        <p:nvSpPr>
          <p:cNvPr id="21" name="Text 13"/>
          <p:cNvSpPr txBox="1"/>
          <p:nvPr/>
        </p:nvSpPr>
        <p:spPr>
          <a:xfrm>
            <a:off x="7498080" y="4017645"/>
            <a:ext cx="1645920" cy="377190"/>
          </a:xfrm>
          <a:prstGeom prst="rect">
            <a:avLst/>
          </a:prstGeom>
          <a:noFill/>
          <a:ln/>
        </p:spPr>
        <p:txBody>
          <a:bodyPr wrap="square" lIns="0" tIns="0" rIns="0" bIns="0" rtlCol="0" anchor="t"/>
          <a:lstStyle/>
          <a:p>
            <a:pPr algn="ctr" indent="0" marL="0">
              <a:buNone/>
            </a:pPr>
            <a:r>
              <a:rPr lang="en-US" sz="1400" dirty="0">
                <a:solidFill>
                  <a:schemeClr val="tx1"/>
                </a:solidFill>
              </a:rPr>
              <a:t>먼저 묻는 한 사람</a:t>
            </a:r>
            <a:endParaRPr lang="en-US" sz="1400" dirty="0"/>
          </a:p>
        </p:txBody>
      </p:sp>
      <p:sp>
        <p:nvSpPr>
          <p:cNvPr id="22" name="Card"/>
          <p:cNvSpPr/>
          <p:nvPr/>
        </p:nvSpPr>
        <p:spPr>
          <a:xfrm>
            <a:off x="9509760" y="1463040"/>
            <a:ext cx="2103120" cy="3383280"/>
          </a:xfrm>
          <a:prstGeom prst="roundRect">
            <a:avLst>
              <a:gd name="adj" fmla="val 8696"/>
            </a:avLst>
          </a:prstGeom>
          <a:solidFill>
            <a:schemeClr val="bg2"/>
          </a:solidFill>
          <a:ln w="12700">
            <a:solidFill>
              <a:srgbClr val="E7CFDD"/>
            </a:solidFill>
            <a:prstDash val="solid"/>
          </a:ln>
          <a:effectLst>
            <a:outerShdw sx="100000" sy="100000" kx="0" ky="0" algn="bl" rotWithShape="0" blurRad="101600" dist="25400" dir="5400000">
              <a:srgbClr val="4A1D3F">
                <a:alpha val="10000"/>
              </a:srgbClr>
            </a:outerShdw>
          </a:effectLst>
        </p:spPr>
      </p:sp>
      <p:pic>
        <p:nvPicPr>
          <p:cNvPr id="23" name="Illustration" descr="preencoded.png">    </p:cNvPr>
          <p:cNvPicPr>
            <a:picLocks noChangeAspect="1"/>
          </p:cNvPicPr>
          <p:nvPr/>
        </p:nvPicPr>
        <p:blipFill>
          <a:blip r:embed="rId6"/>
          <a:stretch>
            <a:fillRect/>
          </a:stretch>
        </p:blipFill>
        <p:spPr>
          <a:xfrm>
            <a:off x="9966960" y="2051685"/>
            <a:ext cx="1188720" cy="1188720"/>
          </a:xfrm>
          <a:prstGeom prst="rect">
            <a:avLst/>
          </a:prstGeom>
        </p:spPr>
      </p:pic>
      <p:sp>
        <p:nvSpPr>
          <p:cNvPr id="24" name="Text 15"/>
          <p:cNvSpPr txBox="1"/>
          <p:nvPr/>
        </p:nvSpPr>
        <p:spPr>
          <a:xfrm>
            <a:off x="9692640" y="3423285"/>
            <a:ext cx="1737360" cy="502920"/>
          </a:xfrm>
          <a:prstGeom prst="rect">
            <a:avLst/>
          </a:prstGeom>
          <a:noFill/>
          <a:ln/>
        </p:spPr>
        <p:txBody>
          <a:bodyPr wrap="square" lIns="0" tIns="0" rIns="0" bIns="0" rtlCol="0" anchor="ctr"/>
          <a:lstStyle/>
          <a:p>
            <a:pPr algn="ctr" indent="0" marL="0">
              <a:buNone/>
            </a:pPr>
            <a:r>
              <a:rPr lang="en-US" sz="1600" b="1" dirty="0">
                <a:solidFill>
                  <a:schemeClr val="tx2"/>
                </a:solidFill>
              </a:rPr>
              <a:t>잘 헤어지기</a:t>
            </a:r>
            <a:endParaRPr lang="en-US" sz="1600" dirty="0"/>
          </a:p>
        </p:txBody>
      </p:sp>
      <p:sp>
        <p:nvSpPr>
          <p:cNvPr id="25" name="Text 16"/>
          <p:cNvSpPr txBox="1"/>
          <p:nvPr/>
        </p:nvSpPr>
        <p:spPr>
          <a:xfrm>
            <a:off x="9738360" y="4017645"/>
            <a:ext cx="1645920" cy="377190"/>
          </a:xfrm>
          <a:prstGeom prst="rect">
            <a:avLst/>
          </a:prstGeom>
          <a:noFill/>
          <a:ln/>
        </p:spPr>
        <p:txBody>
          <a:bodyPr wrap="square" lIns="0" tIns="0" rIns="0" bIns="0" rtlCol="0" anchor="t"/>
          <a:lstStyle/>
          <a:p>
            <a:pPr algn="ctr" indent="0" marL="0">
              <a:buNone/>
            </a:pPr>
            <a:r>
              <a:rPr lang="en-US" sz="1400" dirty="0">
                <a:solidFill>
                  <a:schemeClr val="tx1"/>
                </a:solidFill>
              </a:rPr>
              <a:t>이별도 존중</a:t>
            </a:r>
            <a:endParaRPr lang="en-US" sz="1400" dirty="0"/>
          </a:p>
        </p:txBody>
      </p:sp>
      <p:sp>
        <p:nvSpPr>
          <p:cNvPr id="26" name="Card"/>
          <p:cNvSpPr/>
          <p:nvPr/>
        </p:nvSpPr>
        <p:spPr>
          <a:xfrm>
            <a:off x="548640" y="5029200"/>
            <a:ext cx="11064240" cy="868680"/>
          </a:xfrm>
          <a:prstGeom prst="roundRect">
            <a:avLst>
              <a:gd name="adj" fmla="val 21053"/>
            </a:avLst>
          </a:prstGeom>
          <a:solidFill>
            <a:schemeClr val="tx2"/>
          </a:solidFill>
          <a:ln/>
          <a:effectLst>
            <a:outerShdw sx="100000" sy="100000" kx="0" ky="0" algn="bl" rotWithShape="0" blurRad="101600" dist="25400" dir="5400000">
              <a:srgbClr val="4A1D3F">
                <a:alpha val="28000"/>
              </a:srgbClr>
            </a:outerShdw>
          </a:effectLst>
        </p:spPr>
      </p:sp>
      <p:pic>
        <p:nvPicPr>
          <p:cNvPr id="27" name="Illustration" descr="preencoded.png">    </p:cNvPr>
          <p:cNvPicPr>
            <a:picLocks noChangeAspect="1"/>
          </p:cNvPicPr>
          <p:nvPr/>
        </p:nvPicPr>
        <p:blipFill>
          <a:blip r:embed="rId7"/>
          <a:stretch>
            <a:fillRect/>
          </a:stretch>
        </p:blipFill>
        <p:spPr>
          <a:xfrm>
            <a:off x="777240" y="5120640"/>
            <a:ext cx="685800" cy="685800"/>
          </a:xfrm>
          <a:prstGeom prst="rect">
            <a:avLst/>
          </a:prstGeom>
        </p:spPr>
      </p:pic>
      <p:sp>
        <p:nvSpPr>
          <p:cNvPr id="28" name="Text 18"/>
          <p:cNvSpPr txBox="1"/>
          <p:nvPr/>
        </p:nvSpPr>
        <p:spPr>
          <a:xfrm>
            <a:off x="1691640" y="5029200"/>
            <a:ext cx="9692640" cy="868680"/>
          </a:xfrm>
          <a:prstGeom prst="rect">
            <a:avLst/>
          </a:prstGeom>
          <a:noFill/>
          <a:ln/>
        </p:spPr>
        <p:txBody>
          <a:bodyPr wrap="square" lIns="0" tIns="0" rIns="0" bIns="0" rtlCol="0" anchor="ctr"/>
          <a:lstStyle/>
          <a:p>
            <a:pPr indent="0" marL="0">
              <a:buNone/>
            </a:pPr>
            <a:r>
              <a:rPr lang="en-US" sz="1900" b="1" i="1" dirty="0">
                <a:solidFill>
                  <a:schemeClr val="bg1"/>
                </a:solidFill>
              </a:rPr>
              <a:t>“좋아하는 마음은 상대를 가두는 게 아니라 자유롭게 하는 것”</a:t>
            </a:r>
            <a:endParaRPr lang="en-US" sz="19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3" name="Illustration" descr="preencoded.png">    </p:cNvPr>
          <p:cNvPicPr>
            <a:picLocks noChangeAspect="1"/>
          </p:cNvPicPr>
          <p:nvPr/>
        </p:nvPicPr>
        <p:blipFill>
          <a:blip r:embed="rId1"/>
          <a:stretch>
            <a:fillRect/>
          </a:stretch>
        </p:blipFill>
        <p:spPr>
          <a:xfrm>
            <a:off x="731520" y="731520"/>
            <a:ext cx="914400" cy="914400"/>
          </a:xfrm>
          <a:prstGeom prst="rect">
            <a:avLst/>
          </a:prstGeom>
        </p:spPr>
      </p:pic>
      <p:sp>
        <p:nvSpPr>
          <p:cNvPr id="4" name="Text 0"/>
          <p:cNvSpPr txBox="1"/>
          <p:nvPr/>
        </p:nvSpPr>
        <p:spPr>
          <a:xfrm>
            <a:off x="731520" y="1828800"/>
            <a:ext cx="6858000" cy="1828800"/>
          </a:xfrm>
          <a:prstGeom prst="rect">
            <a:avLst/>
          </a:prstGeom>
          <a:noFill/>
          <a:ln/>
        </p:spPr>
        <p:txBody>
          <a:bodyPr wrap="square" lIns="0" tIns="0" rIns="0" bIns="0" rtlCol="0" anchor="t"/>
          <a:lstStyle/>
          <a:p>
            <a:pPr indent="0" marL="0">
              <a:buNone/>
            </a:pPr>
            <a:r>
              <a:rPr lang="en-US" sz="4400" b="1" dirty="0">
                <a:solidFill>
                  <a:schemeClr val="bg1"/>
                </a:solidFill>
              </a:rPr>
              <a:t>사랑은 통제가 아니라</a:t>
            </a:r>
            <a:endParaRPr lang="en-US" sz="4400" dirty="0"/>
          </a:p>
          <a:p>
            <a:pPr indent="0" marL="0">
              <a:buNone/>
            </a:pPr>
            <a:r>
              <a:rPr lang="en-US" sz="4400" b="1" dirty="0">
                <a:solidFill>
                  <a:schemeClr val="bg1"/>
                </a:solidFill>
              </a:rPr>
              <a:t>존중입니다</a:t>
            </a:r>
            <a:endParaRPr lang="en-US" sz="4400" dirty="0"/>
          </a:p>
        </p:txBody>
      </p:sp>
      <p:sp>
        <p:nvSpPr>
          <p:cNvPr id="5" name="Text 1"/>
          <p:cNvSpPr txBox="1"/>
          <p:nvPr/>
        </p:nvSpPr>
        <p:spPr>
          <a:xfrm>
            <a:off x="731520" y="3840480"/>
            <a:ext cx="6858000" cy="548640"/>
          </a:xfrm>
          <a:prstGeom prst="rect">
            <a:avLst/>
          </a:prstGeom>
          <a:noFill/>
          <a:ln/>
        </p:spPr>
        <p:txBody>
          <a:bodyPr wrap="square" lIns="0" tIns="0" rIns="0" bIns="0" rtlCol="0" anchor="ctr"/>
          <a:lstStyle/>
          <a:p>
            <a:pPr indent="0" marL="0">
              <a:buNone/>
            </a:pPr>
            <a:r>
              <a:rPr lang="en-US" sz="2000" dirty="0">
                <a:solidFill>
                  <a:schemeClr val="accent3"/>
                </a:solidFill>
              </a:rPr>
              <a:t>지켜진 약속이 건강한 관계를 만듭니다</a:t>
            </a:r>
            <a:endParaRPr lang="en-US" sz="2000" dirty="0"/>
          </a:p>
        </p:txBody>
      </p:sp>
      <p:sp>
        <p:nvSpPr>
          <p:cNvPr id="6" name="Text 2"/>
          <p:cNvSpPr txBox="1"/>
          <p:nvPr/>
        </p:nvSpPr>
        <p:spPr>
          <a:xfrm>
            <a:off x="731520" y="4937760"/>
            <a:ext cx="6858000" cy="640080"/>
          </a:xfrm>
          <a:prstGeom prst="rect">
            <a:avLst/>
          </a:prstGeom>
          <a:noFill/>
          <a:ln/>
        </p:spPr>
        <p:txBody>
          <a:bodyPr wrap="square" lIns="0" tIns="0" rIns="0" bIns="0" rtlCol="0" anchor="ctr"/>
          <a:lstStyle/>
          <a:p>
            <a:pPr indent="0" marL="0">
              <a:buNone/>
            </a:pPr>
            <a:r>
              <a:rPr lang="en-US" sz="2800" b="1" dirty="0">
                <a:solidFill>
                  <a:schemeClr val="accent1"/>
                </a:solidFill>
              </a:rPr>
              <a:t>112 · 117 · 1388 · 1366</a:t>
            </a:r>
            <a:endParaRPr lang="en-US" sz="2800" dirty="0"/>
          </a:p>
        </p:txBody>
      </p:sp>
      <p:sp>
        <p:nvSpPr>
          <p:cNvPr id="7" name="Illustration frame"/>
          <p:cNvSpPr/>
          <p:nvPr/>
        </p:nvSpPr>
        <p:spPr>
          <a:xfrm>
            <a:off x="8412480" y="1828800"/>
            <a:ext cx="2926080" cy="2926080"/>
          </a:xfrm>
          <a:prstGeom prst="ellipse">
            <a:avLst/>
          </a:prstGeom>
          <a:solidFill>
            <a:schemeClr val="bg1">
              <a:alpha val="12000"/>
            </a:schemeClr>
          </a:solidFill>
          <a:ln w="19050">
            <a:solidFill>
              <a:schemeClr val="accent3"/>
            </a:solidFill>
            <a:prstDash val="dash"/>
          </a:ln>
        </p:spPr>
      </p:sp>
      <p:pic>
        <p:nvPicPr>
          <p:cNvPr id="8" name="Illustration" descr="preencoded.png">    </p:cNvPr>
          <p:cNvPicPr>
            <a:picLocks noChangeAspect="1"/>
          </p:cNvPicPr>
          <p:nvPr/>
        </p:nvPicPr>
        <p:blipFill>
          <a:blip r:embed="rId2"/>
          <a:stretch>
            <a:fillRect/>
          </a:stretch>
        </p:blipFill>
        <p:spPr>
          <a:xfrm>
            <a:off x="8915400" y="2331720"/>
            <a:ext cx="1920240" cy="192024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Promise">
  <a:themeElements>
    <a:clrScheme name="Promise">
      <a:dk1>
        <a:srgbClr val="2B1B2E"/>
      </a:dk1>
      <a:lt1>
        <a:srgbClr val="FFFFFF"/>
      </a:lt1>
      <a:dk2>
        <a:srgbClr val="4A1D3F"/>
      </a:dk2>
      <a:lt2>
        <a:srgbClr val="F6EEF3"/>
      </a:lt2>
      <a:accent1>
        <a:srgbClr val="E8505B"/>
      </a:accent1>
      <a:accent2>
        <a:srgbClr val="4A1D3F"/>
      </a:accent2>
      <a:accent3>
        <a:srgbClr val="B98AA8"/>
      </a:accent3>
      <a:accent4>
        <a:srgbClr val="F2A541"/>
      </a:accent4>
      <a:accent5>
        <a:srgbClr val="3E8E7E"/>
      </a:accent5>
      <a:accent6>
        <a:srgbClr val="7A6C80"/>
      </a:accent6>
      <a:hlink>
        <a:srgbClr val="E8505B"/>
      </a:hlink>
      <a:folHlink>
        <a:srgbClr val="B98AA8"/>
      </a:folHlink>
    </a:clrScheme>
    <a:fontScheme name="Promis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데이트(교제)폭력과 약속</dc:title>
  <dc:subject>중·고등학생 대상 성폭력·교제폭력 예방교육</dc:subject>
  <dc:creator>PptxGenJS</dc:creator>
  <cp:lastModifiedBy>PptxGenJS</cp:lastModifiedBy>
  <cp:revision>1</cp:revision>
  <dcterms:created xsi:type="dcterms:W3CDTF">2026-10-26T01:10:16Z</dcterms:created>
  <dcterms:modified xsi:type="dcterms:W3CDTF">2026-10-26T01:10:16Z</dcterms:modified>
</cp:coreProperties>
</file>