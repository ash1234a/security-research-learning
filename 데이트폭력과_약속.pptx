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bffb9720-a982-f92e-1f4f-c77f10e40acc}">
          <p14:sldIdLst>
            <p14:sldId id="256"/>
          </p14:sldIdLst>
        </p14:section>
        <p14:section name="목차" id="{a985023b-c146-79de-e095-b91fa114612b}">
          <p14:sldIdLst>
            <p14:sldId id="257"/>
          </p14:sldIdLst>
        </p14:section>
        <p14:section name="1. 목적·정의·필요성" id="{1c25b874-05b5-1b65-c0d2-60fe5e36d008}">
          <p14:sldIdLst>
            <p14:sldId id="258"/>
            <p14:sldId id="259"/>
            <p14:sldId id="260"/>
          </p14:sldIdLst>
        </p14:section>
        <p14:section name="2. 늘어나는 이유" id="{6e8c580e-3593-b9fd-f353-30780901da20}">
          <p14:sldIdLst>
            <p14:sldId id="261"/>
            <p14:sldId id="262"/>
            <p14:sldId id="263"/>
            <p14:sldId id="264"/>
          </p14:sldIdLst>
        </p14:section>
        <p14:section name="3. 폭력 유형" id="{99d36ebd-eccb-86f6-dfcf-04e49a59e6ba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4. 대처·예방·신고" id="{050e18cd-f782-e070-116b-1fb771ffc18d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5. 노력과 다짐" id="{ea03772c-33e1-1abf-0b01-34887f34e39b}">
          <p14:sldIdLst>
            <p14:sldId id="279"/>
            <p14:sldId id="280"/>
            <p14:sldId id="281"/>
          </p14:sldIdLst>
        </p14:section>
        <p14:section name="6. 참고 영상" id="{2042fe45-48cf-bdc5-9f39-93c5a4216483}">
          <p14:sldIdLst>
            <p14:sldId id="282"/>
            <p14:sldId id="283"/>
          </p14:sldIdLst>
        </p14:section>
        <p14:section name="7. 내가 강사라면" id="{ece9a188-a938-d556-1ac9-5b487cd565fd}">
          <p14:sldIdLst>
            <p14:sldId id="284"/>
          </p14:sldIdLst>
        </p14:section>
        <p14:section name="마무리" id="{66ff7241-2819-ee48-e873-2b2cb02ea832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A1D3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A1D3F"/>
                </a:solidFill>
                <a:latin typeface="+mn-lt"/>
              </a:rPr>
              <a:t>교제폭력 112 신고 건수 (건)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신고 건수</c:v>
                </c:pt>
              </c:strCache>
            </c:strRef>
          </c:tx>
          <c:spPr>
            <a:solidFill>
              <a:srgbClr val="E850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B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57305</c:v>
                </c:pt>
                <c:pt idx="1">
                  <c:v>70790</c:v>
                </c:pt>
                <c:pt idx="2">
                  <c:v>77150</c:v>
                </c:pt>
                <c:pt idx="3">
                  <c:v>88394</c:v>
                </c:pt>
                <c:pt idx="4">
                  <c:v>105327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B1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6C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6C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A1D3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A1D3F"/>
                </a:solidFill>
                <a:latin typeface="+mn-lt"/>
              </a:rPr>
              <a:t>교제폭력으로 검거된 10대 (명)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10대 검거</c:v>
                </c:pt>
              </c:strCache>
            </c:strRef>
          </c:tx>
          <c:spPr>
            <a:solidFill>
              <a:srgbClr val="4A1D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B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2020</c:v>
                  </c:pt>
                  <c:pt idx="1">
                    <c:v>2024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280</c:v>
                </c:pt>
                <c:pt idx="1">
                  <c:v>626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B1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6C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6C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181명은 언론 보도된 사건만 집계한 최소치(한국여성의전화, 정부 공식 통계 아님). 1.8%는 성폭력 피해 경험자 전체 기준 경찰 신고율.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42.9%는 경찰청이 일주일간 접수된 신고 1,129건을 분석한 표본 결과(현장 종결 840건 중 360건).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검찰은 대법원 양형위원회 상해치사 기준이 3~5년(가중 4~8년)에 불과하다며 교제폭력을 별도 기준으로 다뤄야 한다고 주장.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제주 사건은 2026년 10월 현재 수사 중. 가해자는 60대 전 연인으로 구속영장 신청됨.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6984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데이트(교제)폭력과 약속 · 성폭력예방교육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shp.mogef.go.kr/shp/front/usr/search/selectEduContentsSubAjax.do" TargetMode="External"/><Relationship Id="rId4" Type="http://schemas.openxmlformats.org/officeDocument/2006/relationships/hyperlink" Target="https://www.youtube.com/watch?v=huUTDSiDpM8" TargetMode="External"/><Relationship Id="rId6" Type="http://schemas.openxmlformats.org/officeDocument/2006/relationships/hyperlink" Target="https://news.seoul.go.kr/welfare/archives/tag/%eb%8d%b0%ec%9d%b4%ed%8a%b8%ed%8f%ad%eb%a0%a5" TargetMode="External"/><Relationship Id="rId1" Type="http://schemas.openxmlformats.org/officeDocument/2006/relationships/image" Target="../media/image-27-1.png"/><Relationship Id="rId3" Type="http://schemas.openxmlformats.org/officeDocument/2006/relationships/image" Target="../media/image-27-2.png"/><Relationship Id="rId5" Type="http://schemas.openxmlformats.org/officeDocument/2006/relationships/image" Target="../media/image-27-3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omi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82296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데이트(교제)폭력과 약속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4747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3"/>
                </a:solidFill>
              </a:rPr>
              <a:t>성폭력예방교육 · 존중으로 지키는 관계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5669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발표자: ____________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오늘 함께 이야기할 내용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목차</a:t>
            </a:r>
            <a:endParaRPr lang="en-US" sz="1200" dirty="0"/>
          </a:p>
        </p:txBody>
      </p:sp>
      <p:sp>
        <p:nvSpPr>
          <p:cNvPr id="4" name="Card"/>
          <p:cNvSpPr/>
          <p:nvPr/>
        </p:nvSpPr>
        <p:spPr>
          <a:xfrm>
            <a:off x="548640" y="155448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5544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성폭력예방교육의 목적·정의·필요성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269748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69748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26974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데이트(교제)폭력이 늘어나는 이유</a:t>
            </a:r>
            <a:endParaRPr lang="en-US" sz="1800" dirty="0"/>
          </a:p>
        </p:txBody>
      </p:sp>
      <p:sp>
        <p:nvSpPr>
          <p:cNvPr id="10" name="Card"/>
          <p:cNvSpPr/>
          <p:nvPr/>
        </p:nvSpPr>
        <p:spPr>
          <a:xfrm>
            <a:off x="548640" y="384048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84048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38404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데이트폭력의 유형</a:t>
            </a:r>
            <a:endParaRPr lang="en-US" sz="1800" dirty="0"/>
          </a:p>
        </p:txBody>
      </p:sp>
      <p:sp>
        <p:nvSpPr>
          <p:cNvPr id="13" name="Card"/>
          <p:cNvSpPr/>
          <p:nvPr/>
        </p:nvSpPr>
        <p:spPr>
          <a:xfrm>
            <a:off x="548640" y="498348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98348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49834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대처·예방 방법과 신고</a:t>
            </a:r>
            <a:endParaRPr lang="en-US" sz="1800" dirty="0"/>
          </a:p>
        </p:txBody>
      </p:sp>
      <p:sp>
        <p:nvSpPr>
          <p:cNvPr id="16" name="Card"/>
          <p:cNvSpPr/>
          <p:nvPr/>
        </p:nvSpPr>
        <p:spPr>
          <a:xfrm>
            <a:off x="6217920" y="155448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155448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15544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아름다운 이성교제를 위한 노력과 다짐</a:t>
            </a:r>
            <a:endParaRPr lang="en-US" sz="1800" dirty="0"/>
          </a:p>
        </p:txBody>
      </p:sp>
      <p:sp>
        <p:nvSpPr>
          <p:cNvPr id="19" name="Card"/>
          <p:cNvSpPr/>
          <p:nvPr/>
        </p:nvSpPr>
        <p:spPr>
          <a:xfrm>
            <a:off x="6217920" y="269748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269748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26974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참고 영상</a:t>
            </a:r>
            <a:endParaRPr lang="en-US" sz="1800" dirty="0"/>
          </a:p>
        </p:txBody>
      </p:sp>
      <p:sp>
        <p:nvSpPr>
          <p:cNvPr id="22" name="Card"/>
          <p:cNvSpPr/>
          <p:nvPr/>
        </p:nvSpPr>
        <p:spPr>
          <a:xfrm>
            <a:off x="6217920" y="384048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6520" y="384048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07</a:t>
            </a:r>
            <a:endParaRPr lang="en-US" sz="28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0" y="38404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내가 성폭력 예방강사라면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성폭력예방교육의 목적과 정의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1. 목적·정의·필요성</a:t>
            </a:r>
            <a:endParaRPr lang="en-US" sz="12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</p:spPr>
      </p:sp>
      <p:sp>
        <p:nvSpPr>
          <p:cNvPr id="5" name="Icon circle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389" y="1967789"/>
            <a:ext cx="362102" cy="3621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17373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교육의 목적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43200"/>
            <a:ext cx="49377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성폭력이 무엇인지 정확히 알고 가해·피해를 예방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상대의 몸과 마음, 결정을 존중하는 태도 기르기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피해가 생겼을 때 대처·신고·도움 요청 방법 익히기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법적 근거: 「성폭력방지 및 피해자보호 등에 관한 법률」 제5조 — 학교·공공기관 등은 매년 예방교육을 실시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6217920" y="146304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9224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성폭력이란?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210312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상대방의 동의 없이 성적인 말·행동을 하거나 강요하여 신체적·정신적 피해를 주는 모든 행위 (성희롱, 성추행, 강간, 디지털 성범죄 등 포함)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217920" y="388620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92240" y="40233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데이트(교제)폭력이란?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6492240" y="452628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사귀는 사이 또는 사귀었던 사이에서 상대를 통제하고 상처 주는 신체적·정서적·언어적·성적·경제적 폭력과 스토킹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왜 지금 이 교육이 필요할까요? 숫자가 말해 줍니다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1. 목적·정의·필요성</a:t>
            </a:r>
            <a:endParaRPr lang="en-US" sz="12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3474720" cy="44348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10만 5,327건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517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2025년 교제폭력 112 신고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2900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하루 약 289건. 5년 전(5만 7,305건)의 1.84배로, 누구의 주변에서나 일어나고 있어요.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4297680" y="1463040"/>
            <a:ext cx="3474720" cy="44348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0" y="16916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최소 181명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6517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2024년 남편·애인 등에게 살해된 여성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42900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살인미수까지 더하면 555명. 15.8시간마다 1명이 죽거나 죽을 뻔했어요. 폭력은 점점 심해집니다.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8046720" y="1463040"/>
            <a:ext cx="3474720" cy="44348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21040" y="16916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1.8%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6517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성폭력 피해 후 경찰에 신고한 비율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42900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친밀한 관계일수록 ‘사랑싸움’, ‘내 탓’이라 여겨 숨기게 돼요. 그래서 교육이 필요합니다.</a:t>
            </a:r>
            <a:endParaRPr lang="en-US" sz="1500" dirty="0"/>
          </a:p>
        </p:txBody>
      </p:sp>
      <p:sp>
        <p:nvSpPr>
          <p:cNvPr id="16" name="Source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출처: 경찰청 자료(박정현 의원실, 2026.9) · 한국여성의전화 「2024 분노의 게이지」 · 성평등가족부 「2025 성폭력 안전실태조사」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핵심 개념: ‘동의’란 무엇일까요?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1. 목적·정의·필요성</a:t>
            </a:r>
            <a:endParaRPr lang="en-US" sz="1200" dirty="0"/>
          </a:p>
        </p:txBody>
      </p:sp>
      <p:sp>
        <p:nvSpPr>
          <p:cNvPr id="4" name="Consent circle"/>
          <p:cNvSpPr/>
          <p:nvPr/>
        </p:nvSpPr>
        <p:spPr>
          <a:xfrm>
            <a:off x="548640" y="1554480"/>
            <a:ext cx="3840480" cy="38404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YES</a:t>
            </a:r>
            <a:endParaRPr lang="en-US" sz="54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만이 동의</a:t>
            </a:r>
            <a:endParaRPr lang="en-US" sz="5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침묵 · 망설임 · 거절 못함은</a:t>
            </a:r>
            <a:endParaRPr lang="en-US" sz="5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동의가 아닙니다</a:t>
            </a:r>
            <a:endParaRPr lang="en-US" sz="5400" dirty="0"/>
          </a:p>
        </p:txBody>
      </p:sp>
      <p:sp>
        <p:nvSpPr>
          <p:cNvPr id="6" name="Card"/>
          <p:cNvSpPr/>
          <p:nvPr/>
        </p:nvSpPr>
        <p:spPr>
          <a:xfrm>
            <a:off x="4846320" y="1463040"/>
            <a:ext cx="6766560" cy="786384"/>
          </a:xfrm>
          <a:prstGeom prst="roundRect">
            <a:avLst>
              <a:gd name="adj" fmla="val 13953"/>
            </a:avLst>
          </a:prstGeom>
          <a:solidFill>
            <a:schemeClr val="bg2"/>
          </a:solidFill>
          <a:ln/>
        </p:spPr>
      </p:sp>
      <p:sp>
        <p:nvSpPr>
          <p:cNvPr id="7" name="Icon circle"/>
          <p:cNvSpPr/>
          <p:nvPr/>
        </p:nvSpPr>
        <p:spPr>
          <a:xfrm>
            <a:off x="5029200" y="1618488"/>
            <a:ext cx="475488" cy="47548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8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2337" y="1751625"/>
            <a:ext cx="209215" cy="20921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0" y="1463040"/>
            <a:ext cx="2011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자유롭게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1463040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협박·압박·분위기에 떠밀리지 않은 스스로의 선택이어야 해요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4846320" y="2377440"/>
            <a:ext cx="6766560" cy="786384"/>
          </a:xfrm>
          <a:prstGeom prst="roundRect">
            <a:avLst>
              <a:gd name="adj" fmla="val 13953"/>
            </a:avLst>
          </a:prstGeom>
          <a:solidFill>
            <a:schemeClr val="bg2"/>
          </a:solidFill>
          <a:ln/>
        </p:spPr>
      </p:sp>
      <p:sp>
        <p:nvSpPr>
          <p:cNvPr id="12" name="Icon circle"/>
          <p:cNvSpPr/>
          <p:nvPr/>
        </p:nvSpPr>
        <p:spPr>
          <a:xfrm>
            <a:off x="5029200" y="2532888"/>
            <a:ext cx="475488" cy="47548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3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2337" y="2666025"/>
            <a:ext cx="209215" cy="20921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669280" y="2377440"/>
            <a:ext cx="2011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분명하게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7680960" y="2377440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말이나 행동으로 확실하게 표현되어야 해요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4846320" y="3291840"/>
            <a:ext cx="6766560" cy="786384"/>
          </a:xfrm>
          <a:prstGeom prst="roundRect">
            <a:avLst>
              <a:gd name="adj" fmla="val 13953"/>
            </a:avLst>
          </a:prstGeom>
          <a:solidFill>
            <a:schemeClr val="bg2"/>
          </a:solidFill>
          <a:ln/>
        </p:spPr>
      </p:sp>
      <p:sp>
        <p:nvSpPr>
          <p:cNvPr id="17" name="Icon circle"/>
          <p:cNvSpPr/>
          <p:nvPr/>
        </p:nvSpPr>
        <p:spPr>
          <a:xfrm>
            <a:off x="5029200" y="3447288"/>
            <a:ext cx="475488" cy="47548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8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2337" y="3580425"/>
            <a:ext cx="209215" cy="20921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669280" y="3291840"/>
            <a:ext cx="2011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그때마다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7680960" y="3291840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어제의 동의가 오늘의 동의는 아니에요. 매번 확인해요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4846320" y="4206240"/>
            <a:ext cx="6766560" cy="786384"/>
          </a:xfrm>
          <a:prstGeom prst="roundRect">
            <a:avLst>
              <a:gd name="adj" fmla="val 13953"/>
            </a:avLst>
          </a:prstGeom>
          <a:solidFill>
            <a:schemeClr val="bg2"/>
          </a:solidFill>
          <a:ln/>
        </p:spPr>
      </p:sp>
      <p:sp>
        <p:nvSpPr>
          <p:cNvPr id="22" name="Icon circle"/>
          <p:cNvSpPr/>
          <p:nvPr/>
        </p:nvSpPr>
        <p:spPr>
          <a:xfrm>
            <a:off x="5029200" y="4361688"/>
            <a:ext cx="475488" cy="47548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3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2337" y="4494825"/>
            <a:ext cx="209215" cy="20921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669280" y="4206240"/>
            <a:ext cx="2011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언제든 철회 가능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7680960" y="4206240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중간에 ‘그만’이라고 하면 바로 멈춰야 해요</a:t>
            </a:r>
            <a:endParaRPr lang="en-US" sz="1400" dirty="0"/>
          </a:p>
        </p:txBody>
      </p:sp>
      <p:sp>
        <p:nvSpPr>
          <p:cNvPr id="26" name="Card"/>
          <p:cNvSpPr/>
          <p:nvPr/>
        </p:nvSpPr>
        <p:spPr>
          <a:xfrm>
            <a:off x="4846320" y="5120640"/>
            <a:ext cx="6766560" cy="786384"/>
          </a:xfrm>
          <a:prstGeom prst="roundRect">
            <a:avLst>
              <a:gd name="adj" fmla="val 13953"/>
            </a:avLst>
          </a:prstGeom>
          <a:solidFill>
            <a:schemeClr val="bg2"/>
          </a:solidFill>
          <a:ln/>
        </p:spPr>
      </p:sp>
      <p:sp>
        <p:nvSpPr>
          <p:cNvPr id="27" name="Icon circle"/>
          <p:cNvSpPr/>
          <p:nvPr/>
        </p:nvSpPr>
        <p:spPr>
          <a:xfrm>
            <a:off x="5029200" y="5276088"/>
            <a:ext cx="475488" cy="47548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8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2337" y="5409225"/>
            <a:ext cx="209215" cy="209215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669280" y="5120640"/>
            <a:ext cx="2011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판단할 수 있는 상태</a:t>
            </a:r>
            <a:endParaRPr lang="en-US" sz="1700" dirty="0"/>
          </a:p>
        </p:txBody>
      </p:sp>
      <p:sp>
        <p:nvSpPr>
          <p:cNvPr id="30" name="Text 23"/>
          <p:cNvSpPr txBox="1"/>
          <p:nvPr/>
        </p:nvSpPr>
        <p:spPr>
          <a:xfrm>
            <a:off x="7680960" y="5120640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술에 취하거나 잠든 상태에서는 동의할 수 없어요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교제폭력 신고, 5년 만에 10만 건을 넘었습니다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2. 늘어나는 이유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25880"/>
          <a:ext cx="594360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"/>
          <p:cNvSpPr/>
          <p:nvPr/>
        </p:nvSpPr>
        <p:spPr>
          <a:xfrm>
            <a:off x="548640" y="4846320"/>
            <a:ext cx="187452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48920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1.84배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54406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5년간 신고 증가</a:t>
            </a:r>
            <a:endParaRPr lang="en-US" sz="1200" dirty="0"/>
          </a:p>
        </p:txBody>
      </p:sp>
      <p:sp>
        <p:nvSpPr>
          <p:cNvPr id="8" name="Card"/>
          <p:cNvSpPr/>
          <p:nvPr/>
        </p:nvSpPr>
        <p:spPr>
          <a:xfrm>
            <a:off x="2560320" y="4846320"/>
            <a:ext cx="187452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697480" y="48920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하루 289건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2697480" y="54406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2025년 하루 평균</a:t>
            </a:r>
            <a:endParaRPr lang="en-US" sz="1200" dirty="0"/>
          </a:p>
        </p:txBody>
      </p:sp>
      <p:sp>
        <p:nvSpPr>
          <p:cNvPr id="11" name="Card"/>
          <p:cNvSpPr/>
          <p:nvPr/>
        </p:nvSpPr>
        <p:spPr>
          <a:xfrm>
            <a:off x="4572000" y="4846320"/>
            <a:ext cx="187452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709160" y="48920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13.8%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709160" y="54406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신고 대비 검거율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0" y="1325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왜 늘어날까?</a:t>
            </a:r>
            <a:endParaRPr lang="en-US" sz="2000" dirty="0"/>
          </a:p>
        </p:txBody>
      </p:sp>
      <p:sp>
        <p:nvSpPr>
          <p:cNvPr id="15" name="Card"/>
          <p:cNvSpPr/>
          <p:nvPr/>
        </p:nvSpPr>
        <p:spPr>
          <a:xfrm>
            <a:off x="6858000" y="1874520"/>
            <a:ext cx="475488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040880" y="19476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SNS·스마트폰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040880" y="231343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위치 공유, 메시지 감시, 불법촬영까지 24시간 통제가 쉬워짐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6858000" y="2898648"/>
            <a:ext cx="475488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040880" y="2971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잘못된 연애 인식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33375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질투·집착을 ‘사랑’으로 착각하는 문화와 미디어</a:t>
            </a:r>
            <a:endParaRPr lang="en-US" sz="1300" dirty="0"/>
          </a:p>
        </p:txBody>
      </p:sp>
      <p:sp>
        <p:nvSpPr>
          <p:cNvPr id="21" name="Card"/>
          <p:cNvSpPr/>
          <p:nvPr/>
        </p:nvSpPr>
        <p:spPr>
          <a:xfrm>
            <a:off x="6858000" y="3922776"/>
            <a:ext cx="475488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040880" y="39959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약한 처벌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36168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구속률 2%대, 현장 종결 절반 이상 → 가해자가 ‘괜찮다’고 학습</a:t>
            </a:r>
            <a:endParaRPr lang="en-US" sz="1300" dirty="0"/>
          </a:p>
        </p:txBody>
      </p:sp>
      <p:sp>
        <p:nvSpPr>
          <p:cNvPr id="24" name="Card"/>
          <p:cNvSpPr/>
          <p:nvPr/>
        </p:nvSpPr>
        <p:spPr>
          <a:xfrm>
            <a:off x="6858000" y="4946904"/>
            <a:ext cx="475488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040880" y="502005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신고 인식 향상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7040880" y="5385816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‘개인 문제’가 아닌 범죄라는 인식으로 숨은 피해가 드러남</a:t>
            </a:r>
            <a:endParaRPr lang="en-US" sz="1300" dirty="0"/>
          </a:p>
        </p:txBody>
      </p:sp>
      <p:sp>
        <p:nvSpPr>
          <p:cNvPr id="27" name="Source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출처: 경찰청 자료(국회 행정안전위 박정현 의원실 공개, 2026.9.17) · 2025년 검거 1만 4,526명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신고는 늘었지만, 처벌은 제자리입니다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2. 늘어나는 이유</a:t>
            </a:r>
            <a:endParaRPr lang="en-US" sz="12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260604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54.4%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2023년 교제폭력 신고 중 정식 사건이 되지 못하고 현장에서 끝난 비율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3337560" y="1463040"/>
            <a:ext cx="260604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11880" y="164592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42.9%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60604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현장 종결 사건 중 ‘처벌을 원치 않는다’는 이유로 끝난 비율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6126480" y="1463040"/>
            <a:ext cx="260604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0" y="164592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2.2%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60604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최근 5년 교제폭력 검거 5만 6,079명 중 구속된 비율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8915400" y="1463040"/>
            <a:ext cx="260604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89720" y="164592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411명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189720" y="260604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2025년 같은 피해로 10번 이상 다시 신고한 피해자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48640" y="4069080"/>
            <a:ext cx="11064240" cy="182880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2062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왜 이런 일이 생길까? ‘반의사불벌’의 덫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66344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교제폭력은 별도 법이 없어 폭행·협박죄로 처리돼요. 이 죄들은 피해자가 ‘처벌을 원치 않는다’고 하면 처벌할 수 없는 반의사불벌죄예요. 그래서 가해자는 피해자를 회유하거나 협박해 합의를 받아 내고, 풀려난 뒤 폭력이 반복됩니다.</a:t>
            </a:r>
            <a:endParaRPr lang="en-US" sz="1500" dirty="0"/>
          </a:p>
        </p:txBody>
      </p:sp>
      <p:sp>
        <p:nvSpPr>
          <p:cNvPr id="19" name="Source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출처: 국회입법조사처(2023 현장 종결) · 경찰청 표본 분석(신고 1,129건) · 경찰청 5년 구속 현황 · 박정현 의원실(재신고)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10대와 디지털: 더 어려지고, 더 교묘해집니다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2. 늘어나는 이유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25880"/>
          <a:ext cx="49377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0749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4년 만에 2.2배 · 모든 연령대 중 유일하게 매년 증가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5943600" y="1371600"/>
            <a:ext cx="566928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217920" y="155448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불법촬영·딥페이크 피해 여성의 가해자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217920" y="201168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42.5%</a:t>
            </a:r>
            <a:endParaRPr lang="en-US" sz="60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30175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가 ‘전 애인’ (2022년 13.8% → 2025년 42.5%)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3566160"/>
            <a:ext cx="5212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현재 애인 18.1%까지 더하면 60%가 연인·전 연인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유포 사실을 ‘유포자의 협박’으로 알게 된 경우 32.3%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“나만 볼게”라는 약속이 협박 도구가 됩니다</a:t>
            </a:r>
            <a:endParaRPr lang="en-US" sz="1400" dirty="0"/>
          </a:p>
        </p:txBody>
      </p:sp>
      <p:sp>
        <p:nvSpPr>
          <p:cNvPr id="11" name="Source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출처: 경찰청 자료(뉴시스 2025.9.4, 2022년부터 형사입건자만 집계) · 성평등가족부 「2025 성폭력 안전실태조사」(19~64세 1만 151명)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이별, 가장 위험한 순간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2. 늘어나는 이유</a:t>
            </a:r>
            <a:endParaRPr lang="en-US" sz="12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356616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59.6%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배우자·동거 파트너와 헤어진 여성 중 이별 전후 폭력(신체·성적·경제·정서)을 겪은 비율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97680" y="1463040"/>
            <a:ext cx="356616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16459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29.1%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6060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이별 전후 스토킹 피해를 겪은 여성 비율 (남성 18.9%)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46720" y="1463040"/>
            <a:ext cx="3566160" cy="246888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21040" y="16459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80.9%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6060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이별 전후 폭력 피해자 중 누구에게도 도움을 요청하지 않은 비율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160520"/>
            <a:ext cx="110642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297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왜 이별할 때 위험할까?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709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상대를 ‘소유’로 여기는 가해자에게 이별은 통제를 잃는 순간이에요. 그래서 이별 통보 뒤 집착·스토킹·보복이 집중됩니다. 이 뒤에 볼 강남역·거제·신당역 사건 모두 ‘헤어진 뒤’ 또는 ‘헤어지는 과정’에서 일어났어요.</a:t>
            </a:r>
            <a:endParaRPr lang="en-US" sz="1500" dirty="0"/>
          </a:p>
        </p:txBody>
      </p:sp>
      <p:sp>
        <p:nvSpPr>
          <p:cNvPr id="16" name="Source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출처: 성평등가족부 「2025년 가정폭력 실태조사」(2026.7.30 발표) — 이혼·별거·동거 종료 경험자 대상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데이트폭력의 6가지 유형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3. 폭력 유형</a:t>
            </a:r>
            <a:endParaRPr lang="en-US" sz="12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5" name="Icon circle"/>
          <p:cNvSpPr/>
          <p:nvPr/>
        </p:nvSpPr>
        <p:spPr>
          <a:xfrm>
            <a:off x="822960" y="173736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587" y="1954987"/>
            <a:ext cx="341986" cy="34198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7373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신체적 폭력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517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때리기, 밀치기, 물건 던지기, 못 가게 붙잡기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29768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0" name="Icon circle"/>
          <p:cNvSpPr/>
          <p:nvPr/>
        </p:nvSpPr>
        <p:spPr>
          <a:xfrm>
            <a:off x="4572000" y="173736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9627" y="1954987"/>
            <a:ext cx="341986" cy="34198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17373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언어·정서적 폭력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26517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욕설, 비하, 무시, 위협, ‘헤어지면 죽겠다’는 협박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804672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5" name="Icon circle"/>
          <p:cNvSpPr/>
          <p:nvPr/>
        </p:nvSpPr>
        <p:spPr>
          <a:xfrm>
            <a:off x="8321040" y="173736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6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8667" y="1954987"/>
            <a:ext cx="341986" cy="34198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35440" y="17373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성적 폭력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26517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원치 않는 스킨십·성관계 강요, 피임 거부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54864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0" name="Icon circle"/>
          <p:cNvSpPr/>
          <p:nvPr/>
        </p:nvSpPr>
        <p:spPr>
          <a:xfrm>
            <a:off x="822960" y="411480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1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" y="4332427"/>
            <a:ext cx="341986" cy="34198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737360" y="41148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통제·감시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50292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휴대폰 검사, 위치 공유 강요, 친구·옷차림 간섭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429768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5" name="Icon circle"/>
          <p:cNvSpPr/>
          <p:nvPr/>
        </p:nvSpPr>
        <p:spPr>
          <a:xfrm>
            <a:off x="4572000" y="411480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9627" y="4332427"/>
            <a:ext cx="341986" cy="34198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486400" y="41148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경제적 폭력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4572000" y="50292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돈 빌리고 안 갚기, 비용 전가, 선물 강요</a:t>
            </a:r>
            <a:endParaRPr lang="en-US" sz="1400" dirty="0"/>
          </a:p>
        </p:txBody>
      </p:sp>
      <p:sp>
        <p:nvSpPr>
          <p:cNvPr id="29" name="Card"/>
          <p:cNvSpPr/>
          <p:nvPr/>
        </p:nvSpPr>
        <p:spPr>
          <a:xfrm>
            <a:off x="804672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30" name="Icon circle"/>
          <p:cNvSpPr/>
          <p:nvPr/>
        </p:nvSpPr>
        <p:spPr>
          <a:xfrm>
            <a:off x="8321040" y="411480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1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8667" y="4332427"/>
            <a:ext cx="341986" cy="341986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235440" y="41148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디지털·스토킹</a:t>
            </a:r>
            <a:endParaRPr lang="en-US" sz="1800" dirty="0"/>
          </a:p>
        </p:txBody>
      </p:sp>
      <p:sp>
        <p:nvSpPr>
          <p:cNvPr id="33" name="Text 25"/>
          <p:cNvSpPr txBox="1"/>
          <p:nvPr/>
        </p:nvSpPr>
        <p:spPr>
          <a:xfrm>
            <a:off x="8321040" y="50292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사진 유포 협박, 몰래 촬영, 계속 연락·찾아오기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약속과 신뢰를 깨뜨리는 말과 행동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3. 폭력 유형</a:t>
            </a:r>
            <a:endParaRPr lang="en-US" sz="12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60350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pic>
        <p:nvPicPr>
          <p:cNvPr id="5" name="Quot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19072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4630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“너 때문에 내가 이러는 거잖아.”</a:t>
            </a:r>
            <a:endParaRPr lang="en-US" sz="1700" dirty="0"/>
          </a:p>
        </p:txBody>
      </p:sp>
      <p:sp>
        <p:nvSpPr>
          <p:cNvPr id="7" name="Card"/>
          <p:cNvSpPr/>
          <p:nvPr/>
        </p:nvSpPr>
        <p:spPr>
          <a:xfrm>
            <a:off x="548640" y="2578608"/>
            <a:ext cx="60350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pic>
        <p:nvPicPr>
          <p:cNvPr id="8" name="Quot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834640"/>
            <a:ext cx="411480" cy="4114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2578608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“비밀번호 알려줘. 숨길 거 없으면.”</a:t>
            </a:r>
            <a:endParaRPr lang="en-US" sz="1700" dirty="0"/>
          </a:p>
        </p:txBody>
      </p:sp>
      <p:sp>
        <p:nvSpPr>
          <p:cNvPr id="10" name="Card"/>
          <p:cNvSpPr/>
          <p:nvPr/>
        </p:nvSpPr>
        <p:spPr>
          <a:xfrm>
            <a:off x="548640" y="3694176"/>
            <a:ext cx="60350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pic>
        <p:nvPicPr>
          <p:cNvPr id="11" name="Quote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50208"/>
            <a:ext cx="411480" cy="4114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3694176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“걔랑 연락하지 마. 나만 보면 되잖아.”</a:t>
            </a:r>
            <a:endParaRPr lang="en-US" sz="1700" dirty="0"/>
          </a:p>
        </p:txBody>
      </p:sp>
      <p:sp>
        <p:nvSpPr>
          <p:cNvPr id="13" name="Card"/>
          <p:cNvSpPr/>
          <p:nvPr/>
        </p:nvSpPr>
        <p:spPr>
          <a:xfrm>
            <a:off x="548640" y="4809744"/>
            <a:ext cx="60350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pic>
        <p:nvPicPr>
          <p:cNvPr id="14" name="Quote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065776"/>
            <a:ext cx="411480" cy="4114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371600" y="480974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“헤어지자고 하면 사진 다 올릴 거야.”</a:t>
            </a:r>
            <a:endParaRPr lang="en-US" sz="1700" dirty="0"/>
          </a:p>
        </p:txBody>
      </p:sp>
      <p:sp>
        <p:nvSpPr>
          <p:cNvPr id="16" name="Card"/>
          <p:cNvSpPr/>
          <p:nvPr/>
        </p:nvSpPr>
        <p:spPr>
          <a:xfrm>
            <a:off x="6949440" y="1463040"/>
            <a:ext cx="4663440" cy="4261104"/>
          </a:xfrm>
          <a:prstGeom prst="roundRect">
            <a:avLst>
              <a:gd name="adj" fmla="val 2575"/>
            </a:avLst>
          </a:prstGeom>
          <a:solidFill>
            <a:schemeClr val="tx2"/>
          </a:solidFill>
          <a:ln/>
        </p:spPr>
      </p:sp>
      <p:sp>
        <p:nvSpPr>
          <p:cNvPr id="17" name="Text 11"/>
          <p:cNvSpPr txBox="1"/>
          <p:nvPr/>
        </p:nvSpPr>
        <p:spPr>
          <a:xfrm>
            <a:off x="7223760" y="16916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이런 행동도 신뢰를 깨요</a:t>
            </a:r>
            <a:endParaRPr lang="en-US" sz="1900" dirty="0"/>
          </a:p>
        </p:txBody>
      </p:sp>
      <p:sp>
        <p:nvSpPr>
          <p:cNvPr id="18" name="Text 12"/>
          <p:cNvSpPr txBox="1"/>
          <p:nvPr/>
        </p:nvSpPr>
        <p:spPr>
          <a:xfrm>
            <a:off x="7223760" y="2286000"/>
            <a:ext cx="4206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약속을 반복해서 어기고 사과 없이 넘기기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거짓말, 몰래 휴대폰 보기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“다시는 안 그럴게” 후 같은 폭력 반복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둘만의 비밀·사진을 다른 사람에게 공유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상대의 ‘싫어’를 장난으로 무시하기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사랑한다는 말 뒤에 숨은 ‘통제’도 폭력입니다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왜 쉽게 벗어나지 못할까? 폭력의 순환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3. 폭력 유형</a:t>
            </a:r>
            <a:endParaRPr lang="en-US" sz="1200" dirty="0"/>
          </a:p>
        </p:txBody>
      </p:sp>
      <p:sp>
        <p:nvSpPr>
          <p:cNvPr id="4" name="Cycle step"/>
          <p:cNvSpPr/>
          <p:nvPr/>
        </p:nvSpPr>
        <p:spPr>
          <a:xfrm>
            <a:off x="2240280" y="1417320"/>
            <a:ext cx="2103120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40280" y="14173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① 긴장 형성</a:t>
            </a:r>
            <a:endParaRPr lang="en-US" sz="1700" dirty="0"/>
          </a:p>
        </p:txBody>
      </p:sp>
      <p:sp>
        <p:nvSpPr>
          <p:cNvPr id="6" name="Cycle step"/>
          <p:cNvSpPr/>
          <p:nvPr/>
        </p:nvSpPr>
        <p:spPr>
          <a:xfrm>
            <a:off x="4251960" y="3063240"/>
            <a:ext cx="2103120" cy="96012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251960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② 폭력 발생</a:t>
            </a:r>
            <a:endParaRPr lang="en-US" sz="1700" dirty="0"/>
          </a:p>
        </p:txBody>
      </p:sp>
      <p:sp>
        <p:nvSpPr>
          <p:cNvPr id="8" name="Cycle step"/>
          <p:cNvSpPr/>
          <p:nvPr/>
        </p:nvSpPr>
        <p:spPr>
          <a:xfrm>
            <a:off x="2240280" y="4709160"/>
            <a:ext cx="2103120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40280" y="470916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③ 화해(허니문)</a:t>
            </a:r>
            <a:endParaRPr lang="en-US" sz="1700" dirty="0"/>
          </a:p>
        </p:txBody>
      </p:sp>
      <p:sp>
        <p:nvSpPr>
          <p:cNvPr id="10" name="Cycle step"/>
          <p:cNvSpPr/>
          <p:nvPr/>
        </p:nvSpPr>
        <p:spPr>
          <a:xfrm>
            <a:off x="228600" y="3063240"/>
            <a:ext cx="2103120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8600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④ 안정기</a:t>
            </a:r>
            <a:endParaRPr lang="en-US" sz="1700" dirty="0"/>
          </a:p>
        </p:txBody>
      </p:sp>
      <p:sp>
        <p:nvSpPr>
          <p:cNvPr id="12" name="Cycle arrow"/>
          <p:cNvSpPr/>
          <p:nvPr/>
        </p:nvSpPr>
        <p:spPr>
          <a:xfrm>
            <a:off x="3977640" y="2331720"/>
            <a:ext cx="457200" cy="68580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3" name="Cycle arrow"/>
          <p:cNvSpPr/>
          <p:nvPr/>
        </p:nvSpPr>
        <p:spPr>
          <a:xfrm flipH="1">
            <a:off x="3977640" y="4023360"/>
            <a:ext cx="457200" cy="68580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4" name="Cycle arrow"/>
          <p:cNvSpPr/>
          <p:nvPr/>
        </p:nvSpPr>
        <p:spPr>
          <a:xfrm flipH="1" flipV="1">
            <a:off x="1783080" y="4023360"/>
            <a:ext cx="457200" cy="68580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5" name="Cycle arrow"/>
          <p:cNvSpPr/>
          <p:nvPr/>
        </p:nvSpPr>
        <p:spPr>
          <a:xfrm flipV="1">
            <a:off x="1783080" y="2331720"/>
            <a:ext cx="457200" cy="68580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6" name="Card"/>
          <p:cNvSpPr/>
          <p:nvPr/>
        </p:nvSpPr>
        <p:spPr>
          <a:xfrm>
            <a:off x="6949440" y="1463040"/>
            <a:ext cx="466344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223760" y="16459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단계별로 일어나는 일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22402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① 긴장 형성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223760" y="256946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사소한 일에 짜증, 의심, 눈치 보게 됨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223760" y="30175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② 폭력 발생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223760" y="33467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폭언·폭행·협박이 터져 나옴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37947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③ 화해(허니문)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41239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울며 사과, 선물, ‘다시는 안 그럴게’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45720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④ 안정기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223760" y="490118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잠시 평온 → 피해자는 ‘변했다’고 믿음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순환이 반복될수록 폭력은 더 자주, 더 심해집니다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건강한 관계 vs 위험한 관계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3. 폭력 유형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480560"/>
                <a:gridCol w="448056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건강한 관계 😊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위험한 관계 ⚠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연락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서로 편할 때 자연스럽게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답장 늦으면 화내고 추궁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친구 관계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각자의 친구도 소중히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친구 만나지 말라고 강요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스킨십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서로 묻고 동의할 때만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싫다는데 계속 요구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갈등 해결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대화로 차분하게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소리 지르기, 물건 던지기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개인 정보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비밀번호·사생활 존중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휴대폰 검사, 위치 추적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이별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상대의 결정을 존중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협박, 계속 연락·찾아가기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실제 사례 ① 거제 교제폭력 사망 사건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3. 폭력 유형</a:t>
            </a:r>
            <a:endParaRPr lang="en-US" sz="1200" dirty="0"/>
          </a:p>
        </p:txBody>
      </p:sp>
      <p:sp>
        <p:nvSpPr>
          <p:cNvPr id="4" name="Card"/>
          <p:cNvSpPr/>
          <p:nvPr/>
        </p:nvSpPr>
        <p:spPr>
          <a:xfrm>
            <a:off x="548640" y="1417320"/>
            <a:ext cx="457200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/>
        </p:spPr>
      </p:sp>
      <p:sp>
        <p:nvSpPr>
          <p:cNvPr id="5" name="Case tag"/>
          <p:cNvSpPr/>
          <p:nvPr/>
        </p:nvSpPr>
        <p:spPr>
          <a:xfrm>
            <a:off x="822960" y="1645920"/>
            <a:ext cx="1005840" cy="384048"/>
          </a:xfrm>
          <a:prstGeom prst="roundRect">
            <a:avLst>
              <a:gd name="adj" fmla="val 23810"/>
            </a:avLst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사례 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4884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거제 교제폭력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사망 사건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718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2024년 4월 · 경남 거제 · 피해자 19세 여성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66160"/>
            <a:ext cx="41148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헤어진 전 연인이 피해자의 원룸에 침입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약 30분 동안 목을 조르고 얼굴을 여러 차례 폭행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외상성 경막하 출혈로 치료받다 열흘 만에 사망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141732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사건 경과와 판결</a:t>
            </a:r>
            <a:endParaRPr lang="en-US" sz="1700" dirty="0"/>
          </a:p>
        </p:txBody>
      </p:sp>
      <p:sp>
        <p:nvSpPr>
          <p:cNvPr id="11" name="Timeline line"/>
          <p:cNvSpPr/>
          <p:nvPr/>
        </p:nvSpPr>
        <p:spPr>
          <a:xfrm>
            <a:off x="5641848" y="2057400"/>
            <a:ext cx="0" cy="188595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12" name="Timeline dot"/>
          <p:cNvSpPr/>
          <p:nvPr/>
        </p:nvSpPr>
        <p:spPr>
          <a:xfrm>
            <a:off x="5532120" y="1947672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18745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2024.4.1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26680" y="1874520"/>
            <a:ext cx="38862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폭행 발생, 피해자 입원</a:t>
            </a:r>
            <a:endParaRPr lang="en-US" sz="1400" dirty="0"/>
          </a:p>
        </p:txBody>
      </p:sp>
      <p:sp>
        <p:nvSpPr>
          <p:cNvPr id="15" name="Timeline dot"/>
          <p:cNvSpPr/>
          <p:nvPr/>
        </p:nvSpPr>
        <p:spPr>
          <a:xfrm>
            <a:off x="5532120" y="2576322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0" y="250317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약 10일 뒤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503170"/>
            <a:ext cx="38862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패혈증·다발성 장기부전으로 사망</a:t>
            </a:r>
            <a:endParaRPr lang="en-US" sz="1400" dirty="0"/>
          </a:p>
        </p:txBody>
      </p:sp>
      <p:sp>
        <p:nvSpPr>
          <p:cNvPr id="18" name="Timeline dot"/>
          <p:cNvSpPr/>
          <p:nvPr/>
        </p:nvSpPr>
        <p:spPr>
          <a:xfrm>
            <a:off x="5532120" y="3204972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0" y="31318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2024.11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3131820"/>
            <a:ext cx="38862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1심 징역 12년 (검찰 구형 20년)</a:t>
            </a:r>
            <a:endParaRPr lang="en-US" sz="1400" dirty="0"/>
          </a:p>
        </p:txBody>
      </p:sp>
      <p:sp>
        <p:nvSpPr>
          <p:cNvPr id="21" name="Timeline dot"/>
          <p:cNvSpPr/>
          <p:nvPr/>
        </p:nvSpPr>
        <p:spPr>
          <a:xfrm>
            <a:off x="5532120" y="383362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0" y="376047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2025.9.4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726680" y="3760470"/>
            <a:ext cx="38862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대법원 징역 12년 확정 (상해치사)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5486400" y="4572000"/>
            <a:ext cx="61264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715000" y="4663440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무엇이 문제였나?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715000" y="5010912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법원은 ‘살인 고의는 없었다’며 상해치사를 적용했어요. 교제폭력 양형기준이 따로 없어 형이 가볍다는 비판이 나왔고, 교제폭력처벌법 제정 요구로 이어졌어요.</a:t>
            </a:r>
            <a:endParaRPr lang="en-US" sz="1400" dirty="0"/>
          </a:p>
        </p:txBody>
      </p:sp>
      <p:sp>
        <p:nvSpPr>
          <p:cNvPr id="27" name="Source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출처: 경향신문 2024.11.14 · 경남도민일보(대법원 확정) · 서울경제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실제 사례 ② 강남역 교제살인 사건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3. 폭력 유형</a:t>
            </a:r>
            <a:endParaRPr lang="en-US" sz="1200" dirty="0"/>
          </a:p>
        </p:txBody>
      </p:sp>
      <p:sp>
        <p:nvSpPr>
          <p:cNvPr id="4" name="Card"/>
          <p:cNvSpPr/>
          <p:nvPr/>
        </p:nvSpPr>
        <p:spPr>
          <a:xfrm>
            <a:off x="548640" y="1417320"/>
            <a:ext cx="457200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/>
        </p:spPr>
      </p:sp>
      <p:sp>
        <p:nvSpPr>
          <p:cNvPr id="5" name="Case tag"/>
          <p:cNvSpPr/>
          <p:nvPr/>
        </p:nvSpPr>
        <p:spPr>
          <a:xfrm>
            <a:off x="822960" y="1645920"/>
            <a:ext cx="1005840" cy="384048"/>
          </a:xfrm>
          <a:prstGeom prst="roundRect">
            <a:avLst>
              <a:gd name="adj" fmla="val 23810"/>
            </a:avLst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사례 2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4884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강남역 교제살인 사건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718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2024년 5월 · 서울 강남역 인근 건물 옥상 · 피해자 20대 여성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66160"/>
            <a:ext cx="41148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결별 문제로 갈등하던 연인을 흉기로 살해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범행 도구를 미리 준비한 계획 범행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법원: 혼인무효 소송이 의대에 알려져 ‘학적을 잃을까 봐’ 살해를 결심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141732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사건 경과와 판결</a:t>
            </a:r>
            <a:endParaRPr lang="en-US" sz="1700" dirty="0"/>
          </a:p>
        </p:txBody>
      </p:sp>
      <p:sp>
        <p:nvSpPr>
          <p:cNvPr id="11" name="Timeline line"/>
          <p:cNvSpPr/>
          <p:nvPr/>
        </p:nvSpPr>
        <p:spPr>
          <a:xfrm>
            <a:off x="5641848" y="2057400"/>
            <a:ext cx="0" cy="188595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12" name="Timeline dot"/>
          <p:cNvSpPr/>
          <p:nvPr/>
        </p:nvSpPr>
        <p:spPr>
          <a:xfrm>
            <a:off x="5532120" y="1947672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18745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2024.5.6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26680" y="1874520"/>
            <a:ext cx="38862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범행 후 체포·구속기소</a:t>
            </a:r>
            <a:endParaRPr lang="en-US" sz="1400" dirty="0"/>
          </a:p>
        </p:txBody>
      </p:sp>
      <p:sp>
        <p:nvSpPr>
          <p:cNvPr id="15" name="Timeline dot"/>
          <p:cNvSpPr/>
          <p:nvPr/>
        </p:nvSpPr>
        <p:spPr>
          <a:xfrm>
            <a:off x="5532120" y="2576322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0" y="250317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1심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503170"/>
            <a:ext cx="38862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징역 26년</a:t>
            </a:r>
            <a:endParaRPr lang="en-US" sz="1400" dirty="0"/>
          </a:p>
        </p:txBody>
      </p:sp>
      <p:sp>
        <p:nvSpPr>
          <p:cNvPr id="18" name="Timeline dot"/>
          <p:cNvSpPr/>
          <p:nvPr/>
        </p:nvSpPr>
        <p:spPr>
          <a:xfrm>
            <a:off x="5532120" y="3204972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0" y="31318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2심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3131820"/>
            <a:ext cx="38862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‘형이 가볍다’며 징역 30년으로 늘림</a:t>
            </a:r>
            <a:endParaRPr lang="en-US" sz="1400" dirty="0"/>
          </a:p>
        </p:txBody>
      </p:sp>
      <p:sp>
        <p:nvSpPr>
          <p:cNvPr id="21" name="Timeline dot"/>
          <p:cNvSpPr/>
          <p:nvPr/>
        </p:nvSpPr>
        <p:spPr>
          <a:xfrm>
            <a:off x="5532120" y="383362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0" y="376047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2025.9.11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726680" y="3760470"/>
            <a:ext cx="38862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대법원 징역 30년 확정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5486400" y="4572000"/>
            <a:ext cx="61264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715000" y="4663440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무엇을 배워야 할까?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715000" y="5010912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이별을 이야기하는 시기가 가장 위험해요. 상대가 이별을 받아들이지 못하고 집착·위협을 보이면 혼자 만나지 말고, 주변과 기관에 먼저 알려야 해요.</a:t>
            </a:r>
            <a:endParaRPr lang="en-US" sz="1400" dirty="0"/>
          </a:p>
        </p:txBody>
      </p:sp>
      <p:sp>
        <p:nvSpPr>
          <p:cNvPr id="27" name="Source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출처: 노컷뉴스·경향신문 2025.9.11 · 법률신문(대법원 2025도10098)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폭력이 일어났다면 이렇게 대처해요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4. 대처·예방·신고</a:t>
            </a:r>
            <a:endParaRPr lang="en-US" sz="1200" dirty="0"/>
          </a:p>
        </p:txBody>
      </p:sp>
      <p:sp>
        <p:nvSpPr>
          <p:cNvPr id="4" name="Step circle"/>
          <p:cNvSpPr/>
          <p:nvPr/>
        </p:nvSpPr>
        <p:spPr>
          <a:xfrm>
            <a:off x="1463040" y="16459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63040" y="1645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1</a:t>
            </a:r>
            <a:endParaRPr lang="en-US" sz="2600" dirty="0"/>
          </a:p>
        </p:txBody>
      </p:sp>
      <p:sp>
        <p:nvSpPr>
          <p:cNvPr id="6" name="Step connector"/>
          <p:cNvSpPr/>
          <p:nvPr/>
        </p:nvSpPr>
        <p:spPr>
          <a:xfrm>
            <a:off x="2423160" y="2057400"/>
            <a:ext cx="256032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dash"/>
          </a:ln>
        </p:spPr>
      </p:sp>
      <p:sp>
        <p:nvSpPr>
          <p:cNvPr id="7" name="Card"/>
          <p:cNvSpPr/>
          <p:nvPr/>
        </p:nvSpPr>
        <p:spPr>
          <a:xfrm>
            <a:off x="548640" y="2743200"/>
            <a:ext cx="2651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안전 확보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5204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위험한 장소를 벗어나고, 사람이 많은 곳으로 이동해요</a:t>
            </a:r>
            <a:endParaRPr lang="en-US" sz="1500" dirty="0"/>
          </a:p>
        </p:txBody>
      </p:sp>
      <p:sp>
        <p:nvSpPr>
          <p:cNvPr id="10" name="Step circle"/>
          <p:cNvSpPr/>
          <p:nvPr/>
        </p:nvSpPr>
        <p:spPr>
          <a:xfrm>
            <a:off x="4297680" y="16459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297680" y="1645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2</a:t>
            </a:r>
            <a:endParaRPr lang="en-US" sz="2600" dirty="0"/>
          </a:p>
        </p:txBody>
      </p:sp>
      <p:sp>
        <p:nvSpPr>
          <p:cNvPr id="12" name="Step connector"/>
          <p:cNvSpPr/>
          <p:nvPr/>
        </p:nvSpPr>
        <p:spPr>
          <a:xfrm>
            <a:off x="5257800" y="2057400"/>
            <a:ext cx="256032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dash"/>
          </a:ln>
        </p:spPr>
      </p:sp>
      <p:sp>
        <p:nvSpPr>
          <p:cNvPr id="13" name="Card"/>
          <p:cNvSpPr/>
          <p:nvPr/>
        </p:nvSpPr>
        <p:spPr>
          <a:xfrm>
            <a:off x="3383280" y="2743200"/>
            <a:ext cx="2651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6616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증거 남기기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35204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메시지·통화 캡처, 진단서, 상처 사진, 날짜별 기록</a:t>
            </a:r>
            <a:endParaRPr lang="en-US" sz="1500" dirty="0"/>
          </a:p>
        </p:txBody>
      </p:sp>
      <p:sp>
        <p:nvSpPr>
          <p:cNvPr id="16" name="Step circle"/>
          <p:cNvSpPr/>
          <p:nvPr/>
        </p:nvSpPr>
        <p:spPr>
          <a:xfrm>
            <a:off x="7132320" y="16459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2320" y="1645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3</a:t>
            </a:r>
            <a:endParaRPr lang="en-US" sz="2600" dirty="0"/>
          </a:p>
        </p:txBody>
      </p:sp>
      <p:sp>
        <p:nvSpPr>
          <p:cNvPr id="18" name="Step connector"/>
          <p:cNvSpPr/>
          <p:nvPr/>
        </p:nvSpPr>
        <p:spPr>
          <a:xfrm>
            <a:off x="8092440" y="2057400"/>
            <a:ext cx="256032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dash"/>
          </a:ln>
        </p:spPr>
      </p:sp>
      <p:sp>
        <p:nvSpPr>
          <p:cNvPr id="19" name="Card"/>
          <p:cNvSpPr/>
          <p:nvPr/>
        </p:nvSpPr>
        <p:spPr>
          <a:xfrm>
            <a:off x="6217920" y="2743200"/>
            <a:ext cx="2651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주변에 알리기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35204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부모님·선생님·친구 등 믿을 수 있는 사람에게 말해요</a:t>
            </a:r>
            <a:endParaRPr lang="en-US" sz="1500" dirty="0"/>
          </a:p>
        </p:txBody>
      </p:sp>
      <p:sp>
        <p:nvSpPr>
          <p:cNvPr id="22" name="Step circle"/>
          <p:cNvSpPr/>
          <p:nvPr/>
        </p:nvSpPr>
        <p:spPr>
          <a:xfrm>
            <a:off x="9966960" y="16459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966960" y="1645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4</a:t>
            </a:r>
            <a:endParaRPr lang="en-US" sz="2600" dirty="0"/>
          </a:p>
        </p:txBody>
      </p:sp>
      <p:sp>
        <p:nvSpPr>
          <p:cNvPr id="24" name="Card"/>
          <p:cNvSpPr/>
          <p:nvPr/>
        </p:nvSpPr>
        <p:spPr>
          <a:xfrm>
            <a:off x="9052560" y="2743200"/>
            <a:ext cx="2651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23544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신고·상담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9281160" y="35204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112 신고, 1366 상담으로 보호조치를 받아요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“내 잘못이 아니다” — 폭력의 책임은 언제나 가해자에게 있습니다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예방하려면: 경고 신호를 알아차려요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4. 대처·예방·신고</a:t>
            </a:r>
            <a:endParaRPr lang="en-US" sz="12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6692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이런 신호가 있다면 주의!</a:t>
            </a:r>
            <a:endParaRPr lang="en-US" sz="1900" dirty="0"/>
          </a:p>
        </p:txBody>
      </p:sp>
      <p:sp>
        <p:nvSpPr>
          <p:cNvPr id="6" name="Checkbox"/>
          <p:cNvSpPr/>
          <p:nvPr/>
        </p:nvSpPr>
        <p:spPr>
          <a:xfrm>
            <a:off x="822960" y="2377440"/>
            <a:ext cx="365760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0" y="22860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연락이 늦으면 화를 내거나 의심한다</a:t>
            </a:r>
            <a:endParaRPr lang="en-US" sz="1500" dirty="0"/>
          </a:p>
        </p:txBody>
      </p:sp>
      <p:sp>
        <p:nvSpPr>
          <p:cNvPr id="8" name="Checkbox"/>
          <p:cNvSpPr/>
          <p:nvPr/>
        </p:nvSpPr>
        <p:spPr>
          <a:xfrm>
            <a:off x="822960" y="3090672"/>
            <a:ext cx="365760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71600" y="299923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친구를 못 만나게 하고 나만 보라고 한다</a:t>
            </a:r>
            <a:endParaRPr lang="en-US" sz="1500" dirty="0"/>
          </a:p>
        </p:txBody>
      </p:sp>
      <p:sp>
        <p:nvSpPr>
          <p:cNvPr id="10" name="Checkbox"/>
          <p:cNvSpPr/>
          <p:nvPr/>
        </p:nvSpPr>
        <p:spPr>
          <a:xfrm>
            <a:off x="822960" y="3803904"/>
            <a:ext cx="365760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0" y="371246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옷차림·행동을 정해 준다</a:t>
            </a:r>
            <a:endParaRPr lang="en-US" sz="1500" dirty="0"/>
          </a:p>
        </p:txBody>
      </p:sp>
      <p:sp>
        <p:nvSpPr>
          <p:cNvPr id="12" name="Checkbox"/>
          <p:cNvSpPr/>
          <p:nvPr/>
        </p:nvSpPr>
        <p:spPr>
          <a:xfrm>
            <a:off x="822960" y="4517136"/>
            <a:ext cx="365760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71600" y="442569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화가 나면 물건을 던지거나 소리친다</a:t>
            </a:r>
            <a:endParaRPr lang="en-US" sz="1500" dirty="0"/>
          </a:p>
        </p:txBody>
      </p:sp>
      <p:sp>
        <p:nvSpPr>
          <p:cNvPr id="14" name="Checkbox"/>
          <p:cNvSpPr/>
          <p:nvPr/>
        </p:nvSpPr>
        <p:spPr>
          <a:xfrm>
            <a:off x="822960" y="5230368"/>
            <a:ext cx="365760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71600" y="51389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싸운 뒤 지나치게 사과하고 또 반복한다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463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건강한 관계를 위한 예방 습관</a:t>
            </a:r>
            <a:endParaRPr lang="en-US" sz="1900" dirty="0"/>
          </a:p>
        </p:txBody>
      </p:sp>
      <p:sp>
        <p:nvSpPr>
          <p:cNvPr id="17" name="Icon circle"/>
          <p:cNvSpPr/>
          <p:nvPr/>
        </p:nvSpPr>
        <p:spPr>
          <a:xfrm>
            <a:off x="6583680" y="2130552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8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4498" y="2271370"/>
            <a:ext cx="221285" cy="221285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269480" y="20574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‘싫어’는 싫다는 뜻 — 동의를 꼭 확인하기</a:t>
            </a:r>
            <a:endParaRPr lang="en-US" sz="1500" dirty="0"/>
          </a:p>
        </p:txBody>
      </p:sp>
      <p:sp>
        <p:nvSpPr>
          <p:cNvPr id="20" name="Icon circle"/>
          <p:cNvSpPr/>
          <p:nvPr/>
        </p:nvSpPr>
        <p:spPr>
          <a:xfrm>
            <a:off x="6583680" y="2916936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3057754"/>
            <a:ext cx="221285" cy="221285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7269480" y="284378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나의 경계를 미리 분명하게 말하기</a:t>
            </a:r>
            <a:endParaRPr lang="en-US" sz="1500" dirty="0"/>
          </a:p>
        </p:txBody>
      </p:sp>
      <p:sp>
        <p:nvSpPr>
          <p:cNvPr id="23" name="Icon circle"/>
          <p:cNvSpPr/>
          <p:nvPr/>
        </p:nvSpPr>
        <p:spPr>
          <a:xfrm>
            <a:off x="6583680" y="370332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4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4498" y="3844138"/>
            <a:ext cx="221285" cy="221285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269480" y="36301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친구·가족과의 관계를 유지하기</a:t>
            </a:r>
            <a:endParaRPr lang="en-US" sz="1500" dirty="0"/>
          </a:p>
        </p:txBody>
      </p:sp>
      <p:sp>
        <p:nvSpPr>
          <p:cNvPr id="26" name="Icon circle"/>
          <p:cNvSpPr/>
          <p:nvPr/>
        </p:nvSpPr>
        <p:spPr>
          <a:xfrm>
            <a:off x="6583680" y="4489704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7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30522"/>
            <a:ext cx="221285" cy="22128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269480" y="4416552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만남·이별은 안전한 공개 장소에서</a:t>
            </a:r>
            <a:endParaRPr lang="en-US" sz="1500" dirty="0"/>
          </a:p>
        </p:txBody>
      </p:sp>
      <p:sp>
        <p:nvSpPr>
          <p:cNvPr id="29" name="Icon circle"/>
          <p:cNvSpPr/>
          <p:nvPr/>
        </p:nvSpPr>
        <p:spPr>
          <a:xfrm>
            <a:off x="6583680" y="5276088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30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4498" y="5416906"/>
            <a:ext cx="221285" cy="22128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269480" y="5202936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이상하다 싶으면 혼자 판단하지 말고 상담하기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도움이 필요할 때 연락하세요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4. 대처·예방·신고</a:t>
            </a:r>
            <a:endParaRPr lang="en-US" sz="12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112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경찰 긴급 신고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말하기 어려우면 문자 112도 가능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0" y="1645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1366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여성긴급전화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24시간 상담·보호시설 연계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804672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21040" y="1645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1388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청소년상담전화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청소년 고민·위기 상담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4864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023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1899-3075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해바라기센터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303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의료·상담·수사·법률 통합 지원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429768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0" y="4023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02-735-8994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846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디지털성범죄피해자지원센터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5303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불법촬영물 삭제 지원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804672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321040" y="4023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117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4846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학교폭력 신고센터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321040" y="5303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학생 간 교제폭력도 상담 가능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친구가 피해를 털어놓는다면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4. 대처·예방·신고</a:t>
            </a:r>
            <a:endParaRPr lang="en-US" sz="12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39496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</p:spPr>
      </p:sp>
      <p:sp>
        <p:nvSpPr>
          <p:cNvPr id="5" name="Icon circle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1883664"/>
            <a:ext cx="301752" cy="30175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6916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이렇게 해 주세요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0604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끝까지 들어 주기 — 말을 끊거나 판단하지 않기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“말해 줘서 고마워, 네 잘못 아니야”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안전한지 먼저 확인하기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선생님·부모님·상담센터에 함께 가 주기</a:t>
            </a:r>
            <a:endParaRPr lang="en-US" sz="1600" dirty="0"/>
          </a:p>
        </p:txBody>
      </p:sp>
      <p:sp>
        <p:nvSpPr>
          <p:cNvPr id="9" name="Card"/>
          <p:cNvSpPr/>
          <p:nvPr/>
        </p:nvSpPr>
        <p:spPr>
          <a:xfrm>
            <a:off x="6217920" y="1463040"/>
            <a:ext cx="539496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</p:spPr>
      </p:sp>
      <p:sp>
        <p:nvSpPr>
          <p:cNvPr id="10" name="Icon circle"/>
          <p:cNvSpPr/>
          <p:nvPr/>
        </p:nvSpPr>
        <p:spPr>
          <a:xfrm>
            <a:off x="6492240" y="1691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4264" y="1883664"/>
            <a:ext cx="301752" cy="3017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60920" y="16916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이런 말은 피해요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“왜 아직도 안 헤어졌어?”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“네가 뭘 잘못했길래…”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다른 친구들에게 소문내기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가해자에게 직접 따지러 가기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방관하지 않는 한 사람이 친구를 지킬 수 있습니다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데이트폭력은 사랑싸움이 아니라 범죄입니다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4. 대처·예방·신고</a:t>
            </a:r>
            <a:endParaRPr lang="en-US" sz="12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11064240" cy="969264"/>
          </a:xfrm>
          <a:prstGeom prst="roundRect">
            <a:avLst>
              <a:gd name="adj" fmla="val 11321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2651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폭행·상해</a:t>
            </a:r>
            <a:endParaRPr lang="en-US" sz="1800" dirty="0"/>
          </a:p>
        </p:txBody>
      </p:sp>
      <p:sp>
        <p:nvSpPr>
          <p:cNvPr id="6" name="Law tag"/>
          <p:cNvSpPr/>
          <p:nvPr/>
        </p:nvSpPr>
        <p:spPr>
          <a:xfrm>
            <a:off x="3474720" y="1737360"/>
            <a:ext cx="1737360" cy="420624"/>
          </a:xfrm>
          <a:prstGeom prst="roundRect">
            <a:avLst>
              <a:gd name="adj" fmla="val 21739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74720" y="173736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형법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0" y="1463040"/>
            <a:ext cx="5943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때리기, 밀치기 → 폭행죄 2년 이하 징역, 상처가 나면 상해죄 7년 이하 징역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548640" y="2578608"/>
            <a:ext cx="11064240" cy="969264"/>
          </a:xfrm>
          <a:prstGeom prst="roundRect">
            <a:avLst>
              <a:gd name="adj" fmla="val 11321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578608"/>
            <a:ext cx="2651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협박</a:t>
            </a:r>
            <a:endParaRPr lang="en-US" sz="1800" dirty="0"/>
          </a:p>
        </p:txBody>
      </p:sp>
      <p:sp>
        <p:nvSpPr>
          <p:cNvPr id="11" name="Law tag"/>
          <p:cNvSpPr/>
          <p:nvPr/>
        </p:nvSpPr>
        <p:spPr>
          <a:xfrm>
            <a:off x="3474720" y="2852928"/>
            <a:ext cx="1737360" cy="420624"/>
          </a:xfrm>
          <a:prstGeom prst="roundRect">
            <a:avLst>
              <a:gd name="adj" fmla="val 21739"/>
            </a:avLst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474720" y="285292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형법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2578608"/>
            <a:ext cx="5943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“죽여 버린다”, “소문낸다” → 협박죄 3년 이하 징역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548640" y="3694176"/>
            <a:ext cx="11064240" cy="969264"/>
          </a:xfrm>
          <a:prstGeom prst="roundRect">
            <a:avLst>
              <a:gd name="adj" fmla="val 11321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694176"/>
            <a:ext cx="2651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스토킹</a:t>
            </a:r>
            <a:endParaRPr lang="en-US" sz="1800" dirty="0"/>
          </a:p>
        </p:txBody>
      </p:sp>
      <p:sp>
        <p:nvSpPr>
          <p:cNvPr id="16" name="Law tag"/>
          <p:cNvSpPr/>
          <p:nvPr/>
        </p:nvSpPr>
        <p:spPr>
          <a:xfrm>
            <a:off x="3474720" y="3968496"/>
            <a:ext cx="1737360" cy="420624"/>
          </a:xfrm>
          <a:prstGeom prst="roundRect">
            <a:avLst>
              <a:gd name="adj" fmla="val 21739"/>
            </a:avLst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474720" y="396849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스토킹처벌법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3694176"/>
            <a:ext cx="5943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계속 따라다니기·연락하기 → 3년 이하 징역 (2023년부터 피해자가 원치 않아도 처벌)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09744"/>
            <a:ext cx="11064240" cy="969264"/>
          </a:xfrm>
          <a:prstGeom prst="roundRect">
            <a:avLst>
              <a:gd name="adj" fmla="val 11321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4809744"/>
            <a:ext cx="2651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불법촬영·유포 협박</a:t>
            </a:r>
            <a:endParaRPr lang="en-US" sz="1800" dirty="0"/>
          </a:p>
        </p:txBody>
      </p:sp>
      <p:sp>
        <p:nvSpPr>
          <p:cNvPr id="21" name="Law tag"/>
          <p:cNvSpPr/>
          <p:nvPr/>
        </p:nvSpPr>
        <p:spPr>
          <a:xfrm>
            <a:off x="3474720" y="5084064"/>
            <a:ext cx="1737360" cy="420624"/>
          </a:xfrm>
          <a:prstGeom prst="roundRect">
            <a:avLst>
              <a:gd name="adj" fmla="val 21739"/>
            </a:avLst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474720" y="5084064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성폭력처벌법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0" y="4809744"/>
            <a:ext cx="5943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몰래 촬영 7년 이하 징역, 촬영물로 협박하면 1년 이상 징역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※ 법정형 상한 기준 요약. 구체적인 처벌은 사건마다 다릅니다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실제 사례 ③ 신당역 스토킹 살인, 법을 바꾸다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4. 대처·예방·신고</a:t>
            </a:r>
            <a:endParaRPr lang="en-US" sz="1200" dirty="0"/>
          </a:p>
        </p:txBody>
      </p:sp>
      <p:sp>
        <p:nvSpPr>
          <p:cNvPr id="4" name="Card"/>
          <p:cNvSpPr/>
          <p:nvPr/>
        </p:nvSpPr>
        <p:spPr>
          <a:xfrm>
            <a:off x="548640" y="1417320"/>
            <a:ext cx="457200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/>
        </p:spPr>
      </p:sp>
      <p:sp>
        <p:nvSpPr>
          <p:cNvPr id="5" name="Case tag"/>
          <p:cNvSpPr/>
          <p:nvPr/>
        </p:nvSpPr>
        <p:spPr>
          <a:xfrm>
            <a:off x="822960" y="1645920"/>
            <a:ext cx="1005840" cy="384048"/>
          </a:xfrm>
          <a:prstGeom prst="roundRect">
            <a:avLst>
              <a:gd name="adj" fmla="val 23810"/>
            </a:avLst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사례 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4884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신당역 스토킹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살인 사건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718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2022년 9월 · 서울 지하철 신당역 · 피해자 20대 역무원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66160"/>
            <a:ext cx="41148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입사 동기였던 가해자가 오랫동안 스토킹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스토킹 재판에서 징역 9년을 구형받자 보복 살해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가해자 진술: “피해자가 합의해 주지 않아서”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141732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사건 경과와 판결</a:t>
            </a:r>
            <a:endParaRPr lang="en-US" sz="1700" dirty="0"/>
          </a:p>
        </p:txBody>
      </p:sp>
      <p:sp>
        <p:nvSpPr>
          <p:cNvPr id="11" name="Timeline line"/>
          <p:cNvSpPr/>
          <p:nvPr/>
        </p:nvSpPr>
        <p:spPr>
          <a:xfrm>
            <a:off x="5641848" y="2057400"/>
            <a:ext cx="0" cy="188595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12" name="Timeline dot"/>
          <p:cNvSpPr/>
          <p:nvPr/>
        </p:nvSpPr>
        <p:spPr>
          <a:xfrm>
            <a:off x="5532120" y="1947672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18745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2022.9.14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26680" y="1874520"/>
            <a:ext cx="38862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선고 하루 전 역 화장실에서 살해</a:t>
            </a:r>
            <a:endParaRPr lang="en-US" sz="1400" dirty="0"/>
          </a:p>
        </p:txBody>
      </p:sp>
      <p:sp>
        <p:nvSpPr>
          <p:cNvPr id="15" name="Timeline dot"/>
          <p:cNvSpPr/>
          <p:nvPr/>
        </p:nvSpPr>
        <p:spPr>
          <a:xfrm>
            <a:off x="5532120" y="2576322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0" y="250317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1심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503170"/>
            <a:ext cx="38862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보복살인 징역 40년 + 스토킹 징역 9년</a:t>
            </a:r>
            <a:endParaRPr lang="en-US" sz="1400" dirty="0"/>
          </a:p>
        </p:txBody>
      </p:sp>
      <p:sp>
        <p:nvSpPr>
          <p:cNvPr id="18" name="Timeline dot"/>
          <p:cNvSpPr/>
          <p:nvPr/>
        </p:nvSpPr>
        <p:spPr>
          <a:xfrm>
            <a:off x="5532120" y="3204972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0" y="31318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항소심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3131820"/>
            <a:ext cx="38862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두 사건 병합, 무기징역</a:t>
            </a:r>
            <a:endParaRPr lang="en-US" sz="1400" dirty="0"/>
          </a:p>
        </p:txBody>
      </p:sp>
      <p:sp>
        <p:nvSpPr>
          <p:cNvPr id="21" name="Timeline dot"/>
          <p:cNvSpPr/>
          <p:nvPr/>
        </p:nvSpPr>
        <p:spPr>
          <a:xfrm>
            <a:off x="5532120" y="383362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0" y="376047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2023.10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726680" y="3760470"/>
            <a:ext cx="38862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대법원 무기징역 확정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5486400" y="4572000"/>
            <a:ext cx="61264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715000" y="4663440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이 사건 뒤 바뀐 것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715000" y="5010912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2023년 7월 스토킹처벌법이 개정돼 ‘반의사불벌’ 조항이 폐지됐어요. 피해자가 합의해도 처벌되고, 가해자에게 전자발찌(위치추적)도 채울 수 있게 됐어요.</a:t>
            </a:r>
            <a:endParaRPr lang="en-US" sz="1400" dirty="0"/>
          </a:p>
        </p:txBody>
      </p:sp>
      <p:sp>
        <p:nvSpPr>
          <p:cNvPr id="27" name="Source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출처: 경향신문·법률신문 2023.10.12 · 한국일보 2022.10.19(법무부 개정안)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그런데 교제폭력은 아직 ‘법의 공백’ 속에 있습니다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4. 대처·예방·신고</a:t>
            </a:r>
            <a:endParaRPr lang="en-US" sz="12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3474720" cy="35661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01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전용 법이 없다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가정폭력처벌법은 부부·가족만 보호해요. 연인 사이는 접근금지 같은 보호조치를 받기 어렵고, 일반 폭행·협박죄로 처리돼요.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1463040"/>
            <a:ext cx="3474720" cy="35661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02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반의사불벌의 덫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스토킹은 2023년에 폐지됐지만 교제폭력(폭행·협박)은 여전히 피해자가 원치 않으면 처벌할 수 없어요.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8046720" y="1463040"/>
            <a:ext cx="3474720" cy="35661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2104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03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국회에 잠든 법안 7건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교제폭력 특례법안 4건, 가정폭력처벌법 전부개정안 3건이 계류 중이에요. 일부는 법사위에서 2년 넘게 멈춰 있어요.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48640" y="521208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2120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2026년 9월 성평등가족부가 법제화 논의를 시작했어요. 교제폭력처벌법은 지금 진행 중인 사회적 과제입니다.</a:t>
            </a:r>
            <a:endParaRPr lang="en-US" sz="1500" dirty="0"/>
          </a:p>
        </p:txBody>
      </p:sp>
      <p:sp>
        <p:nvSpPr>
          <p:cNvPr id="18" name="Source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출처: 시대일보 2026.10.19 · 아시아투데이 2026.9.16 · 법조신문(반의사불벌 배제 논의)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실제 사례 ④ 신고했는데도 지켜지지 못했다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4. 대처·예방·신고</a:t>
            </a:r>
            <a:endParaRPr lang="en-US" sz="1200" dirty="0"/>
          </a:p>
        </p:txBody>
      </p:sp>
      <p:sp>
        <p:nvSpPr>
          <p:cNvPr id="4" name="Card"/>
          <p:cNvSpPr/>
          <p:nvPr/>
        </p:nvSpPr>
        <p:spPr>
          <a:xfrm>
            <a:off x="548640" y="1417320"/>
            <a:ext cx="457200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/>
        </p:spPr>
      </p:sp>
      <p:sp>
        <p:nvSpPr>
          <p:cNvPr id="5" name="Case tag"/>
          <p:cNvSpPr/>
          <p:nvPr/>
        </p:nvSpPr>
        <p:spPr>
          <a:xfrm>
            <a:off x="822960" y="1645920"/>
            <a:ext cx="1005840" cy="384048"/>
          </a:xfrm>
          <a:prstGeom prst="roundRect">
            <a:avLst>
              <a:gd name="adj" fmla="val 23810"/>
            </a:avLst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사례 4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4884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제주 스토킹·교제폭력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살인 사건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718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2026년 10월 · 제주시 · 피해자 40대 여성 (수사 중)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66160"/>
            <a:ext cx="41148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스토킹·성폭력·교제폭력으로 4차례 신고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그런데도 접근금지 조치는 없었음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범행 순간 경찰이 준 스마트워치를 빼앗겨 신고하지 못함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141732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반복되는 보호조치의 허점</a:t>
            </a:r>
            <a:endParaRPr lang="en-US" sz="1700" dirty="0"/>
          </a:p>
        </p:txBody>
      </p:sp>
      <p:sp>
        <p:nvSpPr>
          <p:cNvPr id="11" name="Timeline line"/>
          <p:cNvSpPr/>
          <p:nvPr/>
        </p:nvSpPr>
        <p:spPr>
          <a:xfrm>
            <a:off x="5641848" y="2057400"/>
            <a:ext cx="0" cy="188595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12" name="Timeline dot"/>
          <p:cNvSpPr/>
          <p:nvPr/>
        </p:nvSpPr>
        <p:spPr>
          <a:xfrm>
            <a:off x="5532120" y="1947672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18745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제주 2026.10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26680" y="1874520"/>
            <a:ext cx="38862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4번 신고 · 접근금지 없음 · 스마트워치 무력화</a:t>
            </a:r>
            <a:endParaRPr lang="en-US" sz="1400" dirty="0"/>
          </a:p>
        </p:txBody>
      </p:sp>
      <p:sp>
        <p:nvSpPr>
          <p:cNvPr id="15" name="Timeline dot"/>
          <p:cNvSpPr/>
          <p:nvPr/>
        </p:nvSpPr>
        <p:spPr>
          <a:xfrm>
            <a:off x="5532120" y="2576322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0" y="250317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전주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503170"/>
            <a:ext cx="38862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8번 신고와 법원 접근금지에도 살인</a:t>
            </a:r>
            <a:endParaRPr lang="en-US" sz="1400" dirty="0"/>
          </a:p>
        </p:txBody>
      </p:sp>
      <p:sp>
        <p:nvSpPr>
          <p:cNvPr id="18" name="Timeline dot"/>
          <p:cNvSpPr/>
          <p:nvPr/>
        </p:nvSpPr>
        <p:spPr>
          <a:xfrm>
            <a:off x="5532120" y="3204972"/>
            <a:ext cx="219456" cy="21945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0" y="31318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대전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3131820"/>
            <a:ext cx="38862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‘화해’ 후 스마트워치 반납 → 살해</a:t>
            </a:r>
            <a:endParaRPr lang="en-US" sz="1400" dirty="0"/>
          </a:p>
        </p:txBody>
      </p:sp>
      <p:sp>
        <p:nvSpPr>
          <p:cNvPr id="21" name="Timeline dot"/>
          <p:cNvSpPr/>
          <p:nvPr/>
        </p:nvSpPr>
        <p:spPr>
          <a:xfrm>
            <a:off x="5532120" y="383362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0" y="376047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최근 5년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726680" y="3760470"/>
            <a:ext cx="388620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스마트워치 지급 후 살인·살인미수 27건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5486400" y="4572000"/>
            <a:ext cx="61264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715000" y="4663440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우리가 기억할 것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715000" y="5010912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신고는 시작일 뿐이에요. 위험이 반복되면 접근금지·잠정조치를 적극 요청하고, 화해했다고 보호장비를 쉽게 반납하지 마세요. 경찰의 위험도 평가도 바뀌어야 해요.</a:t>
            </a:r>
            <a:endParaRPr lang="en-US" sz="1400" dirty="0"/>
          </a:p>
        </p:txBody>
      </p:sp>
      <p:sp>
        <p:nvSpPr>
          <p:cNvPr id="27" name="Source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출처: 파이낸셜뉴스 2026.10.13 · 톱스타뉴스 · 뉴데일리 2026.10.22(국정감사)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건강한 관계를 위한 나의 노력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5. 노력과 다짐</a:t>
            </a:r>
            <a:endParaRPr lang="en-US" sz="12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5" name="Keyword circle"/>
          <p:cNvSpPr/>
          <p:nvPr/>
        </p:nvSpPr>
        <p:spPr>
          <a:xfrm>
            <a:off x="868680" y="187452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8745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존중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7373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상대의 생각·시간·친구 관계를 인정해요</a:t>
            </a:r>
            <a:endParaRPr lang="en-US" sz="1700" dirty="0"/>
          </a:p>
        </p:txBody>
      </p:sp>
      <p:sp>
        <p:nvSpPr>
          <p:cNvPr id="8" name="Card"/>
          <p:cNvSpPr/>
          <p:nvPr/>
        </p:nvSpPr>
        <p:spPr>
          <a:xfrm>
            <a:off x="6217920" y="146304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Keyword circle"/>
          <p:cNvSpPr/>
          <p:nvPr/>
        </p:nvSpPr>
        <p:spPr>
          <a:xfrm>
            <a:off x="6537960" y="187452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8745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동의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001000" y="17373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스킨십 전에 묻고, ‘싫어’를 존중해요</a:t>
            </a:r>
            <a:endParaRPr lang="en-US" sz="1700" dirty="0"/>
          </a:p>
        </p:txBody>
      </p:sp>
      <p:sp>
        <p:nvSpPr>
          <p:cNvPr id="12" name="Card"/>
          <p:cNvSpPr/>
          <p:nvPr/>
        </p:nvSpPr>
        <p:spPr>
          <a:xfrm>
            <a:off x="548640" y="374904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3" name="Keyword circle"/>
          <p:cNvSpPr/>
          <p:nvPr/>
        </p:nvSpPr>
        <p:spPr>
          <a:xfrm>
            <a:off x="868680" y="416052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1605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대화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40233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화가 나도 말로, 차분하게 풀어요</a:t>
            </a:r>
            <a:endParaRPr lang="en-US" sz="1700" dirty="0"/>
          </a:p>
        </p:txBody>
      </p:sp>
      <p:sp>
        <p:nvSpPr>
          <p:cNvPr id="16" name="Card"/>
          <p:cNvSpPr/>
          <p:nvPr/>
        </p:nvSpPr>
        <p:spPr>
          <a:xfrm>
            <a:off x="6217920" y="374904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7" name="Keyword circle"/>
          <p:cNvSpPr/>
          <p:nvPr/>
        </p:nvSpPr>
        <p:spPr>
          <a:xfrm>
            <a:off x="6537960" y="416052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37960" y="41605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신뢰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001000" y="40233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작은 약속부터 지키고, 거짓말하지 않아요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omi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914400" cy="914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640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나의 약속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2880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182880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나는 사랑을 이유로 상대를 통제하거나 감시하지 않겠습니다.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578608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257860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나는 상대의 ‘싫어’를 존중하고, 동의 없는 행동을 하지 않겠습니다.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328416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3328416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나는 화가 나도 폭력이 아닌 대화로 갈등을 풀겠습니다.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078224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4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4078224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나는 이별을 받아들이고, 상대의 선택을 존중하겠습니다.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4828032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5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4828032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나와 친구가 폭력을 겪으면 침묵하지 않고 도움을 요청하겠습니다.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6217920" y="58064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다짐한 사람: ______________ (서명)</a:t>
            </a:r>
            <a:endParaRPr lang="en-US" sz="16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731520" y="3840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나는 좋은 연인일까? 스스로 점검해요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5. 노력과 다짐</a:t>
            </a:r>
            <a:endParaRPr lang="en-US" sz="12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539496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5" name="Checkbox"/>
          <p:cNvSpPr/>
          <p:nvPr/>
        </p:nvSpPr>
        <p:spPr>
          <a:xfrm>
            <a:off x="822960" y="1764792"/>
            <a:ext cx="420624" cy="420624"/>
          </a:xfrm>
          <a:prstGeom prst="roundRect">
            <a:avLst>
              <a:gd name="adj" fmla="val 13043"/>
            </a:avLst>
          </a:prstGeom>
          <a:solidFill>
            <a:schemeClr val="bg1"/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463040" y="1463040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상대가 친구를 만나도 불안해하지 않는다</a:t>
            </a:r>
            <a:endParaRPr lang="en-US" sz="1600" dirty="0"/>
          </a:p>
        </p:txBody>
      </p:sp>
      <p:sp>
        <p:nvSpPr>
          <p:cNvPr id="7" name="Card"/>
          <p:cNvSpPr/>
          <p:nvPr/>
        </p:nvSpPr>
        <p:spPr>
          <a:xfrm>
            <a:off x="6217920" y="1463040"/>
            <a:ext cx="539496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8" name="Checkbox"/>
          <p:cNvSpPr/>
          <p:nvPr/>
        </p:nvSpPr>
        <p:spPr>
          <a:xfrm>
            <a:off x="6492240" y="1764792"/>
            <a:ext cx="420624" cy="420624"/>
          </a:xfrm>
          <a:prstGeom prst="roundRect">
            <a:avLst>
              <a:gd name="adj" fmla="val 13043"/>
            </a:avLst>
          </a:prstGeom>
          <a:solidFill>
            <a:schemeClr val="bg1"/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0" y="1463040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연락이 늦어도 기다려 줄 수 있다</a:t>
            </a:r>
            <a:endParaRPr lang="en-US" sz="1600" dirty="0"/>
          </a:p>
        </p:txBody>
      </p:sp>
      <p:sp>
        <p:nvSpPr>
          <p:cNvPr id="10" name="Card"/>
          <p:cNvSpPr/>
          <p:nvPr/>
        </p:nvSpPr>
        <p:spPr>
          <a:xfrm>
            <a:off x="548640" y="2697480"/>
            <a:ext cx="539496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11" name="Checkbox"/>
          <p:cNvSpPr/>
          <p:nvPr/>
        </p:nvSpPr>
        <p:spPr>
          <a:xfrm>
            <a:off x="822960" y="2999232"/>
            <a:ext cx="420624" cy="420624"/>
          </a:xfrm>
          <a:prstGeom prst="roundRect">
            <a:avLst>
              <a:gd name="adj" fmla="val 13043"/>
            </a:avLst>
          </a:prstGeom>
          <a:solidFill>
            <a:schemeClr val="bg1"/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463040" y="2697480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스킨십 전에 상대의 마음을 묻는다</a:t>
            </a:r>
            <a:endParaRPr lang="en-US" sz="1600" dirty="0"/>
          </a:p>
        </p:txBody>
      </p:sp>
      <p:sp>
        <p:nvSpPr>
          <p:cNvPr id="13" name="Card"/>
          <p:cNvSpPr/>
          <p:nvPr/>
        </p:nvSpPr>
        <p:spPr>
          <a:xfrm>
            <a:off x="6217920" y="2697480"/>
            <a:ext cx="539496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14" name="Checkbox"/>
          <p:cNvSpPr/>
          <p:nvPr/>
        </p:nvSpPr>
        <p:spPr>
          <a:xfrm>
            <a:off x="6492240" y="2999232"/>
            <a:ext cx="420624" cy="420624"/>
          </a:xfrm>
          <a:prstGeom prst="roundRect">
            <a:avLst>
              <a:gd name="adj" fmla="val 13043"/>
            </a:avLst>
          </a:prstGeom>
          <a:solidFill>
            <a:schemeClr val="bg1"/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0" y="2697480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화가 나면 잠시 멈추고 말로 표현한다</a:t>
            </a:r>
            <a:endParaRPr lang="en-US" sz="1600" dirty="0"/>
          </a:p>
        </p:txBody>
      </p:sp>
      <p:sp>
        <p:nvSpPr>
          <p:cNvPr id="16" name="Card"/>
          <p:cNvSpPr/>
          <p:nvPr/>
        </p:nvSpPr>
        <p:spPr>
          <a:xfrm>
            <a:off x="548640" y="3931920"/>
            <a:ext cx="539496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17" name="Checkbox"/>
          <p:cNvSpPr/>
          <p:nvPr/>
        </p:nvSpPr>
        <p:spPr>
          <a:xfrm>
            <a:off x="822960" y="4233672"/>
            <a:ext cx="420624" cy="420624"/>
          </a:xfrm>
          <a:prstGeom prst="roundRect">
            <a:avLst>
              <a:gd name="adj" fmla="val 13043"/>
            </a:avLst>
          </a:prstGeom>
          <a:solidFill>
            <a:schemeClr val="bg1"/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63040" y="3931920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상대의 휴대폰을 몰래 보지 않는다</a:t>
            </a:r>
            <a:endParaRPr lang="en-US" sz="1600" dirty="0"/>
          </a:p>
        </p:txBody>
      </p:sp>
      <p:sp>
        <p:nvSpPr>
          <p:cNvPr id="19" name="Card"/>
          <p:cNvSpPr/>
          <p:nvPr/>
        </p:nvSpPr>
        <p:spPr>
          <a:xfrm>
            <a:off x="6217920" y="3931920"/>
            <a:ext cx="539496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20" name="Checkbox"/>
          <p:cNvSpPr/>
          <p:nvPr/>
        </p:nvSpPr>
        <p:spPr>
          <a:xfrm>
            <a:off x="6492240" y="4233672"/>
            <a:ext cx="420624" cy="420624"/>
          </a:xfrm>
          <a:prstGeom prst="roundRect">
            <a:avLst>
              <a:gd name="adj" fmla="val 13043"/>
            </a:avLst>
          </a:prstGeom>
          <a:solidFill>
            <a:schemeClr val="bg1"/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0" y="3931920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헤어지자는 말도 존중할 수 있다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모두 ✔ 라면 건강한 관계! 체크하지 못한 항목이 바로 내가 노력할 부분입니다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함께 보면 좋은 참고 영상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6. 참고 영상</a:t>
            </a:r>
            <a:endParaRPr lang="en-US" sz="12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3474720" cy="4023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5" name="Video thumbnail"/>
          <p:cNvSpPr/>
          <p:nvPr/>
        </p:nvSpPr>
        <p:spPr>
          <a:xfrm>
            <a:off x="777240" y="1691640"/>
            <a:ext cx="3017520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/>
        </p:spPr>
      </p:sp>
      <p:sp>
        <p:nvSpPr>
          <p:cNvPr id="6" name="Icon circle"/>
          <p:cNvSpPr/>
          <p:nvPr/>
        </p:nvSpPr>
        <p:spPr>
          <a:xfrm>
            <a:off x="1920240" y="20574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5066" y="2262226"/>
            <a:ext cx="321869" cy="32186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u="sng" dirty="0">
                <a:solidFill>
                  <a:schemeClr val="tx2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어디까지가 사랑이고 어디부터가 폭력일까? _Love or Not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1148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교제폭력의 경계를 다룬 예방교육 영상 (초·중·고·일반, 한글자막)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983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성평등가족부 교육자료실 (2025)</a:t>
            </a:r>
            <a:endParaRPr lang="en-US" sz="1100" dirty="0"/>
          </a:p>
        </p:txBody>
      </p:sp>
      <p:sp>
        <p:nvSpPr>
          <p:cNvPr id="11" name="Card"/>
          <p:cNvSpPr/>
          <p:nvPr/>
        </p:nvSpPr>
        <p:spPr>
          <a:xfrm>
            <a:off x="4297680" y="1463040"/>
            <a:ext cx="3474720" cy="4023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2" name="Video thumbnail"/>
          <p:cNvSpPr/>
          <p:nvPr/>
        </p:nvSpPr>
        <p:spPr>
          <a:xfrm>
            <a:off x="4526280" y="1691640"/>
            <a:ext cx="3017520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/>
        </p:spPr>
      </p:sp>
      <p:sp>
        <p:nvSpPr>
          <p:cNvPr id="13" name="Icon circle"/>
          <p:cNvSpPr/>
          <p:nvPr/>
        </p:nvSpPr>
        <p:spPr>
          <a:xfrm>
            <a:off x="5669280" y="20574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4106" y="2262226"/>
            <a:ext cx="321869" cy="32186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2628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u="sng" dirty="0">
                <a:solidFill>
                  <a:schemeClr val="tx2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‘강남 교제 살인’ 의대생 징역 30년 확정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4526280" y="41148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사례 ② 판결 보도 — 법원이 본 범행 동기와 형량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526280" y="4983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연합뉴스TV (2025.9)</a:t>
            </a:r>
            <a:endParaRPr lang="en-US" sz="1100" dirty="0"/>
          </a:p>
        </p:txBody>
      </p:sp>
      <p:sp>
        <p:nvSpPr>
          <p:cNvPr id="18" name="Card"/>
          <p:cNvSpPr/>
          <p:nvPr/>
        </p:nvSpPr>
        <p:spPr>
          <a:xfrm>
            <a:off x="8046720" y="1463040"/>
            <a:ext cx="3474720" cy="4023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9" name="Video thumbnail"/>
          <p:cNvSpPr/>
          <p:nvPr/>
        </p:nvSpPr>
        <p:spPr>
          <a:xfrm>
            <a:off x="8275320" y="1691640"/>
            <a:ext cx="3017520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/>
        </p:spPr>
      </p:sp>
      <p:sp>
        <p:nvSpPr>
          <p:cNvPr id="20" name="Icon circle"/>
          <p:cNvSpPr/>
          <p:nvPr/>
        </p:nvSpPr>
        <p:spPr>
          <a:xfrm>
            <a:off x="9418320" y="20574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3146" y="2262226"/>
            <a:ext cx="321869" cy="321869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27532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u="sng" dirty="0">
                <a:solidFill>
                  <a:schemeClr val="tx2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서울시 데이트폭력</a:t>
            </a:r>
            <a:endParaRPr lang="en-US" sz="1600" dirty="0"/>
          </a:p>
          <a:p>
            <a:pPr indent="0" marL="0">
              <a:buNone/>
            </a:pPr>
            <a:r>
              <a:rPr lang="en-US" sz="1600" b="1" u="sng" dirty="0">
                <a:solidFill>
                  <a:schemeClr val="tx2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예방 숏폼 1편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8275320" y="41148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대응의 첫걸음 — 폭력을 알아차리고 도움 요청하기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275320" y="4983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서울시 ‘찾아가는 폭력예방교육’ (2025)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※ 제목을 클릭하면 영상 페이지로 이동해요. ①은 교육자료실에서 제목으로 검색하세요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영상을 보고 함께 생각해 봐요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6. 참고 영상</a:t>
            </a:r>
            <a:endParaRPr lang="en-US" sz="1200" dirty="0"/>
          </a:p>
        </p:txBody>
      </p:sp>
      <p:sp>
        <p:nvSpPr>
          <p:cNvPr id="4" name="Question circle"/>
          <p:cNvSpPr/>
          <p:nvPr/>
        </p:nvSpPr>
        <p:spPr>
          <a:xfrm>
            <a:off x="548640" y="1536192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5361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Q1</a:t>
            </a:r>
            <a:endParaRPr lang="en-US" sz="1800" dirty="0"/>
          </a:p>
        </p:txBody>
      </p:sp>
      <p:sp>
        <p:nvSpPr>
          <p:cNvPr id="6" name="Card"/>
          <p:cNvSpPr/>
          <p:nvPr/>
        </p:nvSpPr>
        <p:spPr>
          <a:xfrm>
            <a:off x="1645920" y="1463040"/>
            <a:ext cx="9966960" cy="969264"/>
          </a:xfrm>
          <a:prstGeom prst="roundRect">
            <a:avLst>
              <a:gd name="adj" fmla="val 11321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920240" y="1463040"/>
            <a:ext cx="9509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영상 속에서 ‘폭력’이라고 느낀 장면은 무엇인가요? 처음부터 폭력이라고 알아차렸나요?</a:t>
            </a:r>
            <a:endParaRPr lang="en-US" sz="1700" dirty="0"/>
          </a:p>
        </p:txBody>
      </p:sp>
      <p:sp>
        <p:nvSpPr>
          <p:cNvPr id="8" name="Question circle"/>
          <p:cNvSpPr/>
          <p:nvPr/>
        </p:nvSpPr>
        <p:spPr>
          <a:xfrm>
            <a:off x="548640" y="2633472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6334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Q2</a:t>
            </a:r>
            <a:endParaRPr lang="en-US" sz="1800" dirty="0"/>
          </a:p>
        </p:txBody>
      </p:sp>
      <p:sp>
        <p:nvSpPr>
          <p:cNvPr id="10" name="Card"/>
          <p:cNvSpPr/>
          <p:nvPr/>
        </p:nvSpPr>
        <p:spPr>
          <a:xfrm>
            <a:off x="1645920" y="2560320"/>
            <a:ext cx="9966960" cy="969264"/>
          </a:xfrm>
          <a:prstGeom prst="roundRect">
            <a:avLst>
              <a:gd name="adj" fmla="val 11321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920240" y="2560320"/>
            <a:ext cx="9509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피해자가 바로 도움을 요청하지 못한 이유는 무엇이었을까요?</a:t>
            </a:r>
            <a:endParaRPr lang="en-US" sz="1700" dirty="0"/>
          </a:p>
        </p:txBody>
      </p:sp>
      <p:sp>
        <p:nvSpPr>
          <p:cNvPr id="12" name="Question circle"/>
          <p:cNvSpPr/>
          <p:nvPr/>
        </p:nvSpPr>
        <p:spPr>
          <a:xfrm>
            <a:off x="548640" y="3730752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73075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Q3</a:t>
            </a:r>
            <a:endParaRPr lang="en-US" sz="1800" dirty="0"/>
          </a:p>
        </p:txBody>
      </p:sp>
      <p:sp>
        <p:nvSpPr>
          <p:cNvPr id="14" name="Card"/>
          <p:cNvSpPr/>
          <p:nvPr/>
        </p:nvSpPr>
        <p:spPr>
          <a:xfrm>
            <a:off x="1645920" y="3657600"/>
            <a:ext cx="9966960" cy="969264"/>
          </a:xfrm>
          <a:prstGeom prst="roundRect">
            <a:avLst>
              <a:gd name="adj" fmla="val 11321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920240" y="3657600"/>
            <a:ext cx="9509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내가 그 친구의 친구였다면 어떤 말과 행동을 해 줄 수 있을까요?</a:t>
            </a:r>
            <a:endParaRPr lang="en-US" sz="1700" dirty="0"/>
          </a:p>
        </p:txBody>
      </p:sp>
      <p:sp>
        <p:nvSpPr>
          <p:cNvPr id="16" name="Question circle"/>
          <p:cNvSpPr/>
          <p:nvPr/>
        </p:nvSpPr>
        <p:spPr>
          <a:xfrm>
            <a:off x="548640" y="4828032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82803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Q4</a:t>
            </a:r>
            <a:endParaRPr lang="en-US" sz="1800" dirty="0"/>
          </a:p>
        </p:txBody>
      </p:sp>
      <p:sp>
        <p:nvSpPr>
          <p:cNvPr id="18" name="Card"/>
          <p:cNvSpPr/>
          <p:nvPr/>
        </p:nvSpPr>
        <p:spPr>
          <a:xfrm>
            <a:off x="1645920" y="4754880"/>
            <a:ext cx="9966960" cy="969264"/>
          </a:xfrm>
          <a:prstGeom prst="roundRect">
            <a:avLst>
              <a:gd name="adj" fmla="val 11321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920240" y="4754880"/>
            <a:ext cx="9509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영상 속 관계를 ‘건강한 관계’로 바꾸려면 어떤 약속이 필요할까요?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모둠별로 이야기 나누고 한 가지씩 발표해 봐요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학생들에게 꼭 알려주고 싶은 5가지</a:t>
            </a:r>
            <a:endParaRPr lang="en-US" sz="3200" dirty="0"/>
          </a:p>
        </p:txBody>
      </p:sp>
      <p:sp>
        <p:nvSpPr>
          <p:cNvPr id="3" name="Section tag"/>
          <p:cNvSpPr txBox="1"/>
          <p:nvPr/>
        </p:nvSpPr>
        <p:spPr>
          <a:xfrm>
            <a:off x="548640" y="109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7. 내가 강사라면</a:t>
            </a:r>
            <a:endParaRPr lang="en-US" sz="1200" dirty="0"/>
          </a:p>
        </p:txBody>
      </p:sp>
      <p:sp>
        <p:nvSpPr>
          <p:cNvPr id="4" name="Icon circle"/>
          <p:cNvSpPr/>
          <p:nvPr/>
        </p:nvSpPr>
        <p:spPr>
          <a:xfrm>
            <a:off x="548640" y="1554480"/>
            <a:ext cx="1280160" cy="12801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1912925"/>
            <a:ext cx="563270" cy="56327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01752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“사랑은 소유가 아니라 존중입니다”</a:t>
            </a:r>
            <a:endParaRPr lang="en-US" sz="2000" dirty="0"/>
          </a:p>
        </p:txBody>
      </p:sp>
      <p:sp>
        <p:nvSpPr>
          <p:cNvPr id="7" name="Card"/>
          <p:cNvSpPr/>
          <p:nvPr/>
        </p:nvSpPr>
        <p:spPr>
          <a:xfrm>
            <a:off x="4206240" y="1417320"/>
            <a:ext cx="740664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389120" y="1417320"/>
            <a:ext cx="457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892040" y="1417320"/>
            <a:ext cx="2514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동의는 매번, 분명하게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452360" y="1417320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침묵이나 망설임은 동의가 아닙니다. 언제든 마음을 바꿀 수 있어요.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4206240" y="2368296"/>
            <a:ext cx="740664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389120" y="2368296"/>
            <a:ext cx="457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2368296"/>
            <a:ext cx="2514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질투·집착 ≠ 사랑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452360" y="2368296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강남역·거제 사건 모두 이별을 받아들이지 못한 집착에서 시작됐어요.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4206240" y="3319272"/>
            <a:ext cx="740664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389120" y="3319272"/>
            <a:ext cx="457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4892040" y="3319272"/>
            <a:ext cx="2514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피해자의 잘못은 없다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52360" y="3319272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피해자 80.9%가 도움을 청하지 못해요. “괜찮아? 도와줄게”가 먼저예요.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4206240" y="4270248"/>
            <a:ext cx="740664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389120" y="4270248"/>
            <a:ext cx="457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4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4270248"/>
            <a:ext cx="2514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방관하지 않는 친구 되기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52360" y="4270248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친구의 이상한 연애를 보면 모른 척하지 말고 함께 어른에게 알려요.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4206240" y="5221224"/>
            <a:ext cx="740664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389120" y="5221224"/>
            <a:ext cx="457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5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4892040" y="5221224"/>
            <a:ext cx="2514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도움 요청은 용기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7452360" y="5221224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신고 뒤에도 위험하면 접근금지까지 요청하세요. 112 · 1366 · 1388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omi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82296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사랑은 통제가 아니라 존중입니다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4747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3"/>
                </a:solidFill>
              </a:rPr>
              <a:t>지켜진 약속이 건강한 관계를 만듭니다 — 감사합니다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5669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도움이 필요하면  112 · 1366 · 1388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mise">
  <a:themeElements>
    <a:clrScheme name="Promise">
      <a:dk1>
        <a:srgbClr val="2B1B2E"/>
      </a:dk1>
      <a:lt1>
        <a:srgbClr val="FFFFFF"/>
      </a:lt1>
      <a:dk2>
        <a:srgbClr val="4A1D3F"/>
      </a:dk2>
      <a:lt2>
        <a:srgbClr val="F6EEF3"/>
      </a:lt2>
      <a:accent1>
        <a:srgbClr val="E8505B"/>
      </a:accent1>
      <a:accent2>
        <a:srgbClr val="4A1D3F"/>
      </a:accent2>
      <a:accent3>
        <a:srgbClr val="B98AA8"/>
      </a:accent3>
      <a:accent4>
        <a:srgbClr val="F2A541"/>
      </a:accent4>
      <a:accent5>
        <a:srgbClr val="3E8E7E"/>
      </a:accent5>
      <a:accent6>
        <a:srgbClr val="7A6C80"/>
      </a:accent6>
      <a:hlink>
        <a:srgbClr val="E8505B"/>
      </a:hlink>
      <a:folHlink>
        <a:srgbClr val="B98AA8"/>
      </a:folHlink>
    </a:clrScheme>
    <a:fontScheme name="Promis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데이트(교제)폭력과 약속</dc:title>
  <dc:subject>PptxGenJS Presentation</dc:subject>
  <dc:creator>PptxGenJS</dc:creator>
  <cp:lastModifiedBy>PptxGenJS</cp:lastModifiedBy>
  <cp:revision>1</cp:revision>
  <dcterms:created xsi:type="dcterms:W3CDTF">2026-10-25T20:31:08Z</dcterms:created>
  <dcterms:modified xsi:type="dcterms:W3CDTF">2026-10-25T20:31:08Z</dcterms:modified>
</cp:coreProperties>
</file>