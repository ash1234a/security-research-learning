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6c669b7b-c426-c13c-eb43-c1f699cee08c}">
          <p14:sldIdLst>
            <p14:sldId id="256"/>
            <p14:sldId id="257"/>
            <p14:sldId id="258"/>
          </p14:sldIdLst>
        </p14:section>
        <p14:section name="1. 목적·정의·필요성" id="{245c13ab-ee98-1c7f-5d60-f72e9898e91d}">
          <p14:sldIdLst>
            <p14:sldId id="259"/>
            <p14:sldId id="260"/>
            <p14:sldId id="261"/>
            <p14:sldId id="262"/>
          </p14:sldIdLst>
        </p14:section>
        <p14:section name="2. 늘어나는 이유" id="{6e14bea4-ab2c-6087-c2ba-a063ee760ddf}">
          <p14:sldIdLst>
            <p14:sldId id="263"/>
            <p14:sldId id="264"/>
            <p14:sldId id="265"/>
            <p14:sldId id="266"/>
            <p14:sldId id="267"/>
          </p14:sldIdLst>
        </p14:section>
        <p14:section name="3. 폭력 유형" id="{5a11fc4a-57f4-fa0a-00ec-9e41bc70723c}">
          <p14:sldIdLst>
            <p14:sldId id="268"/>
            <p14:sldId id="269"/>
            <p14:sldId id="270"/>
            <p14:sldId id="271"/>
            <p14:sldId id="272"/>
            <p14:sldId id="273"/>
            <p14:sldId id="274"/>
          </p14:sldIdLst>
        </p14:section>
        <p14:section name="4. 대처·예방·신고" id="{737a07ab-3a7d-89b9-d02d-f9b5bb91f079}">
          <p14:sldIdLst>
            <p14:sldId id="275"/>
            <p14:sldId id="276"/>
            <p14:sldId id="277"/>
            <p14:sldId id="278"/>
            <p14:sldId id="279"/>
          </p14:sldIdLst>
        </p14:section>
        <p14:section name="5. 노력과 다짐" id="{a06e4e71-0240-89b1-5c91-cce341030e97}">
          <p14:sldIdLst>
            <p14:sldId id="280"/>
            <p14:sldId id="281"/>
            <p14:sldId id="282"/>
          </p14:sldIdLst>
        </p14:section>
        <p14:section name="6. 참고 영상" id="{69bcf968-7012-32e1-ee24-7e50548b0043}">
          <p14:sldIdLst>
            <p14:sldId id="283"/>
          </p14:sldIdLst>
        </p14:section>
        <p14:section name="7. 내가 강사라면" id="{0997809f-d21b-9461-cb83-f7c57c0cd7bc}">
          <p14:sldIdLst>
            <p14:sldId id="284"/>
          </p14:sldIdLst>
        </p14:section>
        <p14:section name="마무리" id="{bc59def9-510d-ea99-0f78-0406e2f3168c}">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A1D3F"/>
                </a:solidFill>
                <a:latin typeface="+mn-lt"/>
              </a:defRPr>
            </a:pPr>
            <a:r>
              <a:rPr sz="1300" b="0" i="0" u="none" strike="noStrike">
                <a:solidFill>
                  <a:srgbClr val="4A1D3F"/>
                </a:solidFill>
                <a:latin typeface="+mn-lt"/>
              </a:rPr>
              <a:t>교제폭력 112 신고 건수 (건)</a:t>
            </a:r>
          </a:p>
        </c:rich>
      </c:tx>
      <c:layout/>
      <c:overlay val="0"/>
    </c:title>
    <c:autoTitleDeleted val="0"/>
    <c:plotArea>
      <c:layout/>
      <c:barChart>
        <c:barDir val="col"/>
        <c:grouping val="clustered"/>
        <c:varyColors val="0"/>
        <c:ser>
          <c:idx val="0"/>
          <c:order val="0"/>
          <c:tx>
            <c:strRef>
              <c:f>Sheet1!$B$1</c:f>
              <c:strCache>
                <c:ptCount val="1"/>
                <c:pt idx="0">
                  <c:v>신고 건수</c:v>
                </c:pt>
              </c:strCache>
            </c:strRef>
          </c:tx>
          <c:spPr>
            <a:solidFill>
              <a:srgbClr val="E8505B"/>
            </a:solidFill>
            <a:effectLst/>
          </c:spPr>
          <c:invertIfNegative val="0"/>
          <c:dLbls>
            <c:numFmt formatCode="#,##0" sourceLinked="0"/>
            <c:txPr>
              <a:bodyPr/>
              <a:lstStyle/>
              <a:p>
                <a:pPr>
                  <a:defRPr b="0" i="0" strike="noStrike" sz="1200" u="none">
                    <a:solidFill>
                      <a:srgbClr val="2B1B2E"/>
                    </a:solidFill>
                    <a:latin typeface="+mn-lt"/>
                  </a:defRPr>
                </a:pPr>
              </a:p>
            </c:txPr>
            <c:showLegendKey val="0"/>
            <c:showVal val="1"/>
            <c:showCatName val="0"/>
            <c:showSerName val="0"/>
            <c:showPercent val="0"/>
            <c:showBubbleSize val="0"/>
            <c:showLeaderLines val="0"/>
          </c:dLbls>
          <c:cat>
            <c:multiLvlStrRef>
              <c:f>Sheet1!$A$2:$A$6</c:f>
              <c:multiLvlStrCache>
                <c:ptCount val="5"/>
                <c:lvl>
                  <c:pt idx="0">
                    <c:v>2021</c:v>
                  </c:pt>
                  <c:pt idx="1">
                    <c:v>2022</c:v>
                  </c:pt>
                  <c:pt idx="2">
                    <c:v>2023</c:v>
                  </c:pt>
                  <c:pt idx="3">
                    <c:v>2024</c:v>
                  </c:pt>
                  <c:pt idx="4">
                    <c:v>2025</c:v>
                  </c:pt>
                </c:lvl>
              </c:multiLvlStrCache>
            </c:multiLvlStrRef>
          </c:cat>
          <c:val>
            <c:numRef>
              <c:f>Sheet1!$B$2:$B$6</c:f>
              <c:numCache>
                <c:formatCode>General</c:formatCode>
                <c:ptCount val="5"/>
                <c:pt idx="0">
                  <c:v>57305</c:v>
                </c:pt>
                <c:pt idx="1">
                  <c:v>70790</c:v>
                </c:pt>
                <c:pt idx="2">
                  <c:v>77150</c:v>
                </c:pt>
                <c:pt idx="3">
                  <c:v>88394</c:v>
                </c:pt>
                <c:pt idx="4">
                  <c:v>105327</c:v>
                </c:pt>
              </c:numCache>
            </c:numRef>
          </c:val>
        </c:ser>
        <c:dLbls>
          <c:numFmt formatCode="#,##0" sourceLinked="0"/>
          <c:txPr>
            <a:bodyPr/>
            <a:lstStyle/>
            <a:p>
              <a:pPr>
                <a:defRPr b="0" i="0" strike="noStrike" sz="1200" u="none">
                  <a:solidFill>
                    <a:srgbClr val="2B1B2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A6C8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A6C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A1D3F"/>
                </a:solidFill>
                <a:latin typeface="+mn-lt"/>
              </a:defRPr>
            </a:pPr>
            <a:r>
              <a:rPr sz="1300" b="0" i="0" u="none" strike="noStrike">
                <a:solidFill>
                  <a:srgbClr val="4A1D3F"/>
                </a:solidFill>
                <a:latin typeface="+mn-lt"/>
              </a:rPr>
              <a:t>교제폭력으로 검거된 10대 (명)</a:t>
            </a:r>
          </a:p>
        </c:rich>
      </c:tx>
      <c:layout/>
      <c:overlay val="0"/>
    </c:title>
    <c:autoTitleDeleted val="0"/>
    <c:plotArea>
      <c:layout/>
      <c:barChart>
        <c:barDir val="col"/>
        <c:grouping val="clustered"/>
        <c:varyColors val="0"/>
        <c:ser>
          <c:idx val="0"/>
          <c:order val="0"/>
          <c:tx>
            <c:strRef>
              <c:f>Sheet1!$B$1</c:f>
              <c:strCache>
                <c:ptCount val="1"/>
                <c:pt idx="0">
                  <c:v>10대 검거</c:v>
                </c:pt>
              </c:strCache>
            </c:strRef>
          </c:tx>
          <c:spPr>
            <a:solidFill>
              <a:srgbClr val="4A1D3F"/>
            </a:solidFill>
            <a:effectLst/>
          </c:spPr>
          <c:invertIfNegative val="0"/>
          <c:dLbls>
            <c:numFmt formatCode="#,##0" sourceLinked="0"/>
            <c:txPr>
              <a:bodyPr/>
              <a:lstStyle/>
              <a:p>
                <a:pPr>
                  <a:defRPr b="0" i="0" strike="noStrike" sz="1200" u="none">
                    <a:solidFill>
                      <a:srgbClr val="2B1B2E"/>
                    </a:solidFill>
                    <a:latin typeface="+mn-lt"/>
                  </a:defRPr>
                </a:pPr>
              </a:p>
            </c:txPr>
            <c:showLegendKey val="0"/>
            <c:showVal val="1"/>
            <c:showCatName val="0"/>
            <c:showSerName val="0"/>
            <c:showPercent val="0"/>
            <c:showBubbleSize val="0"/>
            <c:showLeaderLines val="0"/>
          </c:dLbls>
          <c:cat>
            <c:multiLvlStrRef>
              <c:f>Sheet1!$A$2:$A$3</c:f>
              <c:multiLvlStrCache>
                <c:ptCount val="2"/>
                <c:lvl>
                  <c:pt idx="0">
                    <c:v>2020</c:v>
                  </c:pt>
                  <c:pt idx="1">
                    <c:v>2024</c:v>
                  </c:pt>
                </c:lvl>
              </c:multiLvlStrCache>
            </c:multiLvlStrRef>
          </c:cat>
          <c:val>
            <c:numRef>
              <c:f>Sheet1!$B$2:$B$3</c:f>
              <c:numCache>
                <c:formatCode>General</c:formatCode>
                <c:ptCount val="2"/>
                <c:pt idx="0">
                  <c:v>280</c:v>
                </c:pt>
                <c:pt idx="1">
                  <c:v>626</c:v>
                </c:pt>
              </c:numCache>
            </c:numRef>
          </c:val>
        </c:ser>
        <c:dLbls>
          <c:numFmt formatCode="#,##0" sourceLinked="0"/>
          <c:txPr>
            <a:bodyPr/>
            <a:lstStyle/>
            <a:p>
              <a:pPr>
                <a:defRPr b="0" i="0" strike="noStrike" sz="1200" u="none">
                  <a:solidFill>
                    <a:srgbClr val="2B1B2E"/>
                  </a:solidFill>
                  <a:latin typeface="+mn-lt"/>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A6C8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A6C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1분] 자기소개. 오늘 주제는 ‘사귀는 사이에서 일어나는 폭력’과 ‘관계에서 지켜야 할 약속’이라고 소개합니다. 연애 경험이 없는 학생도 친구·형제의 일로 마주칠 수 있는 주제임을 짚어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3분] 교육 시작 전 반드시 ‘안전 약속’을 안내합니다(트라우마 고려 접근). 교실 안에 실제 피해·가해 경험이 있는 학생이 있을 수 있다고 전제하고 진행하세요.
강사 유의사항
- 피해 사실을 공개적으로 말하게 하거나, 손을 들게 하는 질문을 하지 않습니다.
- ‘왜 안 헤어졌어?’ 같은 피해자 비난 표현, 성별 대결 구도(‘남자는/여자는’)를 쓰지 않습니다.
- 학생이 교육 중·후에 피해를 털어놓으면 비밀 보장을 약속하지 말고, 학교의 신고의무자(교원)·상담교사에게 즉시 연계합니다. 학교의 장과 종사자는 아동·청소년대상 성범죄를 알게 되면 즉시 수사기관에 신고해야 합니다(청소년성보호법 제34조).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7개 주제를 순서대로 진행합니다. 시간이 부족하면 3장(유형)의 활동과 6장(영상)을 줄이고, 4장(대처·신고)은 반드시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 2분] 이 교육은 ‘해야 해서 하는 교육’이 아니라 법이 정한 권리 보장 교육이라는 점을 설명합니다. 학교는 성폭력방지법에 따라 매년 예방교육을 실시하고, 학교폭력예방법은 학생 대상 성폭력을 학교폭력에 포함합니다.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 3분] 교제폭력은 법률 용어가 아니라 ‘친밀한 관계에서의 폭력’을 가리키는 말입니다. WHO는 이를 ‘친밀한 파트너 폭력(IPV)’으로 정의하며 신체·성적·심리적 피해와 ‘통제 행동’을 함께 포함합니다. 핵심 메시지: 폭력은 화가 나서 ‘터지는’ 것이 아니라 상대를 통제하기 위해 ‘사용’된다는 점을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 2분] 숫자를 읽기만 하지 말고 의미를 짚습니다. 하루 약 289건 → 이 교실 학생 수만큼의 신고가 몇 시간마다 들어오는 셈. 181명은 언론 보도만 집계한 최소치(한국여성의전화, 정부 공식 통계 아님). 1.8%는 성폭력 피해 경험자 중 경찰 신고 비율로, ‘드러나지 않는 피해’가 대부분임을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 3분] 동의는 ‘거절하지 않음’이 아니라 ‘적극적인 예’라는 점을 강조합니다.
법 기준 설명 시 주의: 13세 미만은 상대가 누구든 동의와 관계없이 처벌됩니다(형법 제305조 제1항). 13세 이상 16세 미만은 상대가 19세 이상 성인이면 동의해도 처벌됩니다(제305조 제2항, 2020년 신설·헌재 합헌). 또래끼리의 관계를 ‘범죄’로 겁주는 방식이 아니라, ‘성인이 미성년자에게 접근하는 그루밍을 법이 막는다’는 보호의 관점으로 설명하세요.
아동·청소년의 성적 촬영물은 본인이 찍어 보낸 것이어도 성착취물에 해당하며, 요구해서 찍게 한 것도 ‘제작’으로 처벌됩니다(대법원 판례).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2분] 신고 증가는 ‘폭력 증가’와 ‘신고 인식 향상’이 함께 반영된 결과라는 점을 균형 있게 설명합니다. 핵심은 오른쪽 아래: 신고 대비 검거율 13.8%. 신고가 곧 처벌로 이어지지 않는 현실은 다음 장에서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3분] WHO가 폭력 예방에 사용하는 ‘생태학적 모델’입니다. 폭력의 원인을 한 사람의 성격 탓으로만 돌리지 않고, 관계·또래·사회 구조가 함께 만든다는 관점입니다. 학생들에게 ‘우리가 바꿀 수 있는 층’은 관계와 또래 문화라는 점을 연결해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2분] ‘반의사불벌죄’를 학생 눈높이로 설명: ‘피해자가 처벌을 원하지 않는다고 하면 처벌할 수 없는 죄’. 이 구조 때문에 가해자가 피해자에게 합의를 강요하거나, 다시 사귀자며 회유하는 일이 반복됩니다.
42.9%는 경찰청이 일주일간 접수된 신고 1,129건을 분석한 표본 결과(현장 종결 840건 중 360건)입니다.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3분] 10대는 교제폭력 검거 인원이 2020년 이후 매년 늘어난 유일한 연령대입니다(2022년부터 형사입건자만 집계해 실제는 더 많을 수 있음).
딥페이크는 피의자의 61.8%가 10대입니다. ‘장난’, ‘호기심’으로 시작해도 소지·시청만으로 처벌되는 범죄라는 점을 분명히 전달하세요(성폭력처벌법, 2024.10 시행). 촉법소년(14세 미만)도 보호처분 대상이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 2분] 이 조사는 배우자·동거 파트너와 이별한 성인을 대상으로 한 것이어서 청소년 연애에 그대로 적용할 수는 없습니다. 그러나 ‘이별 시기에 폭력이 집중된다’는 패턴은 국내외 연구와 교제살인 사건에서 일관되게 나타납니다. 다음 장의 사례로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3분] 미국 덜루스(Duluth) 가정폭력개입프로젝트가 피해자 경험을 바탕으로 만든 모델을 청소년 교제 상황에 맞게 재구성했습니다.
설명 포인트: 바퀴살(일상적 통제)은 하나하나 사소해 보이지만 함께 굴러가며 상대의 자유를 빼앗습니다. 테두리(신체·성적 폭력)는 가끔 일어나도 ‘또 그럴 수 있다’는 두려움으로 통제 전체를 단단하게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2분] ‘강압적 통제(coercive control)’는 사회학자 에번 스타크(Evan Stark, 2007)가 정립한 개념입니다. 영국은 2015년 중대범죄법(Serious Crime Act) 제76조로 친밀한 관계의 강압적 통제를 범죄화했습니다(최대 징역 5년). 한국은 아직 도입되지 않았고 학계·시민사회에서 도입 논의가 진행 중입니다.
질문 예시: ‘이 말들 중 들어 본 적 있는 말이 있나요? (손들지 말고 마음속으로만)’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3분] 청소년 교제폭력은 스마트폰을 통해 24시간 이어집니다. 오른쪽 표는 ‘가해 행동이 어떤 범죄가 되는가’입니다.
강조: 청소년의 성적 사진·영상은 본인이 찍어 보냈어도 ‘아동·청소년성착취물’입니다. 연인에게 요구해 찍게 한 것도 ‘제작’으로 처벌됩니다(대법원 판례). 피해 학생이 ‘내가 보냈으니 내 잘못’이라고 생각하지 않도록, 책임은 요구·유포한 사람에게 있다고 반드시 함께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2분] 심리학자 레노어 워커(Lenore Walker, 1979)가 피해 여성 면담을 통해 제시한 모델입니다. ‘왜 안 헤어져?’라는 질문이 피해자를 탓하는 말이 될 수 있는 이유를 이 순환으로 설명합니다. 모든 관계가 이 순서대로 움직이지는 않으며, 화해기 없이 통제가 계속되는 경우도 있다는 점을 덧붙이세요.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5분 활동] 짝 또는 모둠별로 각 상황을 ‘폭력이다 / 아니다 / 잘 모르겠다’로 판단하고 이유를 말하게 합니다. 정답 맞히기보다 아래 세 가지 기준을 스스로 적용해 보는 것이 목적입니다.
해설
A: 감시·통제(디지털 교제폭력). 걱정이 아니라 통제의 신호입니다.
B: 고립시키기 + 정서적 학대. ‘서운함’ 표현과 ‘금지·처벌’은 다릅니다.
C: 성적 강요. 사귀는 사이여도 동의 없는 스킨십은 성폭력입니다.
D: 촬영물 유포 협박 — 실제로 올리지 않아도 협박만으로 범죄(성폭력처벌법 §14의3)이며, 청소년 촬영물이면 처벌이 더 무겁습니다.
주의: 학생의 실제 경험 공유를 요구하지 마세요. 모든 상황은 교육용으로 재구성한 가상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3분] 실제 사건을 다룰 때는 범행 수법을 자세히 묘사하지 않고, 피해자 실명·사진을 쓰지 않습니다(2차 피해 방지). 초점은 ‘이별 시기의 위험 신호’와 ‘미리 알리기’입니다.
질문: ‘헤어지자는 말을 꺼내기 전에 어떤 준비를 하면 안전할까요?’ → 25번 슬라이드 ‘안전한 이별 수칙’으로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 2분] 검찰은 대법원 양형위원회의 상해치사 기준이 3~5년(가중 시 4~8년)에 불과하다며 교제폭력을 별도 기준으로 엄정히 다뤄야 한다고 주장했습니다. 피해자가 10대였다는 점에서 학생들과 가까운 나이의 사건임을 짚되, 공포감을 주기보다 ‘폭력은 반복되며 심해진다’는 앞의 순환 모델과 연결하세요.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 3분] 순서보다 중요한 것은 ‘혼자 감당하지 않는 것’입니다. 증거는 신고 여부를 나중에 결정하더라도 미리 남겨 두면 선택지가 넓어진다고 안내합니다. 메시지를 지우면 복구가 어렵기 때문에 가해자가 삭제를 요구해도 원본을 보관하도록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 3분] 방관자 개입(bystander intervention)은 대학·학교 성폭력 예방교육의 핵심 전략입니다. ‘직접 맞서라’가 아니라 안전한 방법이 5가지나 있다는 점을 강조합니다. 직접 개입(Direct)은 나와 친구가 안전할 때만.
2차 피해: 여성폭력방지기본법은 피해자에 대한 비난·소문·불이익 등을 ‘2차 피해’로 규정합니다.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 3분] 학생들이 신고를 꺼리는 가장 큰 이유는 ‘신고 후에 무슨 일이 생길지 몰라서’입니다. 흐름을 보여 주어 막연한 두려움을 줄입니다.
학생 간 폭력·성폭력·사이버폭력은 학교폭력예방법상 학교폭력에 해당하여 학교 절차와 수사 절차가 함께 진행될 수 있습니다.
스토킹처벌법 잠정조치: 서면경고, 100m 이내 접근금지, 전화·메시지 등 접근금지, 위치추적 전자장치 부착, 유치장·구치소 유치. 2026년 제주 사건처럼 신고 후에도 위험이 이어질 수 있으므로 보호조치를 적극 요청하도록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 1분] 학생들이 휴대폰에 번호를 저장하도록 시간을 줍니다. 문자 신고(112)는 말하기 어려운 상황에서 쓸 수 있습니다. 모든 기관은 익명 상담이 가능하다고 안내하세요.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[4장 3분] 왼쪽은 현재 적용되는 처벌, 오른쪽은 아직 남은 공백입니다. 2022년 신당역 스토킹 살인 사건(가해자 무기징역 확정)을 계기로 2023년 스토킹처벌법의 반의사불벌 조항이 폐지되었다는 점을 예로 들어, ‘사회의 관심이 법을 바꾼다’는 메시지로 마무리합니다.
형량은 법정형 상한·하한 요약이며 구체적인 처벌은 사건마다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[5장 4분] 예방교육은 ‘하지 마라’로 끝나면 효과가 낮습니다. 대신 할 수 있는 행동(관계 기술)을 연습시킵니다.
활동: 짝과 함께 ‘너-전달법’ 문장을 ‘나-전달법’으로 바꿔 말해 보기(1~2분).
안전한 이별 수칙은 위험 신호가 있는 관계에 해당하는 내용이라는 점을 함께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[5장 2분] 개인 활동. 점수를 발표하지 않습니다. 체크하지 못한 항목이 ‘나쁜 사람’이라는 뜻이 아니라 ‘연습이 필요한 부분’이라는 점을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[5장 2분] 학생 각자가 마음속으로 읽거나, 학습지로 배부해 서명하게 할 수 있습니다. 강제로 낭독시키지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[6장 5분] 수업 시간에 맞춰 1편만 선택해 상영합니다(권장: ①). 시청 전에 질문을 먼저 보여 주고 ‘이 질문의 답을 찾으며 보라’고 안내하면 집중도가 높아집니다. ②는 실제 사건 보도이므로 시청 전 내용 안내(트리거 주의)를 합니다.
영상 링크는 수업 전에 반드시 재생 여부를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[7장 3분] 오늘 교육 전체를 다섯 문장으로 정리합니다. 각 메시지가 어떤 근거(통계·사례·법)에서 나왔는지 앞 슬라이드와 연결해 말해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 1분] 마지막 메시지를 전하고 도움 번호를 다시 안내합니다. 교육 후 개별 상담을 원하는 학생이 있으면 담임·상담교사와 연계하고, 피해 사실을 들었다면 학교 신고의무자에게 즉시 전달합니다(청소년성보호법 제34조).
가능하면 사전·사후 간단 설문(인식 변화)을 실시해 교육 효과를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731520" y="2103120"/>
            <a:ext cx="1069848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0"/>
          <p:cNvSpPr/>
          <p:nvPr>
            <p:ph idx="102" type="body" hasCustomPrompt="1"/>
          </p:nvPr>
        </p:nvSpPr>
        <p:spPr>
          <a:xfrm>
            <a:off x="731520" y="3474720"/>
            <a:ext cx="10698480" cy="731520"/>
          </a:xfrm>
          <a:prstGeom prst="rect">
            <a:avLst/>
          </a:prstGeom>
          <a:noFill/>
          <a:ln/>
        </p:spPr>
        <p:txBody>
          <a:bodyPr wrap="square" rtlCol="0"/>
          <a:lstStyle>
            <a:lvl1pPr algn="l" indent="0" marL="0">
              <a:buNone/>
              <a:defRPr lang="en-US" sz="2200" dirty="0">
                <a:solidFill>
                  <a:schemeClr val="accent3"/>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448495" y="0"/>
            <a:ext cx="2743200" cy="2057400"/>
          </a:xfrm>
          <a:prstGeom prst="rect">
            <a:avLst/>
          </a:prstGeom>
        </p:spPr>
      </p:pic>
      <p:sp>
        <p:nvSpPr>
          <p:cNvPr id="3" name="Text 0"/>
          <p:cNvSpPr/>
          <p:nvPr>
            <p:ph idx="101" type="title" hasCustomPrompt="1"/>
          </p:nvPr>
        </p:nvSpPr>
        <p:spPr>
          <a:xfrm>
            <a:off x="548640" y="365760"/>
            <a:ext cx="96926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355080"/>
            <a:ext cx="5486400" cy="320040"/>
          </a:xfrm>
          <a:prstGeom prst="rect">
            <a:avLst/>
          </a:prstGeom>
          <a:noFill/>
          <a:ln/>
        </p:spPr>
        <p:txBody>
          <a:bodyPr wrap="square" lIns="0" tIns="0" rIns="0" bIns="0" rtlCol="0" anchor="ctr"/>
          <a:lstStyle/>
          <a:p>
            <a:pPr indent="0" marL="0">
              <a:buNone/>
            </a:pPr>
            <a:r>
              <a:rPr lang="en-US" sz="1000" dirty="0">
                <a:solidFill>
                  <a:schemeClr val="accent6"/>
                </a:solidFill>
              </a:rPr>
              <a:t>데이트(교제)폭력과 약속 · 성폭력예방교육</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1-1.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4.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3.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shp.mogef.go.kr/shp/front/usr/search/selectEduContentsSubAjax.do" TargetMode="External"/><Relationship Id="rId5" Type="http://schemas.openxmlformats.org/officeDocument/2006/relationships/hyperlink" Target="https://www.youtube.com/watch?v=huUTDSiDpM8" TargetMode="External"/><Relationship Id="rId7" Type="http://schemas.openxmlformats.org/officeDocument/2006/relationships/hyperlink" Target="https://news.seoul.go.kr/welfare/archives/tag/%eb%8d%b0%ec%9d%b4%ed%8a%b8%ed%8f%ad%eb%a0%a5" TargetMode="External"/><Relationship Id="rId1" Type="http://schemas.openxmlformats.org/officeDocument/2006/relationships/image" Target="../media/image-28-1.png"/><Relationship Id="rId2" Type="http://schemas.openxmlformats.org/officeDocument/2006/relationships/image" Target="../media/image-28-2.png"/><Relationship Id="rId4" Type="http://schemas.openxmlformats.org/officeDocument/2006/relationships/image" Target="../media/image-28-3.png"/><Relationship Id="rId6" Type="http://schemas.openxmlformats.org/officeDocument/2006/relationships/image" Target="../media/image-28-4.png"/><Relationship Id="rId8" Type="http://schemas.openxmlformats.org/officeDocument/2006/relationships/slideLayout" Target="../slideLayouts/slideLayout4.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3.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omise icon" descr="preencoded.png">    </p:cNvPr>
          <p:cNvPicPr>
            <a:picLocks noChangeAspect="1"/>
          </p:cNvPicPr>
          <p:nvPr/>
        </p:nvPicPr>
        <p:blipFill>
          <a:blip r:embed="rId1"/>
          <a:stretch>
            <a:fillRect/>
          </a:stretch>
        </p:blipFill>
        <p:spPr>
          <a:xfrm>
            <a:off x="731520" y="822960"/>
            <a:ext cx="1005840" cy="1005840"/>
          </a:xfrm>
          <a:prstGeom prst="rect">
            <a:avLst/>
          </a:prstGeom>
        </p:spPr>
      </p:pic>
      <p:sp>
        <p:nvSpPr>
          <p:cNvPr id="3" name="Illustration frame"/>
          <p:cNvSpPr/>
          <p:nvPr/>
        </p:nvSpPr>
        <p:spPr>
          <a:xfrm>
            <a:off x="8458200" y="1188720"/>
            <a:ext cx="3108960" cy="3108960"/>
          </a:xfrm>
          <a:prstGeom prst="ellipse">
            <a:avLst/>
          </a:prstGeom>
          <a:solidFill>
            <a:schemeClr val="bg1">
              <a:alpha val="12000"/>
            </a:schemeClr>
          </a:solidFill>
          <a:ln w="19050">
            <a:solidFill>
              <a:schemeClr val="accent3"/>
            </a:solidFill>
            <a:prstDash val="dash"/>
          </a:ln>
        </p:spPr>
      </p:sp>
      <p:pic>
        <p:nvPicPr>
          <p:cNvPr id="4" name="Illustration" descr="preencoded.png">    </p:cNvPr>
          <p:cNvPicPr>
            <a:picLocks noChangeAspect="1"/>
          </p:cNvPicPr>
          <p:nvPr/>
        </p:nvPicPr>
        <p:blipFill>
          <a:blip r:embed="rId2"/>
          <a:stretch>
            <a:fillRect/>
          </a:stretch>
        </p:blipFill>
        <p:spPr>
          <a:xfrm>
            <a:off x="8961120" y="1691640"/>
            <a:ext cx="2103120" cy="2103120"/>
          </a:xfrm>
          <a:prstGeom prst="rect">
            <a:avLst/>
          </a:prstGeom>
        </p:spPr>
      </p:pic>
      <p:pic>
        <p:nvPicPr>
          <p:cNvPr id="5" name="Illustration" descr="preencoded.png">    </p:cNvPr>
          <p:cNvPicPr>
            <a:picLocks noChangeAspect="1"/>
          </p:cNvPicPr>
          <p:nvPr/>
        </p:nvPicPr>
        <p:blipFill>
          <a:blip r:embed="rId3"/>
          <a:stretch>
            <a:fillRect/>
          </a:stretch>
        </p:blipFill>
        <p:spPr>
          <a:xfrm>
            <a:off x="10972800" y="822960"/>
            <a:ext cx="822960" cy="822960"/>
          </a:xfrm>
          <a:prstGeom prst="rect">
            <a:avLst/>
          </a:prstGeom>
        </p:spPr>
      </p:pic>
      <p:pic>
        <p:nvPicPr>
          <p:cNvPr id="6" name="Illustration" descr="preencoded.png">    </p:cNvPr>
          <p:cNvPicPr>
            <a:picLocks noChangeAspect="1"/>
          </p:cNvPicPr>
          <p:nvPr/>
        </p:nvPicPr>
        <p:blipFill>
          <a:blip r:embed="rId4"/>
          <a:stretch>
            <a:fillRect/>
          </a:stretch>
        </p:blipFill>
        <p:spPr>
          <a:xfrm>
            <a:off x="8229600" y="3977640"/>
            <a:ext cx="640080" cy="640080"/>
          </a:xfrm>
          <a:prstGeom prst="rect">
            <a:avLst/>
          </a:prstGeom>
        </p:spPr>
      </p:pic>
      <p:sp>
        <p:nvSpPr>
          <p:cNvPr id="7" name="Text 0"/>
          <p:cNvSpPr/>
          <p:nvPr>
            <p:ph idx="101" type="title" hasCustomPrompt="1"/>
          </p:nvPr>
        </p:nvSpPr>
        <p:spPr>
          <a:xfrm>
            <a:off x="731520" y="2103120"/>
            <a:ext cx="10698480" cy="1280160"/>
          </a:xfrm>
          <a:prstGeom prst="rect">
            <a:avLst/>
          </a:prstGeom>
          <a:noFill/>
          <a:ln/>
        </p:spPr>
        <p:txBody>
          <a:bodyPr wrap="square" rtlCol="0" anchor="ctr"/>
          <a:lstStyle/>
          <a:p>
            <a:pPr algn="l" indent="0" marL="0">
              <a:buNone/>
            </a:pPr>
            <a:r>
              <a:rPr lang="en-US" sz="4800" b="1" dirty="0">
                <a:solidFill>
                  <a:schemeClr val="bg1"/>
                </a:solidFill>
              </a:rPr>
              <a:t>데이트(교제)폭력과 약속</a:t>
            </a:r>
            <a:endParaRPr lang="en-US" sz="4800" dirty="0"/>
          </a:p>
        </p:txBody>
      </p:sp>
      <p:sp>
        <p:nvSpPr>
          <p:cNvPr id="8" name="Text 0"/>
          <p:cNvSpPr/>
          <p:nvPr>
            <p:ph idx="102" type="body" hasCustomPrompt="1"/>
          </p:nvPr>
        </p:nvSpPr>
        <p:spPr>
          <a:xfrm>
            <a:off x="731520" y="3474720"/>
            <a:ext cx="10698480" cy="731520"/>
          </a:xfrm>
          <a:prstGeom prst="rect">
            <a:avLst/>
          </a:prstGeom>
          <a:noFill/>
          <a:ln/>
        </p:spPr>
        <p:txBody>
          <a:bodyPr wrap="square" rtlCol="0" anchor="t"/>
          <a:lstStyle/>
          <a:p>
            <a:pPr algn="l" indent="0" marL="0">
              <a:buNone/>
            </a:pPr>
            <a:r>
              <a:rPr lang="en-US" sz="2200" dirty="0">
                <a:solidFill>
                  <a:schemeClr val="accent3"/>
                </a:solidFill>
              </a:rPr>
              <a:t>중·고등학생 대상 성폭력·교제폭력 예방교육</a:t>
            </a:r>
            <a:endParaRPr lang="en-US" sz="2200" dirty="0"/>
          </a:p>
        </p:txBody>
      </p:sp>
      <p:sp>
        <p:nvSpPr>
          <p:cNvPr id="9" name="Text 3"/>
          <p:cNvSpPr txBox="1"/>
          <p:nvPr/>
        </p:nvSpPr>
        <p:spPr>
          <a:xfrm>
            <a:off x="731520" y="5669280"/>
            <a:ext cx="5486400" cy="457200"/>
          </a:xfrm>
          <a:prstGeom prst="rect">
            <a:avLst/>
          </a:prstGeom>
          <a:noFill/>
          <a:ln/>
        </p:spPr>
        <p:txBody>
          <a:bodyPr wrap="square" lIns="0" tIns="0" rIns="0" bIns="0" rtlCol="0" anchor="ctr"/>
          <a:lstStyle/>
          <a:p>
            <a:pPr indent="0" marL="0">
              <a:buNone/>
            </a:pPr>
            <a:r>
              <a:rPr lang="en-US" sz="1600" dirty="0">
                <a:solidFill>
                  <a:schemeClr val="bg1"/>
                </a:solidFill>
              </a:rPr>
              <a:t>강사: ____________</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오늘의 교육 안내</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도입</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Text 2"/>
          <p:cNvSpPr txBox="1"/>
          <p:nvPr/>
        </p:nvSpPr>
        <p:spPr>
          <a:xfrm>
            <a:off x="548640" y="1371600"/>
            <a:ext cx="3657600" cy="411480"/>
          </a:xfrm>
          <a:prstGeom prst="rect">
            <a:avLst/>
          </a:prstGeom>
          <a:noFill/>
          <a:ln/>
        </p:spPr>
        <p:txBody>
          <a:bodyPr wrap="square" lIns="0" tIns="0" rIns="0" bIns="0" rtlCol="0" anchor="ctr"/>
          <a:lstStyle/>
          <a:p>
            <a:pPr indent="0" marL="0">
              <a:buNone/>
            </a:pPr>
            <a:r>
              <a:rPr lang="en-US" sz="1800" b="1" dirty="0">
                <a:solidFill>
                  <a:schemeClr val="tx2"/>
                </a:solidFill>
              </a:rPr>
              <a:t>교육 목표</a:t>
            </a:r>
            <a:endParaRPr lang="en-US" sz="1800" dirty="0"/>
          </a:p>
        </p:txBody>
      </p:sp>
      <p:sp>
        <p:nvSpPr>
          <p:cNvPr id="7" name="Card"/>
          <p:cNvSpPr/>
          <p:nvPr/>
        </p:nvSpPr>
        <p:spPr>
          <a:xfrm>
            <a:off x="548640" y="1874520"/>
            <a:ext cx="3657600" cy="868680"/>
          </a:xfrm>
          <a:prstGeom prst="roundRect">
            <a:avLst>
              <a:gd name="adj" fmla="val 2105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8" name="Text 4"/>
          <p:cNvSpPr txBox="1"/>
          <p:nvPr/>
        </p:nvSpPr>
        <p:spPr>
          <a:xfrm>
            <a:off x="731520" y="1874520"/>
            <a:ext cx="1005840" cy="868680"/>
          </a:xfrm>
          <a:prstGeom prst="rect">
            <a:avLst/>
          </a:prstGeom>
          <a:noFill/>
          <a:ln/>
        </p:spPr>
        <p:txBody>
          <a:bodyPr wrap="square" lIns="0" tIns="0" rIns="0" bIns="0" rtlCol="0" anchor="ctr"/>
          <a:lstStyle/>
          <a:p>
            <a:pPr indent="0" marL="0">
              <a:buNone/>
            </a:pPr>
            <a:r>
              <a:rPr lang="en-US" sz="1600" b="1" dirty="0">
                <a:solidFill>
                  <a:schemeClr val="accent1"/>
                </a:solidFill>
              </a:rPr>
              <a:t>알기</a:t>
            </a:r>
            <a:endParaRPr lang="en-US" sz="1600" dirty="0"/>
          </a:p>
        </p:txBody>
      </p:sp>
      <p:sp>
        <p:nvSpPr>
          <p:cNvPr id="9" name="Text 5"/>
          <p:cNvSpPr txBox="1"/>
          <p:nvPr/>
        </p:nvSpPr>
        <p:spPr>
          <a:xfrm>
            <a:off x="1737360" y="1874520"/>
            <a:ext cx="2331720" cy="868680"/>
          </a:xfrm>
          <a:prstGeom prst="rect">
            <a:avLst/>
          </a:prstGeom>
          <a:noFill/>
          <a:ln/>
        </p:spPr>
        <p:txBody>
          <a:bodyPr wrap="square" lIns="0" tIns="0" rIns="0" bIns="0" rtlCol="0" anchor="ctr"/>
          <a:lstStyle/>
          <a:p>
            <a:pPr indent="0" marL="0">
              <a:buNone/>
            </a:pPr>
            <a:r>
              <a:rPr lang="en-US" sz="1400" dirty="0">
                <a:solidFill>
                  <a:schemeClr val="tx1"/>
                </a:solidFill>
              </a:rPr>
              <a:t>교제폭력의 유형·신호와 관련 법을 안다</a:t>
            </a:r>
            <a:endParaRPr lang="en-US" sz="1400" dirty="0"/>
          </a:p>
        </p:txBody>
      </p:sp>
      <p:sp>
        <p:nvSpPr>
          <p:cNvPr id="10" name="Card"/>
          <p:cNvSpPr/>
          <p:nvPr/>
        </p:nvSpPr>
        <p:spPr>
          <a:xfrm>
            <a:off x="548640" y="2880360"/>
            <a:ext cx="3657600" cy="868680"/>
          </a:xfrm>
          <a:prstGeom prst="roundRect">
            <a:avLst>
              <a:gd name="adj" fmla="val 2105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1" name="Text 7"/>
          <p:cNvSpPr txBox="1"/>
          <p:nvPr/>
        </p:nvSpPr>
        <p:spPr>
          <a:xfrm>
            <a:off x="731520" y="2880360"/>
            <a:ext cx="1005840" cy="868680"/>
          </a:xfrm>
          <a:prstGeom prst="rect">
            <a:avLst/>
          </a:prstGeom>
          <a:noFill/>
          <a:ln/>
        </p:spPr>
        <p:txBody>
          <a:bodyPr wrap="square" lIns="0" tIns="0" rIns="0" bIns="0" rtlCol="0" anchor="ctr"/>
          <a:lstStyle/>
          <a:p>
            <a:pPr indent="0" marL="0">
              <a:buNone/>
            </a:pPr>
            <a:r>
              <a:rPr lang="en-US" sz="1600" b="1" dirty="0">
                <a:solidFill>
                  <a:schemeClr val="accent1"/>
                </a:solidFill>
              </a:rPr>
              <a:t>느끼기</a:t>
            </a:r>
            <a:endParaRPr lang="en-US" sz="1600" dirty="0"/>
          </a:p>
        </p:txBody>
      </p:sp>
      <p:sp>
        <p:nvSpPr>
          <p:cNvPr id="12" name="Text 8"/>
          <p:cNvSpPr txBox="1"/>
          <p:nvPr/>
        </p:nvSpPr>
        <p:spPr>
          <a:xfrm>
            <a:off x="1737360" y="2880360"/>
            <a:ext cx="2331720" cy="868680"/>
          </a:xfrm>
          <a:prstGeom prst="rect">
            <a:avLst/>
          </a:prstGeom>
          <a:noFill/>
          <a:ln/>
        </p:spPr>
        <p:txBody>
          <a:bodyPr wrap="square" lIns="0" tIns="0" rIns="0" bIns="0" rtlCol="0" anchor="ctr"/>
          <a:lstStyle/>
          <a:p>
            <a:pPr indent="0" marL="0">
              <a:buNone/>
            </a:pPr>
            <a:r>
              <a:rPr lang="en-US" sz="1400" dirty="0">
                <a:solidFill>
                  <a:schemeClr val="tx1"/>
                </a:solidFill>
              </a:rPr>
              <a:t>통제는 사랑이 아니라는 태도를 갖는다</a:t>
            </a:r>
            <a:endParaRPr lang="en-US" sz="1400" dirty="0"/>
          </a:p>
        </p:txBody>
      </p:sp>
      <p:sp>
        <p:nvSpPr>
          <p:cNvPr id="13" name="Card"/>
          <p:cNvSpPr/>
          <p:nvPr/>
        </p:nvSpPr>
        <p:spPr>
          <a:xfrm>
            <a:off x="548640" y="3886200"/>
            <a:ext cx="3657600" cy="868680"/>
          </a:xfrm>
          <a:prstGeom prst="roundRect">
            <a:avLst>
              <a:gd name="adj" fmla="val 2105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4" name="Text 10"/>
          <p:cNvSpPr txBox="1"/>
          <p:nvPr/>
        </p:nvSpPr>
        <p:spPr>
          <a:xfrm>
            <a:off x="731520" y="3886200"/>
            <a:ext cx="1005840" cy="868680"/>
          </a:xfrm>
          <a:prstGeom prst="rect">
            <a:avLst/>
          </a:prstGeom>
          <a:noFill/>
          <a:ln/>
        </p:spPr>
        <p:txBody>
          <a:bodyPr wrap="square" lIns="0" tIns="0" rIns="0" bIns="0" rtlCol="0" anchor="ctr"/>
          <a:lstStyle/>
          <a:p>
            <a:pPr indent="0" marL="0">
              <a:buNone/>
            </a:pPr>
            <a:r>
              <a:rPr lang="en-US" sz="1600" b="1" dirty="0">
                <a:solidFill>
                  <a:schemeClr val="accent1"/>
                </a:solidFill>
              </a:rPr>
              <a:t>행동하기</a:t>
            </a:r>
            <a:endParaRPr lang="en-US" sz="1600" dirty="0"/>
          </a:p>
        </p:txBody>
      </p:sp>
      <p:sp>
        <p:nvSpPr>
          <p:cNvPr id="15" name="Text 11"/>
          <p:cNvSpPr txBox="1"/>
          <p:nvPr/>
        </p:nvSpPr>
        <p:spPr>
          <a:xfrm>
            <a:off x="1737360" y="3886200"/>
            <a:ext cx="2331720" cy="868680"/>
          </a:xfrm>
          <a:prstGeom prst="rect">
            <a:avLst/>
          </a:prstGeom>
          <a:noFill/>
          <a:ln/>
        </p:spPr>
        <p:txBody>
          <a:bodyPr wrap="square" lIns="0" tIns="0" rIns="0" bIns="0" rtlCol="0" anchor="ctr"/>
          <a:lstStyle/>
          <a:p>
            <a:pPr indent="0" marL="0">
              <a:buNone/>
            </a:pPr>
            <a:r>
              <a:rPr lang="en-US" sz="1400" dirty="0">
                <a:solidFill>
                  <a:schemeClr val="tx1"/>
                </a:solidFill>
              </a:rPr>
              <a:t>피해·목격 시 대처하고 도움을 요청할 수 있다</a:t>
            </a:r>
            <a:endParaRPr lang="en-US" sz="1400" dirty="0"/>
          </a:p>
        </p:txBody>
      </p:sp>
      <p:sp>
        <p:nvSpPr>
          <p:cNvPr id="16" name="Text 12"/>
          <p:cNvSpPr txBox="1"/>
          <p:nvPr/>
        </p:nvSpPr>
        <p:spPr>
          <a:xfrm>
            <a:off x="4480560" y="1371600"/>
            <a:ext cx="3108960" cy="411480"/>
          </a:xfrm>
          <a:prstGeom prst="rect">
            <a:avLst/>
          </a:prstGeom>
          <a:noFill/>
          <a:ln/>
        </p:spPr>
        <p:txBody>
          <a:bodyPr wrap="square" lIns="0" tIns="0" rIns="0" bIns="0" rtlCol="0" anchor="ctr"/>
          <a:lstStyle/>
          <a:p>
            <a:pPr indent="0" marL="0">
              <a:buNone/>
            </a:pPr>
            <a:r>
              <a:rPr lang="en-US" sz="1800" b="1" dirty="0">
                <a:solidFill>
                  <a:schemeClr val="tx2"/>
                </a:solidFill>
              </a:rPr>
              <a:t>50분 구성</a:t>
            </a:r>
            <a:endParaRPr lang="en-US" sz="1800" dirty="0"/>
          </a:p>
        </p:txBody>
      </p:sp>
      <p:sp>
        <p:nvSpPr>
          <p:cNvPr id="17" name="Card"/>
          <p:cNvSpPr/>
          <p:nvPr/>
        </p:nvSpPr>
        <p:spPr>
          <a:xfrm>
            <a:off x="4480560" y="1874520"/>
            <a:ext cx="3108960" cy="640080"/>
          </a:xfrm>
          <a:prstGeom prst="roundRect">
            <a:avLst>
              <a:gd name="adj" fmla="val 28571"/>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8" name="Text 14"/>
          <p:cNvSpPr txBox="1"/>
          <p:nvPr/>
        </p:nvSpPr>
        <p:spPr>
          <a:xfrm>
            <a:off x="4617720" y="1874520"/>
            <a:ext cx="868680" cy="640080"/>
          </a:xfrm>
          <a:prstGeom prst="rect">
            <a:avLst/>
          </a:prstGeom>
          <a:noFill/>
          <a:ln/>
        </p:spPr>
        <p:txBody>
          <a:bodyPr wrap="square" lIns="0" tIns="0" rIns="0" bIns="0" rtlCol="0" anchor="ctr"/>
          <a:lstStyle/>
          <a:p>
            <a:pPr indent="0" marL="0">
              <a:buNone/>
            </a:pPr>
            <a:r>
              <a:rPr lang="en-US" sz="1400" b="1" dirty="0">
                <a:solidFill>
                  <a:schemeClr val="tx2"/>
                </a:solidFill>
              </a:rPr>
              <a:t>도입</a:t>
            </a:r>
            <a:endParaRPr lang="en-US" sz="1400" dirty="0"/>
          </a:p>
        </p:txBody>
      </p:sp>
      <p:sp>
        <p:nvSpPr>
          <p:cNvPr id="19" name="Text 15"/>
          <p:cNvSpPr txBox="1"/>
          <p:nvPr/>
        </p:nvSpPr>
        <p:spPr>
          <a:xfrm>
            <a:off x="5486400" y="1874520"/>
            <a:ext cx="640080" cy="640080"/>
          </a:xfrm>
          <a:prstGeom prst="rect">
            <a:avLst/>
          </a:prstGeom>
          <a:noFill/>
          <a:ln/>
        </p:spPr>
        <p:txBody>
          <a:bodyPr wrap="square" lIns="0" tIns="0" rIns="0" bIns="0" rtlCol="0" anchor="ctr"/>
          <a:lstStyle/>
          <a:p>
            <a:pPr indent="0" marL="0">
              <a:buNone/>
            </a:pPr>
            <a:r>
              <a:rPr lang="en-US" sz="1400" b="1" dirty="0">
                <a:solidFill>
                  <a:schemeClr val="accent1"/>
                </a:solidFill>
              </a:rPr>
              <a:t>5분</a:t>
            </a:r>
            <a:endParaRPr lang="en-US" sz="1400" dirty="0"/>
          </a:p>
        </p:txBody>
      </p:sp>
      <p:sp>
        <p:nvSpPr>
          <p:cNvPr id="20" name="Text 16"/>
          <p:cNvSpPr txBox="1"/>
          <p:nvPr/>
        </p:nvSpPr>
        <p:spPr>
          <a:xfrm>
            <a:off x="6126480" y="1874520"/>
            <a:ext cx="1417320" cy="640080"/>
          </a:xfrm>
          <a:prstGeom prst="rect">
            <a:avLst/>
          </a:prstGeom>
          <a:noFill/>
          <a:ln/>
        </p:spPr>
        <p:txBody>
          <a:bodyPr wrap="square" lIns="0" tIns="0" rIns="0" bIns="0" rtlCol="0" anchor="ctr"/>
          <a:lstStyle/>
          <a:p>
            <a:pPr indent="0" marL="0">
              <a:buNone/>
            </a:pPr>
            <a:r>
              <a:rPr lang="en-US" sz="1200" dirty="0">
                <a:solidFill>
                  <a:schemeClr val="tx1"/>
                </a:solidFill>
              </a:rPr>
              <a:t>안전 약속, 필요성</a:t>
            </a:r>
            <a:endParaRPr lang="en-US" sz="1200" dirty="0"/>
          </a:p>
        </p:txBody>
      </p:sp>
      <p:sp>
        <p:nvSpPr>
          <p:cNvPr id="21" name="Card"/>
          <p:cNvSpPr/>
          <p:nvPr/>
        </p:nvSpPr>
        <p:spPr>
          <a:xfrm>
            <a:off x="4480560" y="2624328"/>
            <a:ext cx="3108960" cy="640080"/>
          </a:xfrm>
          <a:prstGeom prst="roundRect">
            <a:avLst>
              <a:gd name="adj" fmla="val 28571"/>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Text 18"/>
          <p:cNvSpPr txBox="1"/>
          <p:nvPr/>
        </p:nvSpPr>
        <p:spPr>
          <a:xfrm>
            <a:off x="4617720" y="2624328"/>
            <a:ext cx="868680" cy="640080"/>
          </a:xfrm>
          <a:prstGeom prst="rect">
            <a:avLst/>
          </a:prstGeom>
          <a:noFill/>
          <a:ln/>
        </p:spPr>
        <p:txBody>
          <a:bodyPr wrap="square" lIns="0" tIns="0" rIns="0" bIns="0" rtlCol="0" anchor="ctr"/>
          <a:lstStyle/>
          <a:p>
            <a:pPr indent="0" marL="0">
              <a:buNone/>
            </a:pPr>
            <a:r>
              <a:rPr lang="en-US" sz="1400" b="1" dirty="0">
                <a:solidFill>
                  <a:schemeClr val="tx2"/>
                </a:solidFill>
              </a:rPr>
              <a:t>전개 ①</a:t>
            </a:r>
            <a:endParaRPr lang="en-US" sz="1400" dirty="0"/>
          </a:p>
        </p:txBody>
      </p:sp>
      <p:sp>
        <p:nvSpPr>
          <p:cNvPr id="23" name="Text 19"/>
          <p:cNvSpPr txBox="1"/>
          <p:nvPr/>
        </p:nvSpPr>
        <p:spPr>
          <a:xfrm>
            <a:off x="5486400" y="2624328"/>
            <a:ext cx="640080" cy="640080"/>
          </a:xfrm>
          <a:prstGeom prst="rect">
            <a:avLst/>
          </a:prstGeom>
          <a:noFill/>
          <a:ln/>
        </p:spPr>
        <p:txBody>
          <a:bodyPr wrap="square" lIns="0" tIns="0" rIns="0" bIns="0" rtlCol="0" anchor="ctr"/>
          <a:lstStyle/>
          <a:p>
            <a:pPr indent="0" marL="0">
              <a:buNone/>
            </a:pPr>
            <a:r>
              <a:rPr lang="en-US" sz="1400" b="1" dirty="0">
                <a:solidFill>
                  <a:schemeClr val="accent1"/>
                </a:solidFill>
              </a:rPr>
              <a:t>15분</a:t>
            </a:r>
            <a:endParaRPr lang="en-US" sz="1400" dirty="0"/>
          </a:p>
        </p:txBody>
      </p:sp>
      <p:sp>
        <p:nvSpPr>
          <p:cNvPr id="24" name="Text 20"/>
          <p:cNvSpPr txBox="1"/>
          <p:nvPr/>
        </p:nvSpPr>
        <p:spPr>
          <a:xfrm>
            <a:off x="6126480" y="2624328"/>
            <a:ext cx="1417320" cy="640080"/>
          </a:xfrm>
          <a:prstGeom prst="rect">
            <a:avLst/>
          </a:prstGeom>
          <a:noFill/>
          <a:ln/>
        </p:spPr>
        <p:txBody>
          <a:bodyPr wrap="square" lIns="0" tIns="0" rIns="0" bIns="0" rtlCol="0" anchor="ctr"/>
          <a:lstStyle/>
          <a:p>
            <a:pPr indent="0" marL="0">
              <a:buNone/>
            </a:pPr>
            <a:r>
              <a:rPr lang="en-US" sz="1200" dirty="0">
                <a:solidFill>
                  <a:schemeClr val="tx1"/>
                </a:solidFill>
              </a:rPr>
              <a:t>정의·현실·유형</a:t>
            </a:r>
            <a:endParaRPr lang="en-US" sz="1200" dirty="0"/>
          </a:p>
        </p:txBody>
      </p:sp>
      <p:sp>
        <p:nvSpPr>
          <p:cNvPr id="25" name="Card"/>
          <p:cNvSpPr/>
          <p:nvPr/>
        </p:nvSpPr>
        <p:spPr>
          <a:xfrm>
            <a:off x="4480560" y="3374136"/>
            <a:ext cx="3108960" cy="640080"/>
          </a:xfrm>
          <a:prstGeom prst="roundRect">
            <a:avLst>
              <a:gd name="adj" fmla="val 28571"/>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6" name="Text 22"/>
          <p:cNvSpPr txBox="1"/>
          <p:nvPr/>
        </p:nvSpPr>
        <p:spPr>
          <a:xfrm>
            <a:off x="4617720" y="3374136"/>
            <a:ext cx="868680" cy="640080"/>
          </a:xfrm>
          <a:prstGeom prst="rect">
            <a:avLst/>
          </a:prstGeom>
          <a:noFill/>
          <a:ln/>
        </p:spPr>
        <p:txBody>
          <a:bodyPr wrap="square" lIns="0" tIns="0" rIns="0" bIns="0" rtlCol="0" anchor="ctr"/>
          <a:lstStyle/>
          <a:p>
            <a:pPr indent="0" marL="0">
              <a:buNone/>
            </a:pPr>
            <a:r>
              <a:rPr lang="en-US" sz="1400" b="1" dirty="0">
                <a:solidFill>
                  <a:schemeClr val="tx2"/>
                </a:solidFill>
              </a:rPr>
              <a:t>전개 ②</a:t>
            </a:r>
            <a:endParaRPr lang="en-US" sz="1400" dirty="0"/>
          </a:p>
        </p:txBody>
      </p:sp>
      <p:sp>
        <p:nvSpPr>
          <p:cNvPr id="27" name="Text 23"/>
          <p:cNvSpPr txBox="1"/>
          <p:nvPr/>
        </p:nvSpPr>
        <p:spPr>
          <a:xfrm>
            <a:off x="5486400" y="3374136"/>
            <a:ext cx="640080" cy="640080"/>
          </a:xfrm>
          <a:prstGeom prst="rect">
            <a:avLst/>
          </a:prstGeom>
          <a:noFill/>
          <a:ln/>
        </p:spPr>
        <p:txBody>
          <a:bodyPr wrap="square" lIns="0" tIns="0" rIns="0" bIns="0" rtlCol="0" anchor="ctr"/>
          <a:lstStyle/>
          <a:p>
            <a:pPr indent="0" marL="0">
              <a:buNone/>
            </a:pPr>
            <a:r>
              <a:rPr lang="en-US" sz="1400" b="1" dirty="0">
                <a:solidFill>
                  <a:schemeClr val="accent1"/>
                </a:solidFill>
              </a:rPr>
              <a:t>20분</a:t>
            </a:r>
            <a:endParaRPr lang="en-US" sz="1400" dirty="0"/>
          </a:p>
        </p:txBody>
      </p:sp>
      <p:sp>
        <p:nvSpPr>
          <p:cNvPr id="28" name="Text 24"/>
          <p:cNvSpPr txBox="1"/>
          <p:nvPr/>
        </p:nvSpPr>
        <p:spPr>
          <a:xfrm>
            <a:off x="6126480" y="3374136"/>
            <a:ext cx="1417320" cy="640080"/>
          </a:xfrm>
          <a:prstGeom prst="rect">
            <a:avLst/>
          </a:prstGeom>
          <a:noFill/>
          <a:ln/>
        </p:spPr>
        <p:txBody>
          <a:bodyPr wrap="square" lIns="0" tIns="0" rIns="0" bIns="0" rtlCol="0" anchor="ctr"/>
          <a:lstStyle/>
          <a:p>
            <a:pPr indent="0" marL="0">
              <a:buNone/>
            </a:pPr>
            <a:r>
              <a:rPr lang="en-US" sz="1200" dirty="0">
                <a:solidFill>
                  <a:schemeClr val="tx1"/>
                </a:solidFill>
              </a:rPr>
              <a:t>사례·대처·신고</a:t>
            </a:r>
            <a:endParaRPr lang="en-US" sz="1200" dirty="0"/>
          </a:p>
        </p:txBody>
      </p:sp>
      <p:sp>
        <p:nvSpPr>
          <p:cNvPr id="29" name="Card"/>
          <p:cNvSpPr/>
          <p:nvPr/>
        </p:nvSpPr>
        <p:spPr>
          <a:xfrm>
            <a:off x="4480560" y="4123944"/>
            <a:ext cx="3108960" cy="640080"/>
          </a:xfrm>
          <a:prstGeom prst="roundRect">
            <a:avLst>
              <a:gd name="adj" fmla="val 28571"/>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30" name="Text 26"/>
          <p:cNvSpPr txBox="1"/>
          <p:nvPr/>
        </p:nvSpPr>
        <p:spPr>
          <a:xfrm>
            <a:off x="4617720" y="4123944"/>
            <a:ext cx="868680" cy="640080"/>
          </a:xfrm>
          <a:prstGeom prst="rect">
            <a:avLst/>
          </a:prstGeom>
          <a:noFill/>
          <a:ln/>
        </p:spPr>
        <p:txBody>
          <a:bodyPr wrap="square" lIns="0" tIns="0" rIns="0" bIns="0" rtlCol="0" anchor="ctr"/>
          <a:lstStyle/>
          <a:p>
            <a:pPr indent="0" marL="0">
              <a:buNone/>
            </a:pPr>
            <a:r>
              <a:rPr lang="en-US" sz="1400" b="1" dirty="0">
                <a:solidFill>
                  <a:schemeClr val="tx2"/>
                </a:solidFill>
              </a:rPr>
              <a:t>정리</a:t>
            </a:r>
            <a:endParaRPr lang="en-US" sz="1400" dirty="0"/>
          </a:p>
        </p:txBody>
      </p:sp>
      <p:sp>
        <p:nvSpPr>
          <p:cNvPr id="31" name="Text 27"/>
          <p:cNvSpPr txBox="1"/>
          <p:nvPr/>
        </p:nvSpPr>
        <p:spPr>
          <a:xfrm>
            <a:off x="5486400" y="4123944"/>
            <a:ext cx="640080" cy="640080"/>
          </a:xfrm>
          <a:prstGeom prst="rect">
            <a:avLst/>
          </a:prstGeom>
          <a:noFill/>
          <a:ln/>
        </p:spPr>
        <p:txBody>
          <a:bodyPr wrap="square" lIns="0" tIns="0" rIns="0" bIns="0" rtlCol="0" anchor="ctr"/>
          <a:lstStyle/>
          <a:p>
            <a:pPr indent="0" marL="0">
              <a:buNone/>
            </a:pPr>
            <a:r>
              <a:rPr lang="en-US" sz="1400" b="1" dirty="0">
                <a:solidFill>
                  <a:schemeClr val="accent1"/>
                </a:solidFill>
              </a:rPr>
              <a:t>10분</a:t>
            </a:r>
            <a:endParaRPr lang="en-US" sz="1400" dirty="0"/>
          </a:p>
        </p:txBody>
      </p:sp>
      <p:sp>
        <p:nvSpPr>
          <p:cNvPr id="32" name="Text 28"/>
          <p:cNvSpPr txBox="1"/>
          <p:nvPr/>
        </p:nvSpPr>
        <p:spPr>
          <a:xfrm>
            <a:off x="6126480" y="4123944"/>
            <a:ext cx="1417320" cy="640080"/>
          </a:xfrm>
          <a:prstGeom prst="rect">
            <a:avLst/>
          </a:prstGeom>
          <a:noFill/>
          <a:ln/>
        </p:spPr>
        <p:txBody>
          <a:bodyPr wrap="square" lIns="0" tIns="0" rIns="0" bIns="0" rtlCol="0" anchor="ctr"/>
          <a:lstStyle/>
          <a:p>
            <a:pPr indent="0" marL="0">
              <a:buNone/>
            </a:pPr>
            <a:r>
              <a:rPr lang="en-US" sz="1200" dirty="0">
                <a:solidFill>
                  <a:schemeClr val="tx1"/>
                </a:solidFill>
              </a:rPr>
              <a:t>관계 기술·다짐</a:t>
            </a:r>
            <a:endParaRPr lang="en-US" sz="1200" dirty="0"/>
          </a:p>
        </p:txBody>
      </p:sp>
      <p:sp>
        <p:nvSpPr>
          <p:cNvPr id="33" name="Card"/>
          <p:cNvSpPr/>
          <p:nvPr/>
        </p:nvSpPr>
        <p:spPr>
          <a:xfrm>
            <a:off x="7863840" y="1371600"/>
            <a:ext cx="3749040" cy="4434840"/>
          </a:xfrm>
          <a:prstGeom prst="roundRect">
            <a:avLst>
              <a:gd name="adj" fmla="val 4878"/>
            </a:avLst>
          </a:prstGeom>
          <a:solidFill>
            <a:schemeClr val="tx2"/>
          </a:solidFill>
          <a:ln/>
          <a:effectLst>
            <a:outerShdw sx="100000" sy="100000" kx="0" ky="0" algn="bl" rotWithShape="0" blurRad="101600" dist="25400" dir="5400000">
              <a:srgbClr val="4A1D3F">
                <a:alpha val="28000"/>
              </a:srgbClr>
            </a:outerShdw>
          </a:effectLst>
        </p:spPr>
      </p:sp>
      <p:pic>
        <p:nvPicPr>
          <p:cNvPr id="34" name="Promise icon" descr="preencoded.png">    </p:cNvPr>
          <p:cNvPicPr>
            <a:picLocks noChangeAspect="1"/>
          </p:cNvPicPr>
          <p:nvPr/>
        </p:nvPicPr>
        <p:blipFill>
          <a:blip r:embed="rId2"/>
          <a:stretch>
            <a:fillRect/>
          </a:stretch>
        </p:blipFill>
        <p:spPr>
          <a:xfrm>
            <a:off x="8092440" y="1554480"/>
            <a:ext cx="502920" cy="502920"/>
          </a:xfrm>
          <a:prstGeom prst="rect">
            <a:avLst/>
          </a:prstGeom>
        </p:spPr>
      </p:pic>
      <p:sp>
        <p:nvSpPr>
          <p:cNvPr id="35" name="Text 30"/>
          <p:cNvSpPr txBox="1"/>
          <p:nvPr/>
        </p:nvSpPr>
        <p:spPr>
          <a:xfrm>
            <a:off x="8686800" y="1554480"/>
            <a:ext cx="2743200" cy="502920"/>
          </a:xfrm>
          <a:prstGeom prst="rect">
            <a:avLst/>
          </a:prstGeom>
          <a:noFill/>
          <a:ln/>
        </p:spPr>
        <p:txBody>
          <a:bodyPr wrap="square" lIns="0" tIns="0" rIns="0" bIns="0" rtlCol="0" anchor="ctr"/>
          <a:lstStyle/>
          <a:p>
            <a:pPr indent="0" marL="0">
              <a:buNone/>
            </a:pPr>
            <a:r>
              <a:rPr lang="en-US" sz="1800" b="1" dirty="0">
                <a:solidFill>
                  <a:schemeClr val="bg1"/>
                </a:solidFill>
              </a:rPr>
              <a:t>오늘 우리의 약속</a:t>
            </a:r>
            <a:endParaRPr lang="en-US" sz="1800" dirty="0"/>
          </a:p>
        </p:txBody>
      </p:sp>
      <p:sp>
        <p:nvSpPr>
          <p:cNvPr id="36" name="Text 31"/>
          <p:cNvSpPr txBox="1"/>
          <p:nvPr/>
        </p:nvSpPr>
        <p:spPr>
          <a:xfrm>
            <a:off x="8092440" y="2240280"/>
            <a:ext cx="3383280" cy="3474720"/>
          </a:xfrm>
          <a:prstGeom prst="rect">
            <a:avLst/>
          </a:prstGeom>
          <a:noFill/>
          <a:ln/>
        </p:spPr>
        <p:txBody>
          <a:bodyPr wrap="square" rtlCol="0" anchor="t"/>
          <a:lstStyle/>
          <a:p>
            <a:pPr marL="342900" indent="-342900">
              <a:spcAft>
                <a:spcPts val="1000"/>
              </a:spcAft>
              <a:buSzPct val="100000"/>
              <a:buChar char="•"/>
            </a:pPr>
            <a:r>
              <a:rPr lang="en-US" sz="1400" dirty="0">
                <a:solidFill>
                  <a:schemeClr val="bg1"/>
                </a:solidFill>
              </a:rPr>
              <a:t>내 경험을 말하지 않아도 괜찮습니다</a:t>
            </a:r>
            <a:endParaRPr lang="en-US" sz="1400" dirty="0"/>
          </a:p>
          <a:p>
            <a:pPr marL="342900" indent="-342900">
              <a:spcAft>
                <a:spcPts val="1000"/>
              </a:spcAft>
              <a:buSzPct val="100000"/>
              <a:buChar char="•"/>
            </a:pPr>
            <a:r>
              <a:rPr lang="en-US" sz="1400" dirty="0">
                <a:solidFill>
                  <a:schemeClr val="bg1"/>
                </a:solidFill>
              </a:rPr>
              <a:t>듣기 힘들면 잠시 쉬어도 됩니다</a:t>
            </a:r>
            <a:endParaRPr lang="en-US" sz="1400" dirty="0"/>
          </a:p>
          <a:p>
            <a:pPr marL="342900" indent="-342900">
              <a:spcAft>
                <a:spcPts val="1000"/>
              </a:spcAft>
              <a:buSzPct val="100000"/>
              <a:buChar char="•"/>
            </a:pPr>
            <a:r>
              <a:rPr lang="en-US" sz="1400" dirty="0">
                <a:solidFill>
                  <a:schemeClr val="bg1"/>
                </a:solidFill>
              </a:rPr>
              <a:t>다른 사람의 생각을 비웃지 않습니다</a:t>
            </a:r>
            <a:endParaRPr lang="en-US" sz="1400" dirty="0"/>
          </a:p>
          <a:p>
            <a:pPr marL="342900" indent="-342900">
              <a:spcAft>
                <a:spcPts val="1000"/>
              </a:spcAft>
              <a:buSzPct val="100000"/>
              <a:buChar char="•"/>
            </a:pPr>
            <a:r>
              <a:rPr lang="en-US" sz="1400" dirty="0">
                <a:solidFill>
                  <a:schemeClr val="bg1"/>
                </a:solidFill>
              </a:rPr>
              <a:t>들은 이야기는 교실 밖에 옮기지 않습니다</a:t>
            </a:r>
            <a:endParaRPr lang="en-US" sz="1400" dirty="0"/>
          </a:p>
          <a:p>
            <a:pPr marL="342900" indent="-342900">
              <a:spcAft>
                <a:spcPts val="1000"/>
              </a:spcAft>
              <a:buSzPct val="100000"/>
              <a:buChar char="•"/>
            </a:pPr>
            <a:r>
              <a:rPr lang="en-US" sz="1400" dirty="0">
                <a:solidFill>
                  <a:schemeClr val="bg1"/>
                </a:solidFill>
              </a:rPr>
              <a:t>도움이 필요하면 끝나고 강사·상담 선생님께</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오늘 함께 이야기할 내용</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도입</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63040"/>
            <a:ext cx="5394960" cy="914400"/>
          </a:xfrm>
          <a:prstGeom prst="roundRect">
            <a:avLst>
              <a:gd name="adj" fmla="val 2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Text 3"/>
          <p:cNvSpPr txBox="1"/>
          <p:nvPr/>
        </p:nvSpPr>
        <p:spPr>
          <a:xfrm>
            <a:off x="777240" y="1463040"/>
            <a:ext cx="822960" cy="91440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8" name="Text 4"/>
          <p:cNvSpPr txBox="1"/>
          <p:nvPr/>
        </p:nvSpPr>
        <p:spPr>
          <a:xfrm>
            <a:off x="1645920" y="1463040"/>
            <a:ext cx="4114800" cy="914400"/>
          </a:xfrm>
          <a:prstGeom prst="rect">
            <a:avLst/>
          </a:prstGeom>
          <a:noFill/>
          <a:ln/>
        </p:spPr>
        <p:txBody>
          <a:bodyPr wrap="square" lIns="0" tIns="0" rIns="0" bIns="0" rtlCol="0" anchor="ctr"/>
          <a:lstStyle/>
          <a:p>
            <a:pPr indent="0" marL="0">
              <a:buNone/>
            </a:pPr>
            <a:r>
              <a:rPr lang="en-US" sz="1800" dirty="0">
                <a:solidFill>
                  <a:schemeClr val="tx1"/>
                </a:solidFill>
              </a:rPr>
              <a:t>성폭력예방교육의 목적·정의·필요성</a:t>
            </a:r>
            <a:endParaRPr lang="en-US" sz="1800" dirty="0"/>
          </a:p>
        </p:txBody>
      </p:sp>
      <p:sp>
        <p:nvSpPr>
          <p:cNvPr id="9" name="Card"/>
          <p:cNvSpPr/>
          <p:nvPr/>
        </p:nvSpPr>
        <p:spPr>
          <a:xfrm>
            <a:off x="548640" y="2560320"/>
            <a:ext cx="5394960" cy="914400"/>
          </a:xfrm>
          <a:prstGeom prst="roundRect">
            <a:avLst>
              <a:gd name="adj" fmla="val 2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0" name="Text 6"/>
          <p:cNvSpPr txBox="1"/>
          <p:nvPr/>
        </p:nvSpPr>
        <p:spPr>
          <a:xfrm>
            <a:off x="777240" y="2560320"/>
            <a:ext cx="822960" cy="91440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11" name="Text 7"/>
          <p:cNvSpPr txBox="1"/>
          <p:nvPr/>
        </p:nvSpPr>
        <p:spPr>
          <a:xfrm>
            <a:off x="1645920" y="2560320"/>
            <a:ext cx="4114800" cy="914400"/>
          </a:xfrm>
          <a:prstGeom prst="rect">
            <a:avLst/>
          </a:prstGeom>
          <a:noFill/>
          <a:ln/>
        </p:spPr>
        <p:txBody>
          <a:bodyPr wrap="square" lIns="0" tIns="0" rIns="0" bIns="0" rtlCol="0" anchor="ctr"/>
          <a:lstStyle/>
          <a:p>
            <a:pPr indent="0" marL="0">
              <a:buNone/>
            </a:pPr>
            <a:r>
              <a:rPr lang="en-US" sz="1800" dirty="0">
                <a:solidFill>
                  <a:schemeClr val="tx1"/>
                </a:solidFill>
              </a:rPr>
              <a:t>데이트(교제)폭력이 늘어나는 이유</a:t>
            </a:r>
            <a:endParaRPr lang="en-US" sz="1800" dirty="0"/>
          </a:p>
        </p:txBody>
      </p:sp>
      <p:sp>
        <p:nvSpPr>
          <p:cNvPr id="12" name="Card"/>
          <p:cNvSpPr/>
          <p:nvPr/>
        </p:nvSpPr>
        <p:spPr>
          <a:xfrm>
            <a:off x="548640" y="3657600"/>
            <a:ext cx="5394960" cy="914400"/>
          </a:xfrm>
          <a:prstGeom prst="roundRect">
            <a:avLst>
              <a:gd name="adj" fmla="val 2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3" name="Text 9"/>
          <p:cNvSpPr txBox="1"/>
          <p:nvPr/>
        </p:nvSpPr>
        <p:spPr>
          <a:xfrm>
            <a:off x="777240" y="3657600"/>
            <a:ext cx="822960" cy="91440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14" name="Text 10"/>
          <p:cNvSpPr txBox="1"/>
          <p:nvPr/>
        </p:nvSpPr>
        <p:spPr>
          <a:xfrm>
            <a:off x="1645920" y="3657600"/>
            <a:ext cx="4114800" cy="914400"/>
          </a:xfrm>
          <a:prstGeom prst="rect">
            <a:avLst/>
          </a:prstGeom>
          <a:noFill/>
          <a:ln/>
        </p:spPr>
        <p:txBody>
          <a:bodyPr wrap="square" lIns="0" tIns="0" rIns="0" bIns="0" rtlCol="0" anchor="ctr"/>
          <a:lstStyle/>
          <a:p>
            <a:pPr indent="0" marL="0">
              <a:buNone/>
            </a:pPr>
            <a:r>
              <a:rPr lang="en-US" sz="1800" dirty="0">
                <a:solidFill>
                  <a:schemeClr val="tx1"/>
                </a:solidFill>
              </a:rPr>
              <a:t>데이트폭력의 유형</a:t>
            </a:r>
            <a:endParaRPr lang="en-US" sz="1800" dirty="0"/>
          </a:p>
        </p:txBody>
      </p:sp>
      <p:sp>
        <p:nvSpPr>
          <p:cNvPr id="15" name="Card"/>
          <p:cNvSpPr/>
          <p:nvPr/>
        </p:nvSpPr>
        <p:spPr>
          <a:xfrm>
            <a:off x="548640" y="4754880"/>
            <a:ext cx="5394960" cy="914400"/>
          </a:xfrm>
          <a:prstGeom prst="roundRect">
            <a:avLst>
              <a:gd name="adj" fmla="val 2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6" name="Text 12"/>
          <p:cNvSpPr txBox="1"/>
          <p:nvPr/>
        </p:nvSpPr>
        <p:spPr>
          <a:xfrm>
            <a:off x="777240" y="4754880"/>
            <a:ext cx="822960" cy="914400"/>
          </a:xfrm>
          <a:prstGeom prst="rect">
            <a:avLst/>
          </a:prstGeom>
          <a:noFill/>
          <a:ln/>
        </p:spPr>
        <p:txBody>
          <a:bodyPr wrap="square" lIns="0" tIns="0" rIns="0" bIns="0" rtlCol="0" anchor="ctr"/>
          <a:lstStyle/>
          <a:p>
            <a:pPr indent="0" marL="0">
              <a:buNone/>
            </a:pPr>
            <a:r>
              <a:rPr lang="en-US" sz="2800" b="1" dirty="0">
                <a:solidFill>
                  <a:schemeClr val="accent1"/>
                </a:solidFill>
              </a:rPr>
              <a:t>04</a:t>
            </a:r>
            <a:endParaRPr lang="en-US" sz="2800" dirty="0"/>
          </a:p>
        </p:txBody>
      </p:sp>
      <p:sp>
        <p:nvSpPr>
          <p:cNvPr id="17" name="Text 13"/>
          <p:cNvSpPr txBox="1"/>
          <p:nvPr/>
        </p:nvSpPr>
        <p:spPr>
          <a:xfrm>
            <a:off x="1645920" y="4754880"/>
            <a:ext cx="4114800" cy="914400"/>
          </a:xfrm>
          <a:prstGeom prst="rect">
            <a:avLst/>
          </a:prstGeom>
          <a:noFill/>
          <a:ln/>
        </p:spPr>
        <p:txBody>
          <a:bodyPr wrap="square" lIns="0" tIns="0" rIns="0" bIns="0" rtlCol="0" anchor="ctr"/>
          <a:lstStyle/>
          <a:p>
            <a:pPr indent="0" marL="0">
              <a:buNone/>
            </a:pPr>
            <a:r>
              <a:rPr lang="en-US" sz="1800" dirty="0">
                <a:solidFill>
                  <a:schemeClr val="tx1"/>
                </a:solidFill>
              </a:rPr>
              <a:t>대처·예방 방법과 신고</a:t>
            </a:r>
            <a:endParaRPr lang="en-US" sz="1800" dirty="0"/>
          </a:p>
        </p:txBody>
      </p:sp>
      <p:sp>
        <p:nvSpPr>
          <p:cNvPr id="18" name="Card"/>
          <p:cNvSpPr/>
          <p:nvPr/>
        </p:nvSpPr>
        <p:spPr>
          <a:xfrm>
            <a:off x="6217920" y="1463040"/>
            <a:ext cx="5394960" cy="914400"/>
          </a:xfrm>
          <a:prstGeom prst="roundRect">
            <a:avLst>
              <a:gd name="adj" fmla="val 2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9" name="Text 15"/>
          <p:cNvSpPr txBox="1"/>
          <p:nvPr/>
        </p:nvSpPr>
        <p:spPr>
          <a:xfrm>
            <a:off x="6446520" y="1463040"/>
            <a:ext cx="822960" cy="914400"/>
          </a:xfrm>
          <a:prstGeom prst="rect">
            <a:avLst/>
          </a:prstGeom>
          <a:noFill/>
          <a:ln/>
        </p:spPr>
        <p:txBody>
          <a:bodyPr wrap="square" lIns="0" tIns="0" rIns="0" bIns="0" rtlCol="0" anchor="ctr"/>
          <a:lstStyle/>
          <a:p>
            <a:pPr indent="0" marL="0">
              <a:buNone/>
            </a:pPr>
            <a:r>
              <a:rPr lang="en-US" sz="2800" b="1" dirty="0">
                <a:solidFill>
                  <a:schemeClr val="accent1"/>
                </a:solidFill>
              </a:rPr>
              <a:t>05</a:t>
            </a:r>
            <a:endParaRPr lang="en-US" sz="2800" dirty="0"/>
          </a:p>
        </p:txBody>
      </p:sp>
      <p:sp>
        <p:nvSpPr>
          <p:cNvPr id="20" name="Text 16"/>
          <p:cNvSpPr txBox="1"/>
          <p:nvPr/>
        </p:nvSpPr>
        <p:spPr>
          <a:xfrm>
            <a:off x="7315200" y="1463040"/>
            <a:ext cx="4114800" cy="914400"/>
          </a:xfrm>
          <a:prstGeom prst="rect">
            <a:avLst/>
          </a:prstGeom>
          <a:noFill/>
          <a:ln/>
        </p:spPr>
        <p:txBody>
          <a:bodyPr wrap="square" lIns="0" tIns="0" rIns="0" bIns="0" rtlCol="0" anchor="ctr"/>
          <a:lstStyle/>
          <a:p>
            <a:pPr indent="0" marL="0">
              <a:buNone/>
            </a:pPr>
            <a:r>
              <a:rPr lang="en-US" sz="1800" dirty="0">
                <a:solidFill>
                  <a:schemeClr val="tx1"/>
                </a:solidFill>
              </a:rPr>
              <a:t>아름다운 이성교제를 위한 노력과 다짐</a:t>
            </a:r>
            <a:endParaRPr lang="en-US" sz="1800" dirty="0"/>
          </a:p>
        </p:txBody>
      </p:sp>
      <p:sp>
        <p:nvSpPr>
          <p:cNvPr id="21" name="Card"/>
          <p:cNvSpPr/>
          <p:nvPr/>
        </p:nvSpPr>
        <p:spPr>
          <a:xfrm>
            <a:off x="6217920" y="2560320"/>
            <a:ext cx="5394960" cy="914400"/>
          </a:xfrm>
          <a:prstGeom prst="roundRect">
            <a:avLst>
              <a:gd name="adj" fmla="val 2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Text 18"/>
          <p:cNvSpPr txBox="1"/>
          <p:nvPr/>
        </p:nvSpPr>
        <p:spPr>
          <a:xfrm>
            <a:off x="6446520" y="2560320"/>
            <a:ext cx="822960" cy="914400"/>
          </a:xfrm>
          <a:prstGeom prst="rect">
            <a:avLst/>
          </a:prstGeom>
          <a:noFill/>
          <a:ln/>
        </p:spPr>
        <p:txBody>
          <a:bodyPr wrap="square" lIns="0" tIns="0" rIns="0" bIns="0" rtlCol="0" anchor="ctr"/>
          <a:lstStyle/>
          <a:p>
            <a:pPr indent="0" marL="0">
              <a:buNone/>
            </a:pPr>
            <a:r>
              <a:rPr lang="en-US" sz="2800" b="1" dirty="0">
                <a:solidFill>
                  <a:schemeClr val="accent1"/>
                </a:solidFill>
              </a:rPr>
              <a:t>06</a:t>
            </a:r>
            <a:endParaRPr lang="en-US" sz="2800" dirty="0"/>
          </a:p>
        </p:txBody>
      </p:sp>
      <p:sp>
        <p:nvSpPr>
          <p:cNvPr id="23" name="Text 19"/>
          <p:cNvSpPr txBox="1"/>
          <p:nvPr/>
        </p:nvSpPr>
        <p:spPr>
          <a:xfrm>
            <a:off x="7315200" y="2560320"/>
            <a:ext cx="4114800" cy="914400"/>
          </a:xfrm>
          <a:prstGeom prst="rect">
            <a:avLst/>
          </a:prstGeom>
          <a:noFill/>
          <a:ln/>
        </p:spPr>
        <p:txBody>
          <a:bodyPr wrap="square" lIns="0" tIns="0" rIns="0" bIns="0" rtlCol="0" anchor="ctr"/>
          <a:lstStyle/>
          <a:p>
            <a:pPr indent="0" marL="0">
              <a:buNone/>
            </a:pPr>
            <a:r>
              <a:rPr lang="en-US" sz="1800" dirty="0">
                <a:solidFill>
                  <a:schemeClr val="tx1"/>
                </a:solidFill>
              </a:rPr>
              <a:t>참고 영상</a:t>
            </a:r>
            <a:endParaRPr lang="en-US" sz="1800" dirty="0"/>
          </a:p>
        </p:txBody>
      </p:sp>
      <p:sp>
        <p:nvSpPr>
          <p:cNvPr id="24" name="Card"/>
          <p:cNvSpPr/>
          <p:nvPr/>
        </p:nvSpPr>
        <p:spPr>
          <a:xfrm>
            <a:off x="6217920" y="3657600"/>
            <a:ext cx="5394960" cy="914400"/>
          </a:xfrm>
          <a:prstGeom prst="roundRect">
            <a:avLst>
              <a:gd name="adj" fmla="val 2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5" name="Text 21"/>
          <p:cNvSpPr txBox="1"/>
          <p:nvPr/>
        </p:nvSpPr>
        <p:spPr>
          <a:xfrm>
            <a:off x="6446520" y="3657600"/>
            <a:ext cx="822960" cy="914400"/>
          </a:xfrm>
          <a:prstGeom prst="rect">
            <a:avLst/>
          </a:prstGeom>
          <a:noFill/>
          <a:ln/>
        </p:spPr>
        <p:txBody>
          <a:bodyPr wrap="square" lIns="0" tIns="0" rIns="0" bIns="0" rtlCol="0" anchor="ctr"/>
          <a:lstStyle/>
          <a:p>
            <a:pPr indent="0" marL="0">
              <a:buNone/>
            </a:pPr>
            <a:r>
              <a:rPr lang="en-US" sz="2800" b="1" dirty="0">
                <a:solidFill>
                  <a:schemeClr val="accent1"/>
                </a:solidFill>
              </a:rPr>
              <a:t>07</a:t>
            </a:r>
            <a:endParaRPr lang="en-US" sz="2800" dirty="0"/>
          </a:p>
        </p:txBody>
      </p:sp>
      <p:sp>
        <p:nvSpPr>
          <p:cNvPr id="26" name="Text 22"/>
          <p:cNvSpPr txBox="1"/>
          <p:nvPr/>
        </p:nvSpPr>
        <p:spPr>
          <a:xfrm>
            <a:off x="7315200" y="3657600"/>
            <a:ext cx="4114800" cy="914400"/>
          </a:xfrm>
          <a:prstGeom prst="rect">
            <a:avLst/>
          </a:prstGeom>
          <a:noFill/>
          <a:ln/>
        </p:spPr>
        <p:txBody>
          <a:bodyPr wrap="square" lIns="0" tIns="0" rIns="0" bIns="0" rtlCol="0" anchor="ctr"/>
          <a:lstStyle/>
          <a:p>
            <a:pPr indent="0" marL="0">
              <a:buNone/>
            </a:pPr>
            <a:r>
              <a:rPr lang="en-US" sz="1800" dirty="0">
                <a:solidFill>
                  <a:schemeClr val="tx1"/>
                </a:solidFill>
              </a:rPr>
              <a:t>내가 성폭력 예방강사라면</a:t>
            </a:r>
            <a:endParaRPr lang="en-US" sz="18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성폭력예방교육은 왜, 무엇을 위해 하는가</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1. 목적·정의·필요성</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3474720" cy="4526280"/>
          </a:xfrm>
          <a:prstGeom prst="roundRect">
            <a:avLst>
              <a:gd name="adj" fmla="val 526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Icon circle"/>
          <p:cNvSpPr/>
          <p:nvPr/>
        </p:nvSpPr>
        <p:spPr>
          <a:xfrm>
            <a:off x="822960" y="1645920"/>
            <a:ext cx="731520" cy="731520"/>
          </a:xfrm>
          <a:prstGeom prst="ellipse">
            <a:avLst/>
          </a:prstGeom>
          <a:solidFill>
            <a:schemeClr val="accent1"/>
          </a:solidFill>
          <a:ln/>
        </p:spPr>
      </p:sp>
      <p:pic>
        <p:nvPicPr>
          <p:cNvPr id="8" name="Icon" descr="preencoded.png">    </p:cNvPr>
          <p:cNvPicPr>
            <a:picLocks noChangeAspect="1"/>
          </p:cNvPicPr>
          <p:nvPr/>
        </p:nvPicPr>
        <p:blipFill>
          <a:blip r:embed="rId2"/>
          <a:stretch>
            <a:fillRect/>
          </a:stretch>
        </p:blipFill>
        <p:spPr>
          <a:xfrm>
            <a:off x="1027786" y="1850746"/>
            <a:ext cx="321869" cy="321869"/>
          </a:xfrm>
          <a:prstGeom prst="rect">
            <a:avLst/>
          </a:prstGeom>
        </p:spPr>
      </p:pic>
      <p:sp>
        <p:nvSpPr>
          <p:cNvPr id="9" name="Text 4"/>
          <p:cNvSpPr txBox="1"/>
          <p:nvPr/>
        </p:nvSpPr>
        <p:spPr>
          <a:xfrm>
            <a:off x="1691640" y="16459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법적 근거</a:t>
            </a:r>
            <a:endParaRPr lang="en-US" sz="1900" dirty="0"/>
          </a:p>
        </p:txBody>
      </p:sp>
      <p:sp>
        <p:nvSpPr>
          <p:cNvPr id="10" name="Text 5"/>
          <p:cNvSpPr txBox="1"/>
          <p:nvPr/>
        </p:nvSpPr>
        <p:spPr>
          <a:xfrm>
            <a:off x="822960" y="2560320"/>
            <a:ext cx="301752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「성폭력방지 및 피해자보호 등에 관한 법률」 제5조: 국가기관·지자체·각급 학교 등은 성교육·성폭력 예방교육을 매년 실시</a:t>
            </a:r>
            <a:endParaRPr lang="en-US" sz="1400" dirty="0"/>
          </a:p>
          <a:p>
            <a:pPr marL="342900" indent="-342900">
              <a:spcAft>
                <a:spcPts val="800"/>
              </a:spcAft>
              <a:buSzPct val="100000"/>
              <a:buChar char="•"/>
            </a:pPr>
            <a:r>
              <a:rPr lang="en-US" sz="1400" dirty="0">
                <a:solidFill>
                  <a:schemeClr val="tx1"/>
                </a:solidFill>
              </a:rPr>
              <a:t>「학교폭력예방법」 제2조: 학생 대상 성폭력·사이버폭력도 학교폭력</a:t>
            </a:r>
            <a:endParaRPr lang="en-US" sz="1400" dirty="0"/>
          </a:p>
        </p:txBody>
      </p:sp>
      <p:sp>
        <p:nvSpPr>
          <p:cNvPr id="11" name="Card"/>
          <p:cNvSpPr/>
          <p:nvPr/>
        </p:nvSpPr>
        <p:spPr>
          <a:xfrm>
            <a:off x="4297680" y="1417320"/>
            <a:ext cx="3474720" cy="4526280"/>
          </a:xfrm>
          <a:prstGeom prst="roundRect">
            <a:avLst>
              <a:gd name="adj" fmla="val 526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2" name="Icon circle"/>
          <p:cNvSpPr/>
          <p:nvPr/>
        </p:nvSpPr>
        <p:spPr>
          <a:xfrm>
            <a:off x="4572000" y="1645920"/>
            <a:ext cx="731520" cy="731520"/>
          </a:xfrm>
          <a:prstGeom prst="ellipse">
            <a:avLst/>
          </a:prstGeom>
          <a:solidFill>
            <a:schemeClr val="accent1"/>
          </a:solidFill>
          <a:ln/>
        </p:spPr>
      </p:sp>
      <p:pic>
        <p:nvPicPr>
          <p:cNvPr id="13" name="Icon" descr="preencoded.png">    </p:cNvPr>
          <p:cNvPicPr>
            <a:picLocks noChangeAspect="1"/>
          </p:cNvPicPr>
          <p:nvPr/>
        </p:nvPicPr>
        <p:blipFill>
          <a:blip r:embed="rId3"/>
          <a:stretch>
            <a:fillRect/>
          </a:stretch>
        </p:blipFill>
        <p:spPr>
          <a:xfrm>
            <a:off x="4776826" y="1850746"/>
            <a:ext cx="321869" cy="321869"/>
          </a:xfrm>
          <a:prstGeom prst="rect">
            <a:avLst/>
          </a:prstGeom>
        </p:spPr>
      </p:pic>
      <p:sp>
        <p:nvSpPr>
          <p:cNvPr id="14" name="Text 8"/>
          <p:cNvSpPr txBox="1"/>
          <p:nvPr/>
        </p:nvSpPr>
        <p:spPr>
          <a:xfrm>
            <a:off x="5440680" y="16459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교육의 목적</a:t>
            </a:r>
            <a:endParaRPr lang="en-US" sz="1900" dirty="0"/>
          </a:p>
        </p:txBody>
      </p:sp>
      <p:sp>
        <p:nvSpPr>
          <p:cNvPr id="15" name="Text 9"/>
          <p:cNvSpPr txBox="1"/>
          <p:nvPr/>
        </p:nvSpPr>
        <p:spPr>
          <a:xfrm>
            <a:off x="4572000" y="2560320"/>
            <a:ext cx="301752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성폭력·교제폭력을 정확히 알아보는 눈 기르기</a:t>
            </a:r>
            <a:endParaRPr lang="en-US" sz="1400" dirty="0"/>
          </a:p>
          <a:p>
            <a:pPr marL="342900" indent="-342900">
              <a:spcAft>
                <a:spcPts val="800"/>
              </a:spcAft>
              <a:buSzPct val="100000"/>
              <a:buChar char="•"/>
            </a:pPr>
            <a:r>
              <a:rPr lang="en-US" sz="1400" dirty="0">
                <a:solidFill>
                  <a:schemeClr val="tx1"/>
                </a:solidFill>
              </a:rPr>
              <a:t>상대의 몸·마음·결정을 존중하는 태도</a:t>
            </a:r>
            <a:endParaRPr lang="en-US" sz="1400" dirty="0"/>
          </a:p>
          <a:p>
            <a:pPr marL="342900" indent="-342900">
              <a:spcAft>
                <a:spcPts val="800"/>
              </a:spcAft>
              <a:buSzPct val="100000"/>
              <a:buChar char="•"/>
            </a:pPr>
            <a:r>
              <a:rPr lang="en-US" sz="1400" dirty="0">
                <a:solidFill>
                  <a:schemeClr val="tx1"/>
                </a:solidFill>
              </a:rPr>
              <a:t>피해·목격 시 대처하고 도움을 요청하는 힘</a:t>
            </a:r>
            <a:endParaRPr lang="en-US" sz="1400" dirty="0"/>
          </a:p>
        </p:txBody>
      </p:sp>
      <p:sp>
        <p:nvSpPr>
          <p:cNvPr id="16" name="Card"/>
          <p:cNvSpPr/>
          <p:nvPr/>
        </p:nvSpPr>
        <p:spPr>
          <a:xfrm>
            <a:off x="8046720" y="1417320"/>
            <a:ext cx="3474720" cy="4526280"/>
          </a:xfrm>
          <a:prstGeom prst="roundRect">
            <a:avLst>
              <a:gd name="adj" fmla="val 526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7" name="Icon circle"/>
          <p:cNvSpPr/>
          <p:nvPr/>
        </p:nvSpPr>
        <p:spPr>
          <a:xfrm>
            <a:off x="8321040" y="1645920"/>
            <a:ext cx="731520" cy="731520"/>
          </a:xfrm>
          <a:prstGeom prst="ellipse">
            <a:avLst/>
          </a:prstGeom>
          <a:solidFill>
            <a:schemeClr val="accent1"/>
          </a:solidFill>
          <a:ln/>
        </p:spPr>
      </p:sp>
      <p:pic>
        <p:nvPicPr>
          <p:cNvPr id="18" name="Icon" descr="preencoded.png">    </p:cNvPr>
          <p:cNvPicPr>
            <a:picLocks noChangeAspect="1"/>
          </p:cNvPicPr>
          <p:nvPr/>
        </p:nvPicPr>
        <p:blipFill>
          <a:blip r:embed="rId4"/>
          <a:stretch>
            <a:fillRect/>
          </a:stretch>
        </p:blipFill>
        <p:spPr>
          <a:xfrm>
            <a:off x="8525866" y="1850746"/>
            <a:ext cx="321869" cy="321869"/>
          </a:xfrm>
          <a:prstGeom prst="rect">
            <a:avLst/>
          </a:prstGeom>
        </p:spPr>
      </p:pic>
      <p:sp>
        <p:nvSpPr>
          <p:cNvPr id="19" name="Text 12"/>
          <p:cNvSpPr txBox="1"/>
          <p:nvPr/>
        </p:nvSpPr>
        <p:spPr>
          <a:xfrm>
            <a:off x="9189720" y="1645920"/>
            <a:ext cx="2194560" cy="731520"/>
          </a:xfrm>
          <a:prstGeom prst="rect">
            <a:avLst/>
          </a:prstGeom>
          <a:noFill/>
          <a:ln/>
        </p:spPr>
        <p:txBody>
          <a:bodyPr wrap="square" lIns="0" tIns="0" rIns="0" bIns="0" rtlCol="0" anchor="ctr"/>
          <a:lstStyle/>
          <a:p>
            <a:pPr indent="0" marL="0">
              <a:buNone/>
            </a:pPr>
            <a:r>
              <a:rPr lang="en-US" sz="1900" b="1" dirty="0">
                <a:solidFill>
                  <a:schemeClr val="tx2"/>
                </a:solidFill>
              </a:rPr>
              <a:t>왜 학교에서?</a:t>
            </a:r>
            <a:endParaRPr lang="en-US" sz="1900" dirty="0"/>
          </a:p>
        </p:txBody>
      </p:sp>
      <p:sp>
        <p:nvSpPr>
          <p:cNvPr id="20" name="Text 13"/>
          <p:cNvSpPr txBox="1"/>
          <p:nvPr/>
        </p:nvSpPr>
        <p:spPr>
          <a:xfrm>
            <a:off x="8321040" y="2560320"/>
            <a:ext cx="3017520" cy="329184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첫 연애를 시작하는 시기에 관계의 기준이 만들어짐</a:t>
            </a:r>
            <a:endParaRPr lang="en-US" sz="1400" dirty="0"/>
          </a:p>
          <a:p>
            <a:pPr marL="342900" indent="-342900">
              <a:spcAft>
                <a:spcPts val="800"/>
              </a:spcAft>
              <a:buSzPct val="100000"/>
              <a:buChar char="•"/>
            </a:pPr>
            <a:r>
              <a:rPr lang="en-US" sz="1400" dirty="0">
                <a:solidFill>
                  <a:schemeClr val="tx1"/>
                </a:solidFill>
              </a:rPr>
              <a:t>또래 관계 안에서 피해·가해·목격이 함께 일어남</a:t>
            </a:r>
            <a:endParaRPr lang="en-US" sz="1400" dirty="0"/>
          </a:p>
          <a:p>
            <a:pPr marL="342900" indent="-342900">
              <a:spcAft>
                <a:spcPts val="800"/>
              </a:spcAft>
              <a:buSzPct val="100000"/>
              <a:buChar char="•"/>
            </a:pPr>
            <a:r>
              <a:rPr lang="en-US" sz="1400" dirty="0">
                <a:solidFill>
                  <a:schemeClr val="tx1"/>
                </a:solidFill>
              </a:rPr>
              <a:t>학교는 신고·보호 절차가 있는 공간</a:t>
            </a:r>
            <a:endParaRPr lang="en-US" sz="1400" dirty="0"/>
          </a:p>
        </p:txBody>
      </p:sp>
      <p:sp>
        <p:nvSpPr>
          <p:cNvPr id="21"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국가법령정보센터 — 성폭력방지법 제5조, 학교폭력예방법 제2조</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정의: 성폭력과 교제폭력, 그리고 그 핵심</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1. 목적·정의·필요성</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3474720" cy="4526280"/>
          </a:xfrm>
          <a:prstGeom prst="roundRect">
            <a:avLst>
              <a:gd name="adj" fmla="val 526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Text 3"/>
          <p:cNvSpPr txBox="1"/>
          <p:nvPr/>
        </p:nvSpPr>
        <p:spPr>
          <a:xfrm>
            <a:off x="822960" y="1600200"/>
            <a:ext cx="2926080" cy="548640"/>
          </a:xfrm>
          <a:prstGeom prst="rect">
            <a:avLst/>
          </a:prstGeom>
          <a:noFill/>
          <a:ln/>
        </p:spPr>
        <p:txBody>
          <a:bodyPr wrap="square" lIns="0" tIns="0" rIns="0" bIns="0" rtlCol="0" anchor="ctr"/>
          <a:lstStyle/>
          <a:p>
            <a:pPr indent="0" marL="0">
              <a:buNone/>
            </a:pPr>
            <a:r>
              <a:rPr lang="en-US" sz="2400" b="1" dirty="0">
                <a:solidFill>
                  <a:schemeClr val="accent1"/>
                </a:solidFill>
              </a:rPr>
              <a:t>성폭력</a:t>
            </a:r>
            <a:endParaRPr lang="en-US" sz="2400" dirty="0"/>
          </a:p>
        </p:txBody>
      </p:sp>
      <p:sp>
        <p:nvSpPr>
          <p:cNvPr id="8" name="Text 4"/>
          <p:cNvSpPr txBox="1"/>
          <p:nvPr/>
        </p:nvSpPr>
        <p:spPr>
          <a:xfrm>
            <a:off x="822960" y="2240280"/>
            <a:ext cx="2926080" cy="2011680"/>
          </a:xfrm>
          <a:prstGeom prst="rect">
            <a:avLst/>
          </a:prstGeom>
          <a:noFill/>
          <a:ln/>
        </p:spPr>
        <p:txBody>
          <a:bodyPr wrap="square" lIns="0" tIns="0" rIns="0" bIns="0" rtlCol="0" anchor="t"/>
          <a:lstStyle/>
          <a:p>
            <a:pPr indent="0" marL="0">
              <a:buNone/>
            </a:pPr>
            <a:r>
              <a:rPr lang="en-US" sz="1600" dirty="0">
                <a:solidFill>
                  <a:schemeClr val="tx1"/>
                </a:solidFill>
              </a:rPr>
              <a:t>상대의 동의 없이 성적 행위를 하거나 강요해 신체적·정신적 피해를 주는 모든 행위</a:t>
            </a:r>
            <a:endParaRPr lang="en-US" sz="1600" dirty="0"/>
          </a:p>
        </p:txBody>
      </p:sp>
      <p:sp>
        <p:nvSpPr>
          <p:cNvPr id="9" name="Text 5"/>
          <p:cNvSpPr txBox="1"/>
          <p:nvPr/>
        </p:nvSpPr>
        <p:spPr>
          <a:xfrm>
            <a:off x="822960" y="4434840"/>
            <a:ext cx="2926080" cy="1325880"/>
          </a:xfrm>
          <a:prstGeom prst="rect">
            <a:avLst/>
          </a:prstGeom>
          <a:noFill/>
          <a:ln/>
        </p:spPr>
        <p:txBody>
          <a:bodyPr wrap="square" lIns="0" tIns="0" rIns="0" bIns="0" rtlCol="0" anchor="t"/>
          <a:lstStyle/>
          <a:p>
            <a:pPr indent="0" marL="0">
              <a:buNone/>
            </a:pPr>
            <a:r>
              <a:rPr lang="en-US" sz="1300" dirty="0">
                <a:solidFill>
                  <a:schemeClr val="accent6"/>
                </a:solidFill>
              </a:rPr>
              <a:t>강간·강제추행·성희롱·불법촬영·딥페이크 등 디지털 성범죄</a:t>
            </a:r>
            <a:endParaRPr lang="en-US" sz="1300" dirty="0"/>
          </a:p>
        </p:txBody>
      </p:sp>
      <p:sp>
        <p:nvSpPr>
          <p:cNvPr id="10" name="Card"/>
          <p:cNvSpPr/>
          <p:nvPr/>
        </p:nvSpPr>
        <p:spPr>
          <a:xfrm>
            <a:off x="4297680" y="1417320"/>
            <a:ext cx="3474720" cy="4526280"/>
          </a:xfrm>
          <a:prstGeom prst="roundRect">
            <a:avLst>
              <a:gd name="adj" fmla="val 526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1" name="Text 7"/>
          <p:cNvSpPr txBox="1"/>
          <p:nvPr/>
        </p:nvSpPr>
        <p:spPr>
          <a:xfrm>
            <a:off x="4572000" y="1600200"/>
            <a:ext cx="2926080" cy="548640"/>
          </a:xfrm>
          <a:prstGeom prst="rect">
            <a:avLst/>
          </a:prstGeom>
          <a:noFill/>
          <a:ln/>
        </p:spPr>
        <p:txBody>
          <a:bodyPr wrap="square" lIns="0" tIns="0" rIns="0" bIns="0" rtlCol="0" anchor="ctr"/>
          <a:lstStyle/>
          <a:p>
            <a:pPr indent="0" marL="0">
              <a:buNone/>
            </a:pPr>
            <a:r>
              <a:rPr lang="en-US" sz="2400" b="1" dirty="0">
                <a:solidFill>
                  <a:schemeClr val="accent1"/>
                </a:solidFill>
              </a:rPr>
              <a:t>교제폭력</a:t>
            </a:r>
            <a:endParaRPr lang="en-US" sz="2400" dirty="0"/>
          </a:p>
        </p:txBody>
      </p:sp>
      <p:sp>
        <p:nvSpPr>
          <p:cNvPr id="12" name="Text 8"/>
          <p:cNvSpPr txBox="1"/>
          <p:nvPr/>
        </p:nvSpPr>
        <p:spPr>
          <a:xfrm>
            <a:off x="4572000" y="2240280"/>
            <a:ext cx="2926080" cy="2011680"/>
          </a:xfrm>
          <a:prstGeom prst="rect">
            <a:avLst/>
          </a:prstGeom>
          <a:noFill/>
          <a:ln/>
        </p:spPr>
        <p:txBody>
          <a:bodyPr wrap="square" lIns="0" tIns="0" rIns="0" bIns="0" rtlCol="0" anchor="t"/>
          <a:lstStyle/>
          <a:p>
            <a:pPr indent="0" marL="0">
              <a:buNone/>
            </a:pPr>
            <a:r>
              <a:rPr lang="en-US" sz="1600" dirty="0">
                <a:solidFill>
                  <a:schemeClr val="tx1"/>
                </a:solidFill>
              </a:rPr>
              <a:t>현재 또는 과거의 연인 사이에서 일어나는 신체적·성적·정서적·경제적 폭력과 통제·스토킹</a:t>
            </a:r>
            <a:endParaRPr lang="en-US" sz="1600" dirty="0"/>
          </a:p>
        </p:txBody>
      </p:sp>
      <p:sp>
        <p:nvSpPr>
          <p:cNvPr id="13" name="Text 9"/>
          <p:cNvSpPr txBox="1"/>
          <p:nvPr/>
        </p:nvSpPr>
        <p:spPr>
          <a:xfrm>
            <a:off x="4572000" y="4434840"/>
            <a:ext cx="2926080" cy="1325880"/>
          </a:xfrm>
          <a:prstGeom prst="rect">
            <a:avLst/>
          </a:prstGeom>
          <a:noFill/>
          <a:ln/>
        </p:spPr>
        <p:txBody>
          <a:bodyPr wrap="square" lIns="0" tIns="0" rIns="0" bIns="0" rtlCol="0" anchor="t"/>
          <a:lstStyle/>
          <a:p>
            <a:pPr indent="0" marL="0">
              <a:buNone/>
            </a:pPr>
            <a:r>
              <a:rPr lang="en-US" sz="1300" dirty="0">
                <a:solidFill>
                  <a:schemeClr val="accent6"/>
                </a:solidFill>
              </a:rPr>
              <a:t>WHO: 친밀한 파트너 폭력(Intimate Partner Violence)</a:t>
            </a:r>
            <a:endParaRPr lang="en-US" sz="1300" dirty="0"/>
          </a:p>
        </p:txBody>
      </p:sp>
      <p:sp>
        <p:nvSpPr>
          <p:cNvPr id="14" name="Card"/>
          <p:cNvSpPr/>
          <p:nvPr/>
        </p:nvSpPr>
        <p:spPr>
          <a:xfrm>
            <a:off x="8046720" y="1417320"/>
            <a:ext cx="3566160" cy="4526280"/>
          </a:xfrm>
          <a:prstGeom prst="roundRect">
            <a:avLst>
              <a:gd name="adj" fmla="val 5128"/>
            </a:avLst>
          </a:prstGeom>
          <a:solidFill>
            <a:schemeClr val="tx2"/>
          </a:solidFill>
          <a:ln/>
          <a:effectLst>
            <a:outerShdw sx="100000" sy="100000" kx="0" ky="0" algn="bl" rotWithShape="0" blurRad="101600" dist="25400" dir="5400000">
              <a:srgbClr val="4A1D3F">
                <a:alpha val="28000"/>
              </a:srgbClr>
            </a:outerShdw>
          </a:effectLst>
        </p:spPr>
      </p:sp>
      <p:sp>
        <p:nvSpPr>
          <p:cNvPr id="15" name="Text 11"/>
          <p:cNvSpPr txBox="1"/>
          <p:nvPr/>
        </p:nvSpPr>
        <p:spPr>
          <a:xfrm>
            <a:off x="8321040" y="1600200"/>
            <a:ext cx="3017520" cy="457200"/>
          </a:xfrm>
          <a:prstGeom prst="rect">
            <a:avLst/>
          </a:prstGeom>
          <a:noFill/>
          <a:ln/>
        </p:spPr>
        <p:txBody>
          <a:bodyPr wrap="square" lIns="0" tIns="0" rIns="0" bIns="0" rtlCol="0" anchor="ctr"/>
          <a:lstStyle/>
          <a:p>
            <a:pPr indent="0" marL="0">
              <a:buNone/>
            </a:pPr>
            <a:r>
              <a:rPr lang="en-US" sz="1600" b="1" dirty="0">
                <a:solidFill>
                  <a:schemeClr val="accent3"/>
                </a:solidFill>
              </a:rPr>
              <a:t>공통된 핵심</a:t>
            </a:r>
            <a:endParaRPr lang="en-US" sz="1600" dirty="0"/>
          </a:p>
        </p:txBody>
      </p:sp>
      <p:sp>
        <p:nvSpPr>
          <p:cNvPr id="16" name="Text 12"/>
          <p:cNvSpPr txBox="1"/>
          <p:nvPr/>
        </p:nvSpPr>
        <p:spPr>
          <a:xfrm>
            <a:off x="8321040" y="2057400"/>
            <a:ext cx="3017520" cy="731520"/>
          </a:xfrm>
          <a:prstGeom prst="rect">
            <a:avLst/>
          </a:prstGeom>
          <a:noFill/>
          <a:ln/>
        </p:spPr>
        <p:txBody>
          <a:bodyPr wrap="square" lIns="0" tIns="0" rIns="0" bIns="0" rtlCol="0" anchor="ctr"/>
          <a:lstStyle/>
          <a:p>
            <a:pPr indent="0" marL="0">
              <a:buNone/>
            </a:pPr>
            <a:r>
              <a:rPr lang="en-US" sz="3000" b="1" dirty="0">
                <a:solidFill>
                  <a:schemeClr val="accent1"/>
                </a:solidFill>
              </a:rPr>
              <a:t>권력과 통제</a:t>
            </a:r>
            <a:endParaRPr lang="en-US" sz="3000" dirty="0"/>
          </a:p>
        </p:txBody>
      </p:sp>
      <p:sp>
        <p:nvSpPr>
          <p:cNvPr id="17" name="Text 13"/>
          <p:cNvSpPr txBox="1"/>
          <p:nvPr/>
        </p:nvSpPr>
        <p:spPr>
          <a:xfrm>
            <a:off x="8321040" y="2880360"/>
            <a:ext cx="3017520" cy="2926080"/>
          </a:xfrm>
          <a:prstGeom prst="rect">
            <a:avLst/>
          </a:prstGeom>
          <a:noFill/>
          <a:ln/>
        </p:spPr>
        <p:txBody>
          <a:bodyPr wrap="square" lIns="0" tIns="0" rIns="0" bIns="0" rtlCol="0" anchor="t"/>
          <a:lstStyle/>
          <a:p>
            <a:pPr indent="0" marL="0">
              <a:buNone/>
            </a:pPr>
            <a:r>
              <a:rPr lang="en-US" sz="1500" dirty="0">
                <a:solidFill>
                  <a:schemeClr val="bg1"/>
                </a:solidFill>
              </a:rPr>
              <a:t>폭력은 화가 나서 ‘터지는’ 것이 아니라, 상대를 내 뜻대로 움직이기 위해 ‘사용’됩니다. 그래서 때리지 않아도 감시·고립·위협만으로 폭력이 될 수 있습니다.</a:t>
            </a:r>
            <a:endParaRPr lang="en-US" sz="1500" dirty="0"/>
          </a:p>
        </p:txBody>
      </p:sp>
      <p:sp>
        <p:nvSpPr>
          <p:cNvPr id="18"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WHO, Violence against women — Intimate partner violence · 성폭력처벌법 · 한국여성의전화</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왜 필요할까? 숫자가 말해 줍니다</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1. 목적·정의·필요성</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3474720" cy="4526280"/>
          </a:xfrm>
          <a:prstGeom prst="roundRect">
            <a:avLst>
              <a:gd name="adj" fmla="val 526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Text 3"/>
          <p:cNvSpPr txBox="1"/>
          <p:nvPr/>
        </p:nvSpPr>
        <p:spPr>
          <a:xfrm>
            <a:off x="822960" y="1645920"/>
            <a:ext cx="2926080" cy="914400"/>
          </a:xfrm>
          <a:prstGeom prst="rect">
            <a:avLst/>
          </a:prstGeom>
          <a:noFill/>
          <a:ln/>
        </p:spPr>
        <p:txBody>
          <a:bodyPr wrap="square" lIns="0" tIns="0" rIns="0" bIns="0" rtlCol="0" anchor="ctr"/>
          <a:lstStyle/>
          <a:p>
            <a:pPr indent="0" marL="0">
              <a:buNone/>
            </a:pPr>
            <a:r>
              <a:rPr lang="en-US" sz="3000" b="1" dirty="0">
                <a:solidFill>
                  <a:schemeClr val="accent1"/>
                </a:solidFill>
              </a:rPr>
              <a:t>10만 5,327건</a:t>
            </a:r>
            <a:endParaRPr lang="en-US" sz="3000" dirty="0"/>
          </a:p>
        </p:txBody>
      </p:sp>
      <p:sp>
        <p:nvSpPr>
          <p:cNvPr id="8" name="Text 4"/>
          <p:cNvSpPr txBox="1"/>
          <p:nvPr/>
        </p:nvSpPr>
        <p:spPr>
          <a:xfrm>
            <a:off x="822960" y="2606040"/>
            <a:ext cx="2926080" cy="731520"/>
          </a:xfrm>
          <a:prstGeom prst="rect">
            <a:avLst/>
          </a:prstGeom>
          <a:noFill/>
          <a:ln/>
        </p:spPr>
        <p:txBody>
          <a:bodyPr wrap="square" lIns="0" tIns="0" rIns="0" bIns="0" rtlCol="0" anchor="t"/>
          <a:lstStyle/>
          <a:p>
            <a:pPr indent="0" marL="0">
              <a:buNone/>
            </a:pPr>
            <a:r>
              <a:rPr lang="en-US" sz="1700" b="1" dirty="0">
                <a:solidFill>
                  <a:schemeClr val="tx2"/>
                </a:solidFill>
              </a:rPr>
              <a:t>2025년 교제폭력 112 신고</a:t>
            </a:r>
            <a:endParaRPr lang="en-US" sz="1700" dirty="0"/>
          </a:p>
        </p:txBody>
      </p:sp>
      <p:sp>
        <p:nvSpPr>
          <p:cNvPr id="9" name="Text 5"/>
          <p:cNvSpPr txBox="1"/>
          <p:nvPr/>
        </p:nvSpPr>
        <p:spPr>
          <a:xfrm>
            <a:off x="822960" y="3429000"/>
            <a:ext cx="2926080" cy="2286000"/>
          </a:xfrm>
          <a:prstGeom prst="rect">
            <a:avLst/>
          </a:prstGeom>
          <a:noFill/>
          <a:ln/>
        </p:spPr>
        <p:txBody>
          <a:bodyPr wrap="square" lIns="0" tIns="0" rIns="0" bIns="0" rtlCol="0" anchor="t"/>
          <a:lstStyle/>
          <a:p>
            <a:pPr indent="0" marL="0">
              <a:buNone/>
            </a:pPr>
            <a:r>
              <a:rPr lang="en-US" sz="1500" dirty="0">
                <a:solidFill>
                  <a:schemeClr val="tx1"/>
                </a:solidFill>
              </a:rPr>
              <a:t>하루 약 289건. 5년 전(5만 7,305건)의 1.84배입니다.</a:t>
            </a:r>
            <a:endParaRPr lang="en-US" sz="1500" dirty="0"/>
          </a:p>
        </p:txBody>
      </p:sp>
      <p:pic>
        <p:nvPicPr>
          <p:cNvPr id="10" name="Illustration" descr="preencoded.png">    </p:cNvPr>
          <p:cNvPicPr>
            <a:picLocks noChangeAspect="1"/>
          </p:cNvPicPr>
          <p:nvPr/>
        </p:nvPicPr>
        <p:blipFill>
          <a:blip r:embed="rId2"/>
          <a:stretch>
            <a:fillRect/>
          </a:stretch>
        </p:blipFill>
        <p:spPr>
          <a:xfrm>
            <a:off x="3063240" y="5029200"/>
            <a:ext cx="731520" cy="731520"/>
          </a:xfrm>
          <a:prstGeom prst="rect">
            <a:avLst/>
          </a:prstGeom>
        </p:spPr>
      </p:pic>
      <p:sp>
        <p:nvSpPr>
          <p:cNvPr id="11" name="Card"/>
          <p:cNvSpPr/>
          <p:nvPr/>
        </p:nvSpPr>
        <p:spPr>
          <a:xfrm>
            <a:off x="4297680" y="1417320"/>
            <a:ext cx="3474720" cy="4526280"/>
          </a:xfrm>
          <a:prstGeom prst="roundRect">
            <a:avLst>
              <a:gd name="adj" fmla="val 526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2" name="Text 7"/>
          <p:cNvSpPr txBox="1"/>
          <p:nvPr/>
        </p:nvSpPr>
        <p:spPr>
          <a:xfrm>
            <a:off x="4572000" y="1645920"/>
            <a:ext cx="2926080" cy="914400"/>
          </a:xfrm>
          <a:prstGeom prst="rect">
            <a:avLst/>
          </a:prstGeom>
          <a:noFill/>
          <a:ln/>
        </p:spPr>
        <p:txBody>
          <a:bodyPr wrap="square" lIns="0" tIns="0" rIns="0" bIns="0" rtlCol="0" anchor="ctr"/>
          <a:lstStyle/>
          <a:p>
            <a:pPr indent="0" marL="0">
              <a:buNone/>
            </a:pPr>
            <a:r>
              <a:rPr lang="en-US" sz="3000" b="1" dirty="0">
                <a:solidFill>
                  <a:schemeClr val="accent1"/>
                </a:solidFill>
              </a:rPr>
              <a:t>최소 181명</a:t>
            </a:r>
            <a:endParaRPr lang="en-US" sz="3000" dirty="0"/>
          </a:p>
        </p:txBody>
      </p:sp>
      <p:sp>
        <p:nvSpPr>
          <p:cNvPr id="13" name="Text 8"/>
          <p:cNvSpPr txBox="1"/>
          <p:nvPr/>
        </p:nvSpPr>
        <p:spPr>
          <a:xfrm>
            <a:off x="4572000" y="2606040"/>
            <a:ext cx="2926080" cy="731520"/>
          </a:xfrm>
          <a:prstGeom prst="rect">
            <a:avLst/>
          </a:prstGeom>
          <a:noFill/>
          <a:ln/>
        </p:spPr>
        <p:txBody>
          <a:bodyPr wrap="square" lIns="0" tIns="0" rIns="0" bIns="0" rtlCol="0" anchor="t"/>
          <a:lstStyle/>
          <a:p>
            <a:pPr indent="0" marL="0">
              <a:buNone/>
            </a:pPr>
            <a:r>
              <a:rPr lang="en-US" sz="1700" b="1" dirty="0">
                <a:solidFill>
                  <a:schemeClr val="tx2"/>
                </a:solidFill>
              </a:rPr>
              <a:t>2024년 남편·애인 등에게 살해된 여성</a:t>
            </a:r>
            <a:endParaRPr lang="en-US" sz="1700" dirty="0"/>
          </a:p>
        </p:txBody>
      </p:sp>
      <p:sp>
        <p:nvSpPr>
          <p:cNvPr id="14" name="Text 9"/>
          <p:cNvSpPr txBox="1"/>
          <p:nvPr/>
        </p:nvSpPr>
        <p:spPr>
          <a:xfrm>
            <a:off x="4572000" y="3429000"/>
            <a:ext cx="2926080" cy="2286000"/>
          </a:xfrm>
          <a:prstGeom prst="rect">
            <a:avLst/>
          </a:prstGeom>
          <a:noFill/>
          <a:ln/>
        </p:spPr>
        <p:txBody>
          <a:bodyPr wrap="square" lIns="0" tIns="0" rIns="0" bIns="0" rtlCol="0" anchor="t"/>
          <a:lstStyle/>
          <a:p>
            <a:pPr indent="0" marL="0">
              <a:buNone/>
            </a:pPr>
            <a:r>
              <a:rPr lang="en-US" sz="1500" dirty="0">
                <a:solidFill>
                  <a:schemeClr val="tx1"/>
                </a:solidFill>
              </a:rPr>
              <a:t>살인미수까지 더하면 555명. 15.8시간마다 1명이 죽거나 죽을 뻔했습니다.</a:t>
            </a:r>
            <a:endParaRPr lang="en-US" sz="1500" dirty="0"/>
          </a:p>
        </p:txBody>
      </p:sp>
      <p:pic>
        <p:nvPicPr>
          <p:cNvPr id="15" name="Illustration" descr="preencoded.png">    </p:cNvPr>
          <p:cNvPicPr>
            <a:picLocks noChangeAspect="1"/>
          </p:cNvPicPr>
          <p:nvPr/>
        </p:nvPicPr>
        <p:blipFill>
          <a:blip r:embed="rId3"/>
          <a:stretch>
            <a:fillRect/>
          </a:stretch>
        </p:blipFill>
        <p:spPr>
          <a:xfrm>
            <a:off x="6812280" y="5029200"/>
            <a:ext cx="731520" cy="731520"/>
          </a:xfrm>
          <a:prstGeom prst="rect">
            <a:avLst/>
          </a:prstGeom>
        </p:spPr>
      </p:pic>
      <p:sp>
        <p:nvSpPr>
          <p:cNvPr id="16" name="Card"/>
          <p:cNvSpPr/>
          <p:nvPr/>
        </p:nvSpPr>
        <p:spPr>
          <a:xfrm>
            <a:off x="8046720" y="1417320"/>
            <a:ext cx="3474720" cy="4526280"/>
          </a:xfrm>
          <a:prstGeom prst="roundRect">
            <a:avLst>
              <a:gd name="adj" fmla="val 526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7" name="Text 11"/>
          <p:cNvSpPr txBox="1"/>
          <p:nvPr/>
        </p:nvSpPr>
        <p:spPr>
          <a:xfrm>
            <a:off x="8321040" y="1645920"/>
            <a:ext cx="2926080" cy="914400"/>
          </a:xfrm>
          <a:prstGeom prst="rect">
            <a:avLst/>
          </a:prstGeom>
          <a:noFill/>
          <a:ln/>
        </p:spPr>
        <p:txBody>
          <a:bodyPr wrap="square" lIns="0" tIns="0" rIns="0" bIns="0" rtlCol="0" anchor="ctr"/>
          <a:lstStyle/>
          <a:p>
            <a:pPr indent="0" marL="0">
              <a:buNone/>
            </a:pPr>
            <a:r>
              <a:rPr lang="en-US" sz="3000" b="1" dirty="0">
                <a:solidFill>
                  <a:schemeClr val="accent1"/>
                </a:solidFill>
              </a:rPr>
              <a:t>1.8%</a:t>
            </a:r>
            <a:endParaRPr lang="en-US" sz="3000" dirty="0"/>
          </a:p>
        </p:txBody>
      </p:sp>
      <p:sp>
        <p:nvSpPr>
          <p:cNvPr id="18" name="Text 12"/>
          <p:cNvSpPr txBox="1"/>
          <p:nvPr/>
        </p:nvSpPr>
        <p:spPr>
          <a:xfrm>
            <a:off x="8321040" y="2606040"/>
            <a:ext cx="2926080" cy="731520"/>
          </a:xfrm>
          <a:prstGeom prst="rect">
            <a:avLst/>
          </a:prstGeom>
          <a:noFill/>
          <a:ln/>
        </p:spPr>
        <p:txBody>
          <a:bodyPr wrap="square" lIns="0" tIns="0" rIns="0" bIns="0" rtlCol="0" anchor="t"/>
          <a:lstStyle/>
          <a:p>
            <a:pPr indent="0" marL="0">
              <a:buNone/>
            </a:pPr>
            <a:r>
              <a:rPr lang="en-US" sz="1700" b="1" dirty="0">
                <a:solidFill>
                  <a:schemeClr val="tx2"/>
                </a:solidFill>
              </a:rPr>
              <a:t>성폭력 피해 후 경찰에 신고한 비율</a:t>
            </a:r>
            <a:endParaRPr lang="en-US" sz="1700" dirty="0"/>
          </a:p>
        </p:txBody>
      </p:sp>
      <p:sp>
        <p:nvSpPr>
          <p:cNvPr id="19" name="Text 13"/>
          <p:cNvSpPr txBox="1"/>
          <p:nvPr/>
        </p:nvSpPr>
        <p:spPr>
          <a:xfrm>
            <a:off x="8321040" y="3429000"/>
            <a:ext cx="2926080" cy="2286000"/>
          </a:xfrm>
          <a:prstGeom prst="rect">
            <a:avLst/>
          </a:prstGeom>
          <a:noFill/>
          <a:ln/>
        </p:spPr>
        <p:txBody>
          <a:bodyPr wrap="square" lIns="0" tIns="0" rIns="0" bIns="0" rtlCol="0" anchor="t"/>
          <a:lstStyle/>
          <a:p>
            <a:pPr indent="0" marL="0">
              <a:buNone/>
            </a:pPr>
            <a:r>
              <a:rPr lang="en-US" sz="1500" dirty="0">
                <a:solidFill>
                  <a:schemeClr val="tx1"/>
                </a:solidFill>
              </a:rPr>
              <a:t>친밀한 관계일수록 ‘사랑싸움’, ‘내 탓’이라 여겨 숨기게 됩니다.</a:t>
            </a:r>
            <a:endParaRPr lang="en-US" sz="1500" dirty="0"/>
          </a:p>
        </p:txBody>
      </p:sp>
      <p:pic>
        <p:nvPicPr>
          <p:cNvPr id="20" name="Illustration" descr="preencoded.png">    </p:cNvPr>
          <p:cNvPicPr>
            <a:picLocks noChangeAspect="1"/>
          </p:cNvPicPr>
          <p:nvPr/>
        </p:nvPicPr>
        <p:blipFill>
          <a:blip r:embed="rId4"/>
          <a:stretch>
            <a:fillRect/>
          </a:stretch>
        </p:blipFill>
        <p:spPr>
          <a:xfrm>
            <a:off x="10561320" y="5029200"/>
            <a:ext cx="731520" cy="731520"/>
          </a:xfrm>
          <a:prstGeom prst="rect">
            <a:avLst/>
          </a:prstGeom>
        </p:spPr>
      </p:pic>
      <p:sp>
        <p:nvSpPr>
          <p:cNvPr id="21"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경찰청 자료(박정현 의원실, 2026.9) · 한국여성의전화 「2024 분노의 게이지」 · 성평등가족부 「2025 성폭력 안전실태조사」</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핵심 개념: 동의, 그리고 법이 정한 기준</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1. 목적·정의·필요성</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onsent circle"/>
          <p:cNvSpPr/>
          <p:nvPr/>
        </p:nvSpPr>
        <p:spPr>
          <a:xfrm>
            <a:off x="548640" y="1508760"/>
            <a:ext cx="2651760" cy="2651760"/>
          </a:xfrm>
          <a:prstGeom prst="ellipse">
            <a:avLst/>
          </a:prstGeom>
          <a:solidFill>
            <a:schemeClr val="tx2"/>
          </a:solidFill>
          <a:ln/>
        </p:spPr>
      </p:sp>
      <p:sp>
        <p:nvSpPr>
          <p:cNvPr id="7" name="Text 3"/>
          <p:cNvSpPr txBox="1"/>
          <p:nvPr/>
        </p:nvSpPr>
        <p:spPr>
          <a:xfrm>
            <a:off x="548640" y="1508760"/>
            <a:ext cx="2651760" cy="2651760"/>
          </a:xfrm>
          <a:prstGeom prst="rect">
            <a:avLst/>
          </a:prstGeom>
          <a:noFill/>
          <a:ln/>
        </p:spPr>
        <p:txBody>
          <a:bodyPr wrap="square" lIns="0" tIns="0" rIns="0" bIns="0" rtlCol="0" anchor="ctr"/>
          <a:lstStyle/>
          <a:p>
            <a:pPr algn="ctr" indent="0" marL="0">
              <a:buNone/>
            </a:pPr>
            <a:r>
              <a:rPr lang="en-US" sz="4400" b="1" dirty="0">
                <a:solidFill>
                  <a:schemeClr val="accent1"/>
                </a:solidFill>
              </a:rPr>
              <a:t>YES</a:t>
            </a:r>
            <a:endParaRPr lang="en-US" sz="4400" dirty="0"/>
          </a:p>
          <a:p>
            <a:pPr algn="ctr" indent="0" marL="0">
              <a:buNone/>
            </a:pPr>
            <a:r>
              <a:rPr lang="en-US" sz="1800" b="1" dirty="0">
                <a:solidFill>
                  <a:schemeClr val="bg1"/>
                </a:solidFill>
              </a:rPr>
              <a:t>만이 동의</a:t>
            </a:r>
            <a:endParaRPr lang="en-US" sz="4400" dirty="0"/>
          </a:p>
        </p:txBody>
      </p:sp>
      <p:sp>
        <p:nvSpPr>
          <p:cNvPr id="8" name="Text 4"/>
          <p:cNvSpPr txBox="1"/>
          <p:nvPr/>
        </p:nvSpPr>
        <p:spPr>
          <a:xfrm>
            <a:off x="3429000" y="1463040"/>
            <a:ext cx="3931920" cy="4206240"/>
          </a:xfrm>
          <a:prstGeom prst="rect">
            <a:avLst/>
          </a:prstGeom>
          <a:noFill/>
          <a:ln/>
        </p:spPr>
        <p:txBody>
          <a:bodyPr wrap="square" rtlCol="0" anchor="t"/>
          <a:lstStyle/>
          <a:p>
            <a:pPr marL="342900" indent="-342900">
              <a:spcAft>
                <a:spcPts val="1000"/>
              </a:spcAft>
              <a:buSzPct val="100000"/>
              <a:buChar char="•"/>
            </a:pPr>
            <a:r>
              <a:rPr lang="en-US" sz="1400" dirty="0">
                <a:solidFill>
                  <a:schemeClr val="tx1"/>
                </a:solidFill>
              </a:rPr>
              <a:t>자유롭게 — 압박·분위기에 떠밀리지 않은 선택</a:t>
            </a:r>
            <a:endParaRPr lang="en-US" sz="1400" dirty="0"/>
          </a:p>
          <a:p>
            <a:pPr marL="342900" indent="-342900">
              <a:spcAft>
                <a:spcPts val="1000"/>
              </a:spcAft>
              <a:buSzPct val="100000"/>
              <a:buChar char="•"/>
            </a:pPr>
            <a:r>
              <a:rPr lang="en-US" sz="1400" dirty="0">
                <a:solidFill>
                  <a:schemeClr val="tx1"/>
                </a:solidFill>
              </a:rPr>
              <a:t>분명하게 — 말이나 행동으로 확실히</a:t>
            </a:r>
            <a:endParaRPr lang="en-US" sz="1400" dirty="0"/>
          </a:p>
          <a:p>
            <a:pPr marL="342900" indent="-342900">
              <a:spcAft>
                <a:spcPts val="1000"/>
              </a:spcAft>
              <a:buSzPct val="100000"/>
              <a:buChar char="•"/>
            </a:pPr>
            <a:r>
              <a:rPr lang="en-US" sz="1400" dirty="0">
                <a:solidFill>
                  <a:schemeClr val="tx1"/>
                </a:solidFill>
              </a:rPr>
              <a:t>그때마다 — 어제의 동의는 오늘의 동의가 아님</a:t>
            </a:r>
            <a:endParaRPr lang="en-US" sz="1400" dirty="0"/>
          </a:p>
          <a:p>
            <a:pPr marL="342900" indent="-342900">
              <a:spcAft>
                <a:spcPts val="1000"/>
              </a:spcAft>
              <a:buSzPct val="100000"/>
              <a:buChar char="•"/>
            </a:pPr>
            <a:r>
              <a:rPr lang="en-US" sz="1400" dirty="0">
                <a:solidFill>
                  <a:schemeClr val="tx1"/>
                </a:solidFill>
              </a:rPr>
              <a:t>언제든 철회 — ‘그만’이면 바로 멈춤</a:t>
            </a:r>
            <a:endParaRPr lang="en-US" sz="1400" dirty="0"/>
          </a:p>
          <a:p>
            <a:pPr marL="342900" indent="-342900">
              <a:spcAft>
                <a:spcPts val="1000"/>
              </a:spcAft>
              <a:buSzPct val="100000"/>
              <a:buChar char="•"/>
            </a:pPr>
            <a:r>
              <a:rPr lang="en-US" sz="1400" dirty="0">
                <a:solidFill>
                  <a:schemeClr val="tx1"/>
                </a:solidFill>
              </a:rPr>
              <a:t>판단 가능한 상태 — 취하거나 잠든 상태는 동의 불가</a:t>
            </a:r>
            <a:endParaRPr lang="en-US" sz="1400" dirty="0"/>
          </a:p>
        </p:txBody>
      </p:sp>
      <p:sp>
        <p:nvSpPr>
          <p:cNvPr id="9" name="Card"/>
          <p:cNvSpPr/>
          <p:nvPr/>
        </p:nvSpPr>
        <p:spPr>
          <a:xfrm>
            <a:off x="7589520" y="1417320"/>
            <a:ext cx="4023360" cy="4526280"/>
          </a:xfrm>
          <a:prstGeom prst="roundRect">
            <a:avLst>
              <a:gd name="adj" fmla="val 4545"/>
            </a:avLst>
          </a:prstGeom>
          <a:solidFill>
            <a:schemeClr val="tx2"/>
          </a:solidFill>
          <a:ln/>
          <a:effectLst>
            <a:outerShdw sx="100000" sy="100000" kx="0" ky="0" algn="bl" rotWithShape="0" blurRad="101600" dist="25400" dir="5400000">
              <a:srgbClr val="4A1D3F">
                <a:alpha val="28000"/>
              </a:srgbClr>
            </a:outerShdw>
          </a:effectLst>
        </p:spPr>
      </p:sp>
      <p:sp>
        <p:nvSpPr>
          <p:cNvPr id="10" name="Text 6"/>
          <p:cNvSpPr txBox="1"/>
          <p:nvPr/>
        </p:nvSpPr>
        <p:spPr>
          <a:xfrm>
            <a:off x="7818120" y="1600200"/>
            <a:ext cx="3566160" cy="457200"/>
          </a:xfrm>
          <a:prstGeom prst="rect">
            <a:avLst/>
          </a:prstGeom>
          <a:noFill/>
          <a:ln/>
        </p:spPr>
        <p:txBody>
          <a:bodyPr wrap="square" lIns="0" tIns="0" rIns="0" bIns="0" rtlCol="0" anchor="ctr"/>
          <a:lstStyle/>
          <a:p>
            <a:pPr indent="0" marL="0">
              <a:buNone/>
            </a:pPr>
            <a:r>
              <a:rPr lang="en-US" sz="1800" b="1" dirty="0">
                <a:solidFill>
                  <a:schemeClr val="accent1"/>
                </a:solidFill>
              </a:rPr>
              <a:t>법이 정한 기준</a:t>
            </a:r>
            <a:endParaRPr lang="en-US" sz="1800" dirty="0"/>
          </a:p>
        </p:txBody>
      </p:sp>
      <p:sp>
        <p:nvSpPr>
          <p:cNvPr id="11" name="Text 7"/>
          <p:cNvSpPr txBox="1"/>
          <p:nvPr/>
        </p:nvSpPr>
        <p:spPr>
          <a:xfrm>
            <a:off x="7818120" y="2194560"/>
            <a:ext cx="3566160" cy="365760"/>
          </a:xfrm>
          <a:prstGeom prst="rect">
            <a:avLst/>
          </a:prstGeom>
          <a:noFill/>
          <a:ln/>
        </p:spPr>
        <p:txBody>
          <a:bodyPr wrap="square" lIns="0" tIns="0" rIns="0" bIns="0" rtlCol="0" anchor="ctr"/>
          <a:lstStyle/>
          <a:p>
            <a:pPr indent="0" marL="0">
              <a:buNone/>
            </a:pPr>
            <a:r>
              <a:rPr lang="en-US" sz="1500" b="1" dirty="0">
                <a:solidFill>
                  <a:schemeClr val="bg1"/>
                </a:solidFill>
              </a:rPr>
              <a:t>13세 미만</a:t>
            </a:r>
            <a:endParaRPr lang="en-US" sz="1500" dirty="0"/>
          </a:p>
        </p:txBody>
      </p:sp>
      <p:sp>
        <p:nvSpPr>
          <p:cNvPr id="12" name="Text 8"/>
          <p:cNvSpPr txBox="1"/>
          <p:nvPr/>
        </p:nvSpPr>
        <p:spPr>
          <a:xfrm>
            <a:off x="7818120" y="2578608"/>
            <a:ext cx="3566160" cy="731520"/>
          </a:xfrm>
          <a:prstGeom prst="rect">
            <a:avLst/>
          </a:prstGeom>
          <a:noFill/>
          <a:ln/>
        </p:spPr>
        <p:txBody>
          <a:bodyPr wrap="square" lIns="0" tIns="0" rIns="0" bIns="0" rtlCol="0" anchor="t"/>
          <a:lstStyle/>
          <a:p>
            <a:pPr indent="0" marL="0">
              <a:buNone/>
            </a:pPr>
            <a:r>
              <a:rPr lang="en-US" sz="1300" dirty="0">
                <a:solidFill>
                  <a:schemeClr val="accent3"/>
                </a:solidFill>
              </a:rPr>
              <a:t>상대가 누구든, 동의 여부와 관계없이 처벌</a:t>
            </a:r>
            <a:endParaRPr lang="en-US" sz="1300" dirty="0"/>
          </a:p>
        </p:txBody>
      </p:sp>
      <p:sp>
        <p:nvSpPr>
          <p:cNvPr id="13" name="Text 9"/>
          <p:cNvSpPr txBox="1"/>
          <p:nvPr/>
        </p:nvSpPr>
        <p:spPr>
          <a:xfrm>
            <a:off x="7818120" y="3383280"/>
            <a:ext cx="3566160" cy="365760"/>
          </a:xfrm>
          <a:prstGeom prst="rect">
            <a:avLst/>
          </a:prstGeom>
          <a:noFill/>
          <a:ln/>
        </p:spPr>
        <p:txBody>
          <a:bodyPr wrap="square" lIns="0" tIns="0" rIns="0" bIns="0" rtlCol="0" anchor="ctr"/>
          <a:lstStyle/>
          <a:p>
            <a:pPr indent="0" marL="0">
              <a:buNone/>
            </a:pPr>
            <a:r>
              <a:rPr lang="en-US" sz="1500" b="1" dirty="0">
                <a:solidFill>
                  <a:schemeClr val="bg1"/>
                </a:solidFill>
              </a:rPr>
              <a:t>13~16세 미만</a:t>
            </a:r>
            <a:endParaRPr lang="en-US" sz="1500" dirty="0"/>
          </a:p>
        </p:txBody>
      </p:sp>
      <p:sp>
        <p:nvSpPr>
          <p:cNvPr id="14" name="Text 10"/>
          <p:cNvSpPr txBox="1"/>
          <p:nvPr/>
        </p:nvSpPr>
        <p:spPr>
          <a:xfrm>
            <a:off x="7818120" y="3767328"/>
            <a:ext cx="3566160" cy="731520"/>
          </a:xfrm>
          <a:prstGeom prst="rect">
            <a:avLst/>
          </a:prstGeom>
          <a:noFill/>
          <a:ln/>
        </p:spPr>
        <p:txBody>
          <a:bodyPr wrap="square" lIns="0" tIns="0" rIns="0" bIns="0" rtlCol="0" anchor="t"/>
          <a:lstStyle/>
          <a:p>
            <a:pPr indent="0" marL="0">
              <a:buNone/>
            </a:pPr>
            <a:r>
              <a:rPr lang="en-US" sz="1300" dirty="0">
                <a:solidFill>
                  <a:schemeClr val="accent3"/>
                </a:solidFill>
              </a:rPr>
              <a:t>상대가 19세 이상 성인이면 동의해도 처벌 (2020년 신설)</a:t>
            </a:r>
            <a:endParaRPr lang="en-US" sz="1300" dirty="0"/>
          </a:p>
        </p:txBody>
      </p:sp>
      <p:sp>
        <p:nvSpPr>
          <p:cNvPr id="15" name="Text 11"/>
          <p:cNvSpPr txBox="1"/>
          <p:nvPr/>
        </p:nvSpPr>
        <p:spPr>
          <a:xfrm>
            <a:off x="7818120" y="4572000"/>
            <a:ext cx="3566160" cy="365760"/>
          </a:xfrm>
          <a:prstGeom prst="rect">
            <a:avLst/>
          </a:prstGeom>
          <a:noFill/>
          <a:ln/>
        </p:spPr>
        <p:txBody>
          <a:bodyPr wrap="square" lIns="0" tIns="0" rIns="0" bIns="0" rtlCol="0" anchor="ctr"/>
          <a:lstStyle/>
          <a:p>
            <a:pPr indent="0" marL="0">
              <a:buNone/>
            </a:pPr>
            <a:r>
              <a:rPr lang="en-US" sz="1500" b="1" dirty="0">
                <a:solidFill>
                  <a:schemeClr val="bg1"/>
                </a:solidFill>
              </a:rPr>
              <a:t>청소년 성적 촬영물</a:t>
            </a:r>
            <a:endParaRPr lang="en-US" sz="1500" dirty="0"/>
          </a:p>
        </p:txBody>
      </p:sp>
      <p:sp>
        <p:nvSpPr>
          <p:cNvPr id="16" name="Text 12"/>
          <p:cNvSpPr txBox="1"/>
          <p:nvPr/>
        </p:nvSpPr>
        <p:spPr>
          <a:xfrm>
            <a:off x="7818120" y="4956048"/>
            <a:ext cx="3566160" cy="731520"/>
          </a:xfrm>
          <a:prstGeom prst="rect">
            <a:avLst/>
          </a:prstGeom>
          <a:noFill/>
          <a:ln/>
        </p:spPr>
        <p:txBody>
          <a:bodyPr wrap="square" lIns="0" tIns="0" rIns="0" bIns="0" rtlCol="0" anchor="t"/>
          <a:lstStyle/>
          <a:p>
            <a:pPr indent="0" marL="0">
              <a:buNone/>
            </a:pPr>
            <a:r>
              <a:rPr lang="en-US" sz="1300" dirty="0">
                <a:solidFill>
                  <a:schemeClr val="accent3"/>
                </a:solidFill>
              </a:rPr>
              <a:t>스스로 찍어 보냈어도 ‘성착취물’. 요구·소지·시청도 범죄</a:t>
            </a:r>
            <a:endParaRPr lang="en-US" sz="1300" dirty="0"/>
          </a:p>
        </p:txBody>
      </p:sp>
      <p:sp>
        <p:nvSpPr>
          <p:cNvPr id="17"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형법 제305조 · 헌법재판소 16세 미만 의제강간 합헌 결정 · 청소년성보호법 제11조</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교제폭력 신고, 5년 만에 10만 건 돌파</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2. 늘어나는 이유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graphicFrame>
        <p:nvGraphicFramePr>
          <p:cNvPr id="6" name="Chart 0" descr=""/>
          <p:cNvGraphicFramePr/>
          <p:nvPr/>
        </p:nvGraphicFramePr>
        <p:xfrm>
          <a:off x="548640" y="1325880"/>
          <a:ext cx="6766560" cy="3474720"/>
        </p:xfrm>
        <a:graphic xmlns:a="http://schemas.openxmlformats.org/drawingml/2006/main">
          <a:graphicData uri="http://schemas.openxmlformats.org/drawingml/2006/chart">
            <c:chart xmlns:c="http://schemas.openxmlformats.org/drawingml/2006/chart" r:id="rId2"/>
          </a:graphicData>
        </a:graphic>
      </p:graphicFrame>
      <p:sp>
        <p:nvSpPr>
          <p:cNvPr id="7" name="Card"/>
          <p:cNvSpPr/>
          <p:nvPr/>
        </p:nvSpPr>
        <p:spPr>
          <a:xfrm>
            <a:off x="548640" y="4892040"/>
            <a:ext cx="2148840" cy="1051560"/>
          </a:xfrm>
          <a:prstGeom prst="roundRect">
            <a:avLst>
              <a:gd name="adj" fmla="val 17391"/>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8" name="Text 3"/>
          <p:cNvSpPr txBox="1"/>
          <p:nvPr/>
        </p:nvSpPr>
        <p:spPr>
          <a:xfrm>
            <a:off x="731520" y="4937760"/>
            <a:ext cx="1828800" cy="548640"/>
          </a:xfrm>
          <a:prstGeom prst="rect">
            <a:avLst/>
          </a:prstGeom>
          <a:noFill/>
          <a:ln/>
        </p:spPr>
        <p:txBody>
          <a:bodyPr wrap="square" lIns="0" tIns="0" rIns="0" bIns="0" rtlCol="0" anchor="ctr"/>
          <a:lstStyle/>
          <a:p>
            <a:pPr indent="0" marL="0">
              <a:buNone/>
            </a:pPr>
            <a:r>
              <a:rPr lang="en-US" sz="2200" b="1" dirty="0">
                <a:solidFill>
                  <a:schemeClr val="accent1"/>
                </a:solidFill>
              </a:rPr>
              <a:t>1.84배</a:t>
            </a:r>
            <a:endParaRPr lang="en-US" sz="2200" dirty="0"/>
          </a:p>
        </p:txBody>
      </p:sp>
      <p:sp>
        <p:nvSpPr>
          <p:cNvPr id="9" name="Text 4"/>
          <p:cNvSpPr txBox="1"/>
          <p:nvPr/>
        </p:nvSpPr>
        <p:spPr>
          <a:xfrm>
            <a:off x="731520" y="5486400"/>
            <a:ext cx="1828800" cy="365760"/>
          </a:xfrm>
          <a:prstGeom prst="rect">
            <a:avLst/>
          </a:prstGeom>
          <a:noFill/>
          <a:ln/>
        </p:spPr>
        <p:txBody>
          <a:bodyPr wrap="square" lIns="0" tIns="0" rIns="0" bIns="0" rtlCol="0" anchor="ctr"/>
          <a:lstStyle/>
          <a:p>
            <a:pPr indent="0" marL="0">
              <a:buNone/>
            </a:pPr>
            <a:r>
              <a:rPr lang="en-US" sz="1200" dirty="0">
                <a:solidFill>
                  <a:schemeClr val="tx1"/>
                </a:solidFill>
              </a:rPr>
              <a:t>5년간 신고 증가</a:t>
            </a:r>
            <a:endParaRPr lang="en-US" sz="1200" dirty="0"/>
          </a:p>
        </p:txBody>
      </p:sp>
      <p:sp>
        <p:nvSpPr>
          <p:cNvPr id="10" name="Card"/>
          <p:cNvSpPr/>
          <p:nvPr/>
        </p:nvSpPr>
        <p:spPr>
          <a:xfrm>
            <a:off x="2834640" y="4892040"/>
            <a:ext cx="2148840" cy="1051560"/>
          </a:xfrm>
          <a:prstGeom prst="roundRect">
            <a:avLst>
              <a:gd name="adj" fmla="val 17391"/>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1" name="Text 6"/>
          <p:cNvSpPr txBox="1"/>
          <p:nvPr/>
        </p:nvSpPr>
        <p:spPr>
          <a:xfrm>
            <a:off x="3017520" y="4937760"/>
            <a:ext cx="1828800" cy="548640"/>
          </a:xfrm>
          <a:prstGeom prst="rect">
            <a:avLst/>
          </a:prstGeom>
          <a:noFill/>
          <a:ln/>
        </p:spPr>
        <p:txBody>
          <a:bodyPr wrap="square" lIns="0" tIns="0" rIns="0" bIns="0" rtlCol="0" anchor="ctr"/>
          <a:lstStyle/>
          <a:p>
            <a:pPr indent="0" marL="0">
              <a:buNone/>
            </a:pPr>
            <a:r>
              <a:rPr lang="en-US" sz="2200" b="1" dirty="0">
                <a:solidFill>
                  <a:schemeClr val="accent1"/>
                </a:solidFill>
              </a:rPr>
              <a:t>하루 289건</a:t>
            </a:r>
            <a:endParaRPr lang="en-US" sz="2200" dirty="0"/>
          </a:p>
        </p:txBody>
      </p:sp>
      <p:sp>
        <p:nvSpPr>
          <p:cNvPr id="12" name="Text 7"/>
          <p:cNvSpPr txBox="1"/>
          <p:nvPr/>
        </p:nvSpPr>
        <p:spPr>
          <a:xfrm>
            <a:off x="3017520" y="5486400"/>
            <a:ext cx="1828800" cy="365760"/>
          </a:xfrm>
          <a:prstGeom prst="rect">
            <a:avLst/>
          </a:prstGeom>
          <a:noFill/>
          <a:ln/>
        </p:spPr>
        <p:txBody>
          <a:bodyPr wrap="square" lIns="0" tIns="0" rIns="0" bIns="0" rtlCol="0" anchor="ctr"/>
          <a:lstStyle/>
          <a:p>
            <a:pPr indent="0" marL="0">
              <a:buNone/>
            </a:pPr>
            <a:r>
              <a:rPr lang="en-US" sz="1200" dirty="0">
                <a:solidFill>
                  <a:schemeClr val="tx1"/>
                </a:solidFill>
              </a:rPr>
              <a:t>2025년 하루 평균</a:t>
            </a:r>
            <a:endParaRPr lang="en-US" sz="1200" dirty="0"/>
          </a:p>
        </p:txBody>
      </p:sp>
      <p:sp>
        <p:nvSpPr>
          <p:cNvPr id="13" name="Card"/>
          <p:cNvSpPr/>
          <p:nvPr/>
        </p:nvSpPr>
        <p:spPr>
          <a:xfrm>
            <a:off x="5120640" y="4892040"/>
            <a:ext cx="2148840" cy="1051560"/>
          </a:xfrm>
          <a:prstGeom prst="roundRect">
            <a:avLst>
              <a:gd name="adj" fmla="val 17391"/>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4" name="Text 9"/>
          <p:cNvSpPr txBox="1"/>
          <p:nvPr/>
        </p:nvSpPr>
        <p:spPr>
          <a:xfrm>
            <a:off x="5303520" y="4937760"/>
            <a:ext cx="1828800" cy="548640"/>
          </a:xfrm>
          <a:prstGeom prst="rect">
            <a:avLst/>
          </a:prstGeom>
          <a:noFill/>
          <a:ln/>
        </p:spPr>
        <p:txBody>
          <a:bodyPr wrap="square" lIns="0" tIns="0" rIns="0" bIns="0" rtlCol="0" anchor="ctr"/>
          <a:lstStyle/>
          <a:p>
            <a:pPr indent="0" marL="0">
              <a:buNone/>
            </a:pPr>
            <a:r>
              <a:rPr lang="en-US" sz="2200" b="1" dirty="0">
                <a:solidFill>
                  <a:schemeClr val="accent1"/>
                </a:solidFill>
              </a:rPr>
              <a:t>13.8%</a:t>
            </a:r>
            <a:endParaRPr lang="en-US" sz="2200" dirty="0"/>
          </a:p>
        </p:txBody>
      </p:sp>
      <p:sp>
        <p:nvSpPr>
          <p:cNvPr id="15" name="Text 10"/>
          <p:cNvSpPr txBox="1"/>
          <p:nvPr/>
        </p:nvSpPr>
        <p:spPr>
          <a:xfrm>
            <a:off x="5303520" y="5486400"/>
            <a:ext cx="1828800" cy="365760"/>
          </a:xfrm>
          <a:prstGeom prst="rect">
            <a:avLst/>
          </a:prstGeom>
          <a:noFill/>
          <a:ln/>
        </p:spPr>
        <p:txBody>
          <a:bodyPr wrap="square" lIns="0" tIns="0" rIns="0" bIns="0" rtlCol="0" anchor="ctr"/>
          <a:lstStyle/>
          <a:p>
            <a:pPr indent="0" marL="0">
              <a:buNone/>
            </a:pPr>
            <a:r>
              <a:rPr lang="en-US" sz="1200" dirty="0">
                <a:solidFill>
                  <a:schemeClr val="tx1"/>
                </a:solidFill>
              </a:rPr>
              <a:t>신고 대비 검거율</a:t>
            </a:r>
            <a:endParaRPr lang="en-US" sz="1200" dirty="0"/>
          </a:p>
        </p:txBody>
      </p:sp>
      <p:sp>
        <p:nvSpPr>
          <p:cNvPr id="16" name="Card"/>
          <p:cNvSpPr/>
          <p:nvPr/>
        </p:nvSpPr>
        <p:spPr>
          <a:xfrm>
            <a:off x="7680960" y="1417320"/>
            <a:ext cx="3931920" cy="4526280"/>
          </a:xfrm>
          <a:prstGeom prst="roundRect">
            <a:avLst>
              <a:gd name="adj" fmla="val 4651"/>
            </a:avLst>
          </a:prstGeom>
          <a:solidFill>
            <a:schemeClr val="tx2"/>
          </a:solidFill>
          <a:ln/>
          <a:effectLst>
            <a:outerShdw sx="100000" sy="100000" kx="0" ky="0" algn="bl" rotWithShape="0" blurRad="101600" dist="25400" dir="5400000">
              <a:srgbClr val="4A1D3F">
                <a:alpha val="28000"/>
              </a:srgbClr>
            </a:outerShdw>
          </a:effectLst>
        </p:spPr>
      </p:sp>
      <p:sp>
        <p:nvSpPr>
          <p:cNvPr id="17" name="Text 12"/>
          <p:cNvSpPr txBox="1"/>
          <p:nvPr/>
        </p:nvSpPr>
        <p:spPr>
          <a:xfrm>
            <a:off x="7955280" y="1600200"/>
            <a:ext cx="3383280" cy="411480"/>
          </a:xfrm>
          <a:prstGeom prst="rect">
            <a:avLst/>
          </a:prstGeom>
          <a:noFill/>
          <a:ln/>
        </p:spPr>
        <p:txBody>
          <a:bodyPr wrap="square" lIns="0" tIns="0" rIns="0" bIns="0" rtlCol="0" anchor="ctr"/>
          <a:lstStyle/>
          <a:p>
            <a:pPr indent="0" marL="0">
              <a:buNone/>
            </a:pPr>
            <a:r>
              <a:rPr lang="en-US" sz="1600" b="1" dirty="0">
                <a:solidFill>
                  <a:schemeClr val="accent3"/>
                </a:solidFill>
              </a:rPr>
              <a:t>2025년 한 해</a:t>
            </a:r>
            <a:endParaRPr lang="en-US" sz="1600" dirty="0"/>
          </a:p>
        </p:txBody>
      </p:sp>
      <p:sp>
        <p:nvSpPr>
          <p:cNvPr id="18" name="Text 13"/>
          <p:cNvSpPr txBox="1"/>
          <p:nvPr/>
        </p:nvSpPr>
        <p:spPr>
          <a:xfrm>
            <a:off x="7955280" y="2148840"/>
            <a:ext cx="3383280" cy="548640"/>
          </a:xfrm>
          <a:prstGeom prst="rect">
            <a:avLst/>
          </a:prstGeom>
          <a:noFill/>
          <a:ln/>
        </p:spPr>
        <p:txBody>
          <a:bodyPr wrap="square" lIns="0" tIns="0" rIns="0" bIns="0" rtlCol="0" anchor="ctr"/>
          <a:lstStyle/>
          <a:p>
            <a:pPr indent="0" marL="0">
              <a:buNone/>
            </a:pPr>
            <a:r>
              <a:rPr lang="en-US" sz="2600" b="1" dirty="0">
                <a:solidFill>
                  <a:schemeClr val="bg1"/>
                </a:solidFill>
              </a:rPr>
              <a:t>10만 5,327건</a:t>
            </a:r>
            <a:endParaRPr lang="en-US" sz="2600" dirty="0"/>
          </a:p>
        </p:txBody>
      </p:sp>
      <p:sp>
        <p:nvSpPr>
          <p:cNvPr id="19" name="Text 14"/>
          <p:cNvSpPr txBox="1"/>
          <p:nvPr/>
        </p:nvSpPr>
        <p:spPr>
          <a:xfrm>
            <a:off x="7955280" y="2697480"/>
            <a:ext cx="3383280" cy="365760"/>
          </a:xfrm>
          <a:prstGeom prst="rect">
            <a:avLst/>
          </a:prstGeom>
          <a:noFill/>
          <a:ln/>
        </p:spPr>
        <p:txBody>
          <a:bodyPr wrap="square" lIns="0" tIns="0" rIns="0" bIns="0" rtlCol="0" anchor="ctr"/>
          <a:lstStyle/>
          <a:p>
            <a:pPr indent="0" marL="0">
              <a:buNone/>
            </a:pPr>
            <a:r>
              <a:rPr lang="en-US" sz="1300" dirty="0">
                <a:solidFill>
                  <a:schemeClr val="accent3"/>
                </a:solidFill>
              </a:rPr>
              <a:t>112 신고</a:t>
            </a:r>
            <a:endParaRPr lang="en-US" sz="1300" dirty="0"/>
          </a:p>
        </p:txBody>
      </p:sp>
      <p:sp>
        <p:nvSpPr>
          <p:cNvPr id="20" name="Text 15"/>
          <p:cNvSpPr txBox="1"/>
          <p:nvPr/>
        </p:nvSpPr>
        <p:spPr>
          <a:xfrm>
            <a:off x="7955280" y="3383280"/>
            <a:ext cx="3383280" cy="548640"/>
          </a:xfrm>
          <a:prstGeom prst="rect">
            <a:avLst/>
          </a:prstGeom>
          <a:noFill/>
          <a:ln/>
        </p:spPr>
        <p:txBody>
          <a:bodyPr wrap="square" lIns="0" tIns="0" rIns="0" bIns="0" rtlCol="0" anchor="ctr"/>
          <a:lstStyle/>
          <a:p>
            <a:pPr indent="0" marL="0">
              <a:buNone/>
            </a:pPr>
            <a:r>
              <a:rPr lang="en-US" sz="2600" b="1" dirty="0">
                <a:solidFill>
                  <a:schemeClr val="bg1"/>
                </a:solidFill>
              </a:rPr>
              <a:t>1만 4,526명</a:t>
            </a:r>
            <a:endParaRPr lang="en-US" sz="2600" dirty="0"/>
          </a:p>
        </p:txBody>
      </p:sp>
      <p:sp>
        <p:nvSpPr>
          <p:cNvPr id="21" name="Text 16"/>
          <p:cNvSpPr txBox="1"/>
          <p:nvPr/>
        </p:nvSpPr>
        <p:spPr>
          <a:xfrm>
            <a:off x="7955280" y="3931920"/>
            <a:ext cx="3383280" cy="365760"/>
          </a:xfrm>
          <a:prstGeom prst="rect">
            <a:avLst/>
          </a:prstGeom>
          <a:noFill/>
          <a:ln/>
        </p:spPr>
        <p:txBody>
          <a:bodyPr wrap="square" lIns="0" tIns="0" rIns="0" bIns="0" rtlCol="0" anchor="ctr"/>
          <a:lstStyle/>
          <a:p>
            <a:pPr indent="0" marL="0">
              <a:buNone/>
            </a:pPr>
            <a:r>
              <a:rPr lang="en-US" sz="1300" dirty="0">
                <a:solidFill>
                  <a:schemeClr val="accent3"/>
                </a:solidFill>
              </a:rPr>
              <a:t>검거</a:t>
            </a:r>
            <a:endParaRPr lang="en-US" sz="1300" dirty="0"/>
          </a:p>
        </p:txBody>
      </p:sp>
      <p:sp>
        <p:nvSpPr>
          <p:cNvPr id="22" name="Text 17"/>
          <p:cNvSpPr txBox="1"/>
          <p:nvPr/>
        </p:nvSpPr>
        <p:spPr>
          <a:xfrm>
            <a:off x="7955280" y="4617720"/>
            <a:ext cx="3383280" cy="548640"/>
          </a:xfrm>
          <a:prstGeom prst="rect">
            <a:avLst/>
          </a:prstGeom>
          <a:noFill/>
          <a:ln/>
        </p:spPr>
        <p:txBody>
          <a:bodyPr wrap="square" lIns="0" tIns="0" rIns="0" bIns="0" rtlCol="0" anchor="ctr"/>
          <a:lstStyle/>
          <a:p>
            <a:pPr indent="0" marL="0">
              <a:buNone/>
            </a:pPr>
            <a:r>
              <a:rPr lang="en-US" sz="2600" b="1" dirty="0">
                <a:solidFill>
                  <a:schemeClr val="bg1"/>
                </a:solidFill>
              </a:rPr>
              <a:t>1,988건</a:t>
            </a:r>
            <a:endParaRPr lang="en-US" sz="2600" dirty="0"/>
          </a:p>
        </p:txBody>
      </p:sp>
      <p:sp>
        <p:nvSpPr>
          <p:cNvPr id="23" name="Text 18"/>
          <p:cNvSpPr txBox="1"/>
          <p:nvPr/>
        </p:nvSpPr>
        <p:spPr>
          <a:xfrm>
            <a:off x="7955280" y="5166360"/>
            <a:ext cx="3383280" cy="365760"/>
          </a:xfrm>
          <a:prstGeom prst="rect">
            <a:avLst/>
          </a:prstGeom>
          <a:noFill/>
          <a:ln/>
        </p:spPr>
        <p:txBody>
          <a:bodyPr wrap="square" lIns="0" tIns="0" rIns="0" bIns="0" rtlCol="0" anchor="ctr"/>
          <a:lstStyle/>
          <a:p>
            <a:pPr indent="0" marL="0">
              <a:buNone/>
            </a:pPr>
            <a:r>
              <a:rPr lang="en-US" sz="1300" dirty="0">
                <a:solidFill>
                  <a:schemeClr val="accent3"/>
                </a:solidFill>
              </a:rPr>
              <a:t>스마트워치 지급 등 안전조치</a:t>
            </a:r>
            <a:endParaRPr lang="en-US" sz="1300" dirty="0"/>
          </a:p>
        </p:txBody>
      </p:sp>
      <p:sp>
        <p:nvSpPr>
          <p:cNvPr id="24"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경찰청 자료(국회 행정안전위 박정현 의원실 공개, 2026.9.17)</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왜 늘어날까? 원인을 네 겹으로 보기</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2. 늘어나는 이유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Ecological ring"/>
          <p:cNvSpPr/>
          <p:nvPr/>
        </p:nvSpPr>
        <p:spPr>
          <a:xfrm>
            <a:off x="548640" y="1371600"/>
            <a:ext cx="4572000" cy="4572000"/>
          </a:xfrm>
          <a:prstGeom prst="ellipse">
            <a:avLst/>
          </a:prstGeom>
          <a:solidFill>
            <a:schemeClr val="bg2"/>
          </a:solidFill>
          <a:ln w="19050">
            <a:solidFill>
              <a:schemeClr val="bg1"/>
            </a:solidFill>
            <a:prstDash val="solid"/>
          </a:ln>
        </p:spPr>
      </p:sp>
      <p:sp>
        <p:nvSpPr>
          <p:cNvPr id="7" name="Text 3"/>
          <p:cNvSpPr txBox="1"/>
          <p:nvPr/>
        </p:nvSpPr>
        <p:spPr>
          <a:xfrm>
            <a:off x="1645920" y="1444752"/>
            <a:ext cx="2377440" cy="457200"/>
          </a:xfrm>
          <a:prstGeom prst="rect">
            <a:avLst/>
          </a:prstGeom>
          <a:noFill/>
          <a:ln/>
        </p:spPr>
        <p:txBody>
          <a:bodyPr wrap="square" lIns="0" tIns="0" rIns="0" bIns="0" rtlCol="0" anchor="ctr"/>
          <a:lstStyle/>
          <a:p>
            <a:pPr algn="ctr" indent="0" marL="0">
              <a:buNone/>
            </a:pPr>
            <a:r>
              <a:rPr lang="en-US" sz="1400" b="1" dirty="0">
                <a:solidFill>
                  <a:schemeClr val="tx2"/>
                </a:solidFill>
              </a:rPr>
              <a:t>사회</a:t>
            </a:r>
            <a:endParaRPr lang="en-US" sz="1400" dirty="0"/>
          </a:p>
        </p:txBody>
      </p:sp>
      <p:sp>
        <p:nvSpPr>
          <p:cNvPr id="8" name="Ecological ring"/>
          <p:cNvSpPr/>
          <p:nvPr/>
        </p:nvSpPr>
        <p:spPr>
          <a:xfrm>
            <a:off x="1097280" y="1920240"/>
            <a:ext cx="3474720" cy="3474720"/>
          </a:xfrm>
          <a:prstGeom prst="ellipse">
            <a:avLst/>
          </a:prstGeom>
          <a:solidFill>
            <a:schemeClr val="accent3"/>
          </a:solidFill>
          <a:ln w="19050">
            <a:solidFill>
              <a:schemeClr val="bg1"/>
            </a:solidFill>
            <a:prstDash val="solid"/>
          </a:ln>
        </p:spPr>
      </p:sp>
      <p:sp>
        <p:nvSpPr>
          <p:cNvPr id="9" name="Text 5"/>
          <p:cNvSpPr txBox="1"/>
          <p:nvPr/>
        </p:nvSpPr>
        <p:spPr>
          <a:xfrm>
            <a:off x="1645920" y="1993392"/>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rPr>
              <a:t>또래·지역사회</a:t>
            </a:r>
            <a:endParaRPr lang="en-US" sz="1400" dirty="0"/>
          </a:p>
        </p:txBody>
      </p:sp>
      <p:sp>
        <p:nvSpPr>
          <p:cNvPr id="10" name="Ecological ring"/>
          <p:cNvSpPr/>
          <p:nvPr/>
        </p:nvSpPr>
        <p:spPr>
          <a:xfrm>
            <a:off x="1645920" y="2468880"/>
            <a:ext cx="2377440" cy="2377440"/>
          </a:xfrm>
          <a:prstGeom prst="ellipse">
            <a:avLst/>
          </a:prstGeom>
          <a:solidFill>
            <a:schemeClr val="accent6"/>
          </a:solidFill>
          <a:ln w="19050">
            <a:solidFill>
              <a:schemeClr val="bg1"/>
            </a:solidFill>
            <a:prstDash val="solid"/>
          </a:ln>
        </p:spPr>
      </p:sp>
      <p:sp>
        <p:nvSpPr>
          <p:cNvPr id="11" name="Text 7"/>
          <p:cNvSpPr txBox="1"/>
          <p:nvPr/>
        </p:nvSpPr>
        <p:spPr>
          <a:xfrm>
            <a:off x="1645920" y="2542032"/>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rPr>
              <a:t>관계</a:t>
            </a:r>
            <a:endParaRPr lang="en-US" sz="1400" dirty="0"/>
          </a:p>
        </p:txBody>
      </p:sp>
      <p:sp>
        <p:nvSpPr>
          <p:cNvPr id="12" name="Ecological ring"/>
          <p:cNvSpPr/>
          <p:nvPr/>
        </p:nvSpPr>
        <p:spPr>
          <a:xfrm>
            <a:off x="2194560" y="3017520"/>
            <a:ext cx="1280160" cy="1280160"/>
          </a:xfrm>
          <a:prstGeom prst="ellipse">
            <a:avLst/>
          </a:prstGeom>
          <a:solidFill>
            <a:schemeClr val="tx2"/>
          </a:solidFill>
          <a:ln w="19050">
            <a:solidFill>
              <a:schemeClr val="bg1"/>
            </a:solidFill>
            <a:prstDash val="solid"/>
          </a:ln>
        </p:spPr>
      </p:sp>
      <p:sp>
        <p:nvSpPr>
          <p:cNvPr id="13" name="Text 9"/>
          <p:cNvSpPr txBox="1"/>
          <p:nvPr/>
        </p:nvSpPr>
        <p:spPr>
          <a:xfrm>
            <a:off x="2194560" y="3429000"/>
            <a:ext cx="1280160" cy="457200"/>
          </a:xfrm>
          <a:prstGeom prst="rect">
            <a:avLst/>
          </a:prstGeom>
          <a:noFill/>
          <a:ln/>
        </p:spPr>
        <p:txBody>
          <a:bodyPr wrap="square" lIns="0" tIns="0" rIns="0" bIns="0" rtlCol="0" anchor="ctr"/>
          <a:lstStyle/>
          <a:p>
            <a:pPr algn="ctr" indent="0" marL="0">
              <a:buNone/>
            </a:pPr>
            <a:r>
              <a:rPr lang="en-US" sz="1500" b="1" dirty="0">
                <a:solidFill>
                  <a:schemeClr val="bg1"/>
                </a:solidFill>
              </a:rPr>
              <a:t>개인</a:t>
            </a:r>
            <a:endParaRPr lang="en-US" sz="1500" dirty="0"/>
          </a:p>
        </p:txBody>
      </p:sp>
      <p:sp>
        <p:nvSpPr>
          <p:cNvPr id="14" name="Card"/>
          <p:cNvSpPr/>
          <p:nvPr/>
        </p:nvSpPr>
        <p:spPr>
          <a:xfrm>
            <a:off x="5760720" y="1417320"/>
            <a:ext cx="5852160" cy="1005840"/>
          </a:xfrm>
          <a:prstGeom prst="roundRect">
            <a:avLst>
              <a:gd name="adj" fmla="val 18182"/>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5" name="Text 11"/>
          <p:cNvSpPr txBox="1"/>
          <p:nvPr/>
        </p:nvSpPr>
        <p:spPr>
          <a:xfrm>
            <a:off x="5943600" y="1417320"/>
            <a:ext cx="1737360" cy="1005840"/>
          </a:xfrm>
          <a:prstGeom prst="rect">
            <a:avLst/>
          </a:prstGeom>
          <a:noFill/>
          <a:ln/>
        </p:spPr>
        <p:txBody>
          <a:bodyPr wrap="square" lIns="0" tIns="0" rIns="0" bIns="0" rtlCol="0" anchor="ctr"/>
          <a:lstStyle/>
          <a:p>
            <a:pPr indent="0" marL="0">
              <a:buNone/>
            </a:pPr>
            <a:r>
              <a:rPr lang="en-US" sz="1600" b="1" dirty="0">
                <a:solidFill>
                  <a:schemeClr val="accent1"/>
                </a:solidFill>
              </a:rPr>
              <a:t>개인</a:t>
            </a:r>
            <a:endParaRPr lang="en-US" sz="1600" dirty="0"/>
          </a:p>
        </p:txBody>
      </p:sp>
      <p:sp>
        <p:nvSpPr>
          <p:cNvPr id="16" name="Text 12"/>
          <p:cNvSpPr txBox="1"/>
          <p:nvPr/>
        </p:nvSpPr>
        <p:spPr>
          <a:xfrm>
            <a:off x="7680960" y="1417320"/>
            <a:ext cx="3794760" cy="1005840"/>
          </a:xfrm>
          <a:prstGeom prst="rect">
            <a:avLst/>
          </a:prstGeom>
          <a:noFill/>
          <a:ln/>
        </p:spPr>
        <p:txBody>
          <a:bodyPr wrap="square" lIns="0" tIns="0" rIns="0" bIns="0" rtlCol="0" anchor="ctr"/>
          <a:lstStyle/>
          <a:p>
            <a:pPr indent="0" marL="0">
              <a:buNone/>
            </a:pPr>
            <a:r>
              <a:rPr lang="en-US" sz="1400" dirty="0">
                <a:solidFill>
                  <a:schemeClr val="tx1"/>
                </a:solidFill>
              </a:rPr>
              <a:t>분노·충동 조절의 어려움, 폭력을 보고 자란 경험, 상대를 소유물로 여기는 태도</a:t>
            </a:r>
            <a:endParaRPr lang="en-US" sz="1400" dirty="0"/>
          </a:p>
        </p:txBody>
      </p:sp>
      <p:sp>
        <p:nvSpPr>
          <p:cNvPr id="17" name="Card"/>
          <p:cNvSpPr/>
          <p:nvPr/>
        </p:nvSpPr>
        <p:spPr>
          <a:xfrm>
            <a:off x="5760720" y="2560320"/>
            <a:ext cx="5852160" cy="1005840"/>
          </a:xfrm>
          <a:prstGeom prst="roundRect">
            <a:avLst>
              <a:gd name="adj" fmla="val 18182"/>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8" name="Text 14"/>
          <p:cNvSpPr txBox="1"/>
          <p:nvPr/>
        </p:nvSpPr>
        <p:spPr>
          <a:xfrm>
            <a:off x="5943600" y="2560320"/>
            <a:ext cx="1737360" cy="1005840"/>
          </a:xfrm>
          <a:prstGeom prst="rect">
            <a:avLst/>
          </a:prstGeom>
          <a:noFill/>
          <a:ln/>
        </p:spPr>
        <p:txBody>
          <a:bodyPr wrap="square" lIns="0" tIns="0" rIns="0" bIns="0" rtlCol="0" anchor="ctr"/>
          <a:lstStyle/>
          <a:p>
            <a:pPr indent="0" marL="0">
              <a:buNone/>
            </a:pPr>
            <a:r>
              <a:rPr lang="en-US" sz="1600" b="1" dirty="0">
                <a:solidFill>
                  <a:schemeClr val="accent1"/>
                </a:solidFill>
              </a:rPr>
              <a:t>관계</a:t>
            </a:r>
            <a:endParaRPr lang="en-US" sz="1600" dirty="0"/>
          </a:p>
        </p:txBody>
      </p:sp>
      <p:sp>
        <p:nvSpPr>
          <p:cNvPr id="19" name="Text 15"/>
          <p:cNvSpPr txBox="1"/>
          <p:nvPr/>
        </p:nvSpPr>
        <p:spPr>
          <a:xfrm>
            <a:off x="7680960" y="2560320"/>
            <a:ext cx="3794760" cy="1005840"/>
          </a:xfrm>
          <a:prstGeom prst="rect">
            <a:avLst/>
          </a:prstGeom>
          <a:noFill/>
          <a:ln/>
        </p:spPr>
        <p:txBody>
          <a:bodyPr wrap="square" lIns="0" tIns="0" rIns="0" bIns="0" rtlCol="0" anchor="ctr"/>
          <a:lstStyle/>
          <a:p>
            <a:pPr indent="0" marL="0">
              <a:buNone/>
            </a:pPr>
            <a:r>
              <a:rPr lang="en-US" sz="1400" dirty="0">
                <a:solidFill>
                  <a:schemeClr val="tx1"/>
                </a:solidFill>
              </a:rPr>
              <a:t>질투·집착을 사랑의 증거로 여김, 갈등을 대화로 푸는 기술 부족</a:t>
            </a:r>
            <a:endParaRPr lang="en-US" sz="1400" dirty="0"/>
          </a:p>
        </p:txBody>
      </p:sp>
      <p:sp>
        <p:nvSpPr>
          <p:cNvPr id="20" name="Card"/>
          <p:cNvSpPr/>
          <p:nvPr/>
        </p:nvSpPr>
        <p:spPr>
          <a:xfrm>
            <a:off x="5760720" y="3703320"/>
            <a:ext cx="5852160" cy="1005840"/>
          </a:xfrm>
          <a:prstGeom prst="roundRect">
            <a:avLst>
              <a:gd name="adj" fmla="val 18182"/>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1" name="Text 17"/>
          <p:cNvSpPr txBox="1"/>
          <p:nvPr/>
        </p:nvSpPr>
        <p:spPr>
          <a:xfrm>
            <a:off x="5943600" y="3703320"/>
            <a:ext cx="1737360" cy="1005840"/>
          </a:xfrm>
          <a:prstGeom prst="rect">
            <a:avLst/>
          </a:prstGeom>
          <a:noFill/>
          <a:ln/>
        </p:spPr>
        <p:txBody>
          <a:bodyPr wrap="square" lIns="0" tIns="0" rIns="0" bIns="0" rtlCol="0" anchor="ctr"/>
          <a:lstStyle/>
          <a:p>
            <a:pPr indent="0" marL="0">
              <a:buNone/>
            </a:pPr>
            <a:r>
              <a:rPr lang="en-US" sz="1600" b="1" dirty="0">
                <a:solidFill>
                  <a:schemeClr val="accent1"/>
                </a:solidFill>
              </a:rPr>
              <a:t>또래·지역사회</a:t>
            </a:r>
            <a:endParaRPr lang="en-US" sz="1600" dirty="0"/>
          </a:p>
        </p:txBody>
      </p:sp>
      <p:sp>
        <p:nvSpPr>
          <p:cNvPr id="22" name="Text 18"/>
          <p:cNvSpPr txBox="1"/>
          <p:nvPr/>
        </p:nvSpPr>
        <p:spPr>
          <a:xfrm>
            <a:off x="7680960" y="3703320"/>
            <a:ext cx="3794760" cy="1005840"/>
          </a:xfrm>
          <a:prstGeom prst="rect">
            <a:avLst/>
          </a:prstGeom>
          <a:noFill/>
          <a:ln/>
        </p:spPr>
        <p:txBody>
          <a:bodyPr wrap="square" lIns="0" tIns="0" rIns="0" bIns="0" rtlCol="0" anchor="ctr"/>
          <a:lstStyle/>
          <a:p>
            <a:pPr indent="0" marL="0">
              <a:buNone/>
            </a:pPr>
            <a:r>
              <a:rPr lang="en-US" sz="1400" dirty="0">
                <a:solidFill>
                  <a:schemeClr val="tx1"/>
                </a:solidFill>
              </a:rPr>
              <a:t>‘사귀면 위치 공유는 당연’ 같은 또래 규범, 폭력을 장난으로 넘기는 분위기</a:t>
            </a:r>
            <a:endParaRPr lang="en-US" sz="1400" dirty="0"/>
          </a:p>
        </p:txBody>
      </p:sp>
      <p:sp>
        <p:nvSpPr>
          <p:cNvPr id="23" name="Card"/>
          <p:cNvSpPr/>
          <p:nvPr/>
        </p:nvSpPr>
        <p:spPr>
          <a:xfrm>
            <a:off x="5760720" y="4846320"/>
            <a:ext cx="5852160" cy="1005840"/>
          </a:xfrm>
          <a:prstGeom prst="roundRect">
            <a:avLst>
              <a:gd name="adj" fmla="val 18182"/>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4" name="Text 20"/>
          <p:cNvSpPr txBox="1"/>
          <p:nvPr/>
        </p:nvSpPr>
        <p:spPr>
          <a:xfrm>
            <a:off x="5943600" y="4846320"/>
            <a:ext cx="1737360" cy="1005840"/>
          </a:xfrm>
          <a:prstGeom prst="rect">
            <a:avLst/>
          </a:prstGeom>
          <a:noFill/>
          <a:ln/>
        </p:spPr>
        <p:txBody>
          <a:bodyPr wrap="square" lIns="0" tIns="0" rIns="0" bIns="0" rtlCol="0" anchor="ctr"/>
          <a:lstStyle/>
          <a:p>
            <a:pPr indent="0" marL="0">
              <a:buNone/>
            </a:pPr>
            <a:r>
              <a:rPr lang="en-US" sz="1600" b="1" dirty="0">
                <a:solidFill>
                  <a:schemeClr val="accent1"/>
                </a:solidFill>
              </a:rPr>
              <a:t>사회</a:t>
            </a:r>
            <a:endParaRPr lang="en-US" sz="1600" dirty="0"/>
          </a:p>
        </p:txBody>
      </p:sp>
      <p:sp>
        <p:nvSpPr>
          <p:cNvPr id="25" name="Text 21"/>
          <p:cNvSpPr txBox="1"/>
          <p:nvPr/>
        </p:nvSpPr>
        <p:spPr>
          <a:xfrm>
            <a:off x="7680960" y="4846320"/>
            <a:ext cx="3794760" cy="1005840"/>
          </a:xfrm>
          <a:prstGeom prst="rect">
            <a:avLst/>
          </a:prstGeom>
          <a:noFill/>
          <a:ln/>
        </p:spPr>
        <p:txBody>
          <a:bodyPr wrap="square" lIns="0" tIns="0" rIns="0" bIns="0" rtlCol="0" anchor="ctr"/>
          <a:lstStyle/>
          <a:p>
            <a:pPr indent="0" marL="0">
              <a:buNone/>
            </a:pPr>
            <a:r>
              <a:rPr lang="en-US" sz="1400" dirty="0">
                <a:solidFill>
                  <a:schemeClr val="tx1"/>
                </a:solidFill>
              </a:rPr>
              <a:t>통제를 미화하는 미디어, 성별 고정관념, 구속률 2%대의 약한 처벌, 전용 법의 부재</a:t>
            </a:r>
            <a:endParaRPr lang="en-US" sz="1400" dirty="0"/>
          </a:p>
        </p:txBody>
      </p:sp>
      <p:sp>
        <p:nvSpPr>
          <p:cNvPr id="26"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WHO, World report on violence and health(2002) 생태학적 모델 · Heise(1998)</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신고는 늘었지만, 처벌은 제자리입니다</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2. 늘어나는 이유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2606040" cy="2423160"/>
          </a:xfrm>
          <a:prstGeom prst="roundRect">
            <a:avLst>
              <a:gd name="adj" fmla="val 754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Text 3"/>
          <p:cNvSpPr txBox="1"/>
          <p:nvPr/>
        </p:nvSpPr>
        <p:spPr>
          <a:xfrm>
            <a:off x="777240" y="1554480"/>
            <a:ext cx="2148840" cy="822960"/>
          </a:xfrm>
          <a:prstGeom prst="rect">
            <a:avLst/>
          </a:prstGeom>
          <a:noFill/>
          <a:ln/>
        </p:spPr>
        <p:txBody>
          <a:bodyPr wrap="square" lIns="0" tIns="0" rIns="0" bIns="0" rtlCol="0" anchor="ctr"/>
          <a:lstStyle/>
          <a:p>
            <a:pPr indent="0" marL="0">
              <a:buNone/>
            </a:pPr>
            <a:r>
              <a:rPr lang="en-US" sz="3600" b="1" dirty="0">
                <a:solidFill>
                  <a:schemeClr val="accent1"/>
                </a:solidFill>
              </a:rPr>
              <a:t>54.4%</a:t>
            </a:r>
            <a:endParaRPr lang="en-US" sz="3600" dirty="0"/>
          </a:p>
        </p:txBody>
      </p:sp>
      <p:sp>
        <p:nvSpPr>
          <p:cNvPr id="8" name="Text 4"/>
          <p:cNvSpPr txBox="1"/>
          <p:nvPr/>
        </p:nvSpPr>
        <p:spPr>
          <a:xfrm>
            <a:off x="777240" y="2423160"/>
            <a:ext cx="2148840" cy="1280160"/>
          </a:xfrm>
          <a:prstGeom prst="rect">
            <a:avLst/>
          </a:prstGeom>
          <a:noFill/>
          <a:ln/>
        </p:spPr>
        <p:txBody>
          <a:bodyPr wrap="square" lIns="0" tIns="0" rIns="0" bIns="0" rtlCol="0" anchor="t"/>
          <a:lstStyle/>
          <a:p>
            <a:pPr indent="0" marL="0">
              <a:buNone/>
            </a:pPr>
            <a:r>
              <a:rPr lang="en-US" sz="1400" dirty="0">
                <a:solidFill>
                  <a:schemeClr val="tx1"/>
                </a:solidFill>
              </a:rPr>
              <a:t>2023년 교제폭력 신고 중 정식 사건이 되지 못하고 현장에서 끝난 비율</a:t>
            </a:r>
            <a:endParaRPr lang="en-US" sz="1400" dirty="0"/>
          </a:p>
        </p:txBody>
      </p:sp>
      <p:sp>
        <p:nvSpPr>
          <p:cNvPr id="9" name="Card"/>
          <p:cNvSpPr/>
          <p:nvPr/>
        </p:nvSpPr>
        <p:spPr>
          <a:xfrm>
            <a:off x="3337560" y="1417320"/>
            <a:ext cx="2606040" cy="2423160"/>
          </a:xfrm>
          <a:prstGeom prst="roundRect">
            <a:avLst>
              <a:gd name="adj" fmla="val 754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0" name="Text 6"/>
          <p:cNvSpPr txBox="1"/>
          <p:nvPr/>
        </p:nvSpPr>
        <p:spPr>
          <a:xfrm>
            <a:off x="3566160" y="1554480"/>
            <a:ext cx="2148840" cy="822960"/>
          </a:xfrm>
          <a:prstGeom prst="rect">
            <a:avLst/>
          </a:prstGeom>
          <a:noFill/>
          <a:ln/>
        </p:spPr>
        <p:txBody>
          <a:bodyPr wrap="square" lIns="0" tIns="0" rIns="0" bIns="0" rtlCol="0" anchor="ctr"/>
          <a:lstStyle/>
          <a:p>
            <a:pPr indent="0" marL="0">
              <a:buNone/>
            </a:pPr>
            <a:r>
              <a:rPr lang="en-US" sz="3600" b="1" dirty="0">
                <a:solidFill>
                  <a:schemeClr val="accent1"/>
                </a:solidFill>
              </a:rPr>
              <a:t>42.9%</a:t>
            </a:r>
            <a:endParaRPr lang="en-US" sz="3600" dirty="0"/>
          </a:p>
        </p:txBody>
      </p:sp>
      <p:sp>
        <p:nvSpPr>
          <p:cNvPr id="11" name="Text 7"/>
          <p:cNvSpPr txBox="1"/>
          <p:nvPr/>
        </p:nvSpPr>
        <p:spPr>
          <a:xfrm>
            <a:off x="3566160" y="2423160"/>
            <a:ext cx="2148840" cy="1280160"/>
          </a:xfrm>
          <a:prstGeom prst="rect">
            <a:avLst/>
          </a:prstGeom>
          <a:noFill/>
          <a:ln/>
        </p:spPr>
        <p:txBody>
          <a:bodyPr wrap="square" lIns="0" tIns="0" rIns="0" bIns="0" rtlCol="0" anchor="t"/>
          <a:lstStyle/>
          <a:p>
            <a:pPr indent="0" marL="0">
              <a:buNone/>
            </a:pPr>
            <a:r>
              <a:rPr lang="en-US" sz="1400" dirty="0">
                <a:solidFill>
                  <a:schemeClr val="tx1"/>
                </a:solidFill>
              </a:rPr>
              <a:t>현장 종결 중 ‘처벌을 원치 않는다’는 이유로 끝난 비율</a:t>
            </a:r>
            <a:endParaRPr lang="en-US" sz="1400" dirty="0"/>
          </a:p>
        </p:txBody>
      </p:sp>
      <p:sp>
        <p:nvSpPr>
          <p:cNvPr id="12" name="Card"/>
          <p:cNvSpPr/>
          <p:nvPr/>
        </p:nvSpPr>
        <p:spPr>
          <a:xfrm>
            <a:off x="6126480" y="1417320"/>
            <a:ext cx="2606040" cy="2423160"/>
          </a:xfrm>
          <a:prstGeom prst="roundRect">
            <a:avLst>
              <a:gd name="adj" fmla="val 754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3" name="Text 9"/>
          <p:cNvSpPr txBox="1"/>
          <p:nvPr/>
        </p:nvSpPr>
        <p:spPr>
          <a:xfrm>
            <a:off x="6355080" y="1554480"/>
            <a:ext cx="2148840" cy="822960"/>
          </a:xfrm>
          <a:prstGeom prst="rect">
            <a:avLst/>
          </a:prstGeom>
          <a:noFill/>
          <a:ln/>
        </p:spPr>
        <p:txBody>
          <a:bodyPr wrap="square" lIns="0" tIns="0" rIns="0" bIns="0" rtlCol="0" anchor="ctr"/>
          <a:lstStyle/>
          <a:p>
            <a:pPr indent="0" marL="0">
              <a:buNone/>
            </a:pPr>
            <a:r>
              <a:rPr lang="en-US" sz="3600" b="1" dirty="0">
                <a:solidFill>
                  <a:schemeClr val="accent1"/>
                </a:solidFill>
              </a:rPr>
              <a:t>2.2%</a:t>
            </a:r>
            <a:endParaRPr lang="en-US" sz="3600" dirty="0"/>
          </a:p>
        </p:txBody>
      </p:sp>
      <p:sp>
        <p:nvSpPr>
          <p:cNvPr id="14" name="Text 10"/>
          <p:cNvSpPr txBox="1"/>
          <p:nvPr/>
        </p:nvSpPr>
        <p:spPr>
          <a:xfrm>
            <a:off x="6355080" y="2423160"/>
            <a:ext cx="2148840" cy="1280160"/>
          </a:xfrm>
          <a:prstGeom prst="rect">
            <a:avLst/>
          </a:prstGeom>
          <a:noFill/>
          <a:ln/>
        </p:spPr>
        <p:txBody>
          <a:bodyPr wrap="square" lIns="0" tIns="0" rIns="0" bIns="0" rtlCol="0" anchor="t"/>
          <a:lstStyle/>
          <a:p>
            <a:pPr indent="0" marL="0">
              <a:buNone/>
            </a:pPr>
            <a:r>
              <a:rPr lang="en-US" sz="1400" dirty="0">
                <a:solidFill>
                  <a:schemeClr val="tx1"/>
                </a:solidFill>
              </a:rPr>
              <a:t>최근 5년 교제폭력 검거 5만 6,079명 중 구속된 비율</a:t>
            </a:r>
            <a:endParaRPr lang="en-US" sz="1400" dirty="0"/>
          </a:p>
        </p:txBody>
      </p:sp>
      <p:sp>
        <p:nvSpPr>
          <p:cNvPr id="15" name="Card"/>
          <p:cNvSpPr/>
          <p:nvPr/>
        </p:nvSpPr>
        <p:spPr>
          <a:xfrm>
            <a:off x="8915400" y="1417320"/>
            <a:ext cx="2606040" cy="2423160"/>
          </a:xfrm>
          <a:prstGeom prst="roundRect">
            <a:avLst>
              <a:gd name="adj" fmla="val 754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6" name="Text 12"/>
          <p:cNvSpPr txBox="1"/>
          <p:nvPr/>
        </p:nvSpPr>
        <p:spPr>
          <a:xfrm>
            <a:off x="9144000" y="1554480"/>
            <a:ext cx="2148840" cy="822960"/>
          </a:xfrm>
          <a:prstGeom prst="rect">
            <a:avLst/>
          </a:prstGeom>
          <a:noFill/>
          <a:ln/>
        </p:spPr>
        <p:txBody>
          <a:bodyPr wrap="square" lIns="0" tIns="0" rIns="0" bIns="0" rtlCol="0" anchor="ctr"/>
          <a:lstStyle/>
          <a:p>
            <a:pPr indent="0" marL="0">
              <a:buNone/>
            </a:pPr>
            <a:r>
              <a:rPr lang="en-US" sz="3600" b="1" dirty="0">
                <a:solidFill>
                  <a:schemeClr val="accent1"/>
                </a:solidFill>
              </a:rPr>
              <a:t>411명</a:t>
            </a:r>
            <a:endParaRPr lang="en-US" sz="3600" dirty="0"/>
          </a:p>
        </p:txBody>
      </p:sp>
      <p:sp>
        <p:nvSpPr>
          <p:cNvPr id="17" name="Text 13"/>
          <p:cNvSpPr txBox="1"/>
          <p:nvPr/>
        </p:nvSpPr>
        <p:spPr>
          <a:xfrm>
            <a:off x="9144000" y="2423160"/>
            <a:ext cx="2148840" cy="1280160"/>
          </a:xfrm>
          <a:prstGeom prst="rect">
            <a:avLst/>
          </a:prstGeom>
          <a:noFill/>
          <a:ln/>
        </p:spPr>
        <p:txBody>
          <a:bodyPr wrap="square" lIns="0" tIns="0" rIns="0" bIns="0" rtlCol="0" anchor="t"/>
          <a:lstStyle/>
          <a:p>
            <a:pPr indent="0" marL="0">
              <a:buNone/>
            </a:pPr>
            <a:r>
              <a:rPr lang="en-US" sz="1400" dirty="0">
                <a:solidFill>
                  <a:schemeClr val="tx1"/>
                </a:solidFill>
              </a:rPr>
              <a:t>2025년 같은 피해로 10번 이상 다시 신고한 피해자</a:t>
            </a:r>
            <a:endParaRPr lang="en-US" sz="1400" dirty="0"/>
          </a:p>
        </p:txBody>
      </p:sp>
      <p:sp>
        <p:nvSpPr>
          <p:cNvPr id="18" name="Card"/>
          <p:cNvSpPr/>
          <p:nvPr/>
        </p:nvSpPr>
        <p:spPr>
          <a:xfrm>
            <a:off x="548640" y="4069080"/>
            <a:ext cx="11064240" cy="1874520"/>
          </a:xfrm>
          <a:prstGeom prst="roundRect">
            <a:avLst>
              <a:gd name="adj" fmla="val 9756"/>
            </a:avLst>
          </a:prstGeom>
          <a:solidFill>
            <a:schemeClr val="tx2"/>
          </a:solidFill>
          <a:ln/>
          <a:effectLst>
            <a:outerShdw sx="100000" sy="100000" kx="0" ky="0" algn="bl" rotWithShape="0" blurRad="101600" dist="25400" dir="5400000">
              <a:srgbClr val="4A1D3F">
                <a:alpha val="28000"/>
              </a:srgbClr>
            </a:outerShdw>
          </a:effectLst>
        </p:spPr>
      </p:sp>
      <p:sp>
        <p:nvSpPr>
          <p:cNvPr id="19" name="Text 15"/>
          <p:cNvSpPr txBox="1"/>
          <p:nvPr/>
        </p:nvSpPr>
        <p:spPr>
          <a:xfrm>
            <a:off x="822960" y="4206240"/>
            <a:ext cx="10515600" cy="411480"/>
          </a:xfrm>
          <a:prstGeom prst="rect">
            <a:avLst/>
          </a:prstGeom>
          <a:noFill/>
          <a:ln/>
        </p:spPr>
        <p:txBody>
          <a:bodyPr wrap="square" lIns="0" tIns="0" rIns="0" bIns="0" rtlCol="0" anchor="ctr"/>
          <a:lstStyle/>
          <a:p>
            <a:pPr indent="0" marL="0">
              <a:buNone/>
            </a:pPr>
            <a:r>
              <a:rPr lang="en-US" sz="1800" b="1" dirty="0">
                <a:solidFill>
                  <a:schemeClr val="accent1"/>
                </a:solidFill>
              </a:rPr>
              <a:t>왜 이런 일이 생길까? ‘반의사불벌’의 덫</a:t>
            </a:r>
            <a:endParaRPr lang="en-US" sz="1800" dirty="0"/>
          </a:p>
        </p:txBody>
      </p:sp>
      <p:sp>
        <p:nvSpPr>
          <p:cNvPr id="20" name="Text 16"/>
          <p:cNvSpPr txBox="1"/>
          <p:nvPr/>
        </p:nvSpPr>
        <p:spPr>
          <a:xfrm>
            <a:off x="822960" y="4663440"/>
            <a:ext cx="10515600" cy="1188720"/>
          </a:xfrm>
          <a:prstGeom prst="rect">
            <a:avLst/>
          </a:prstGeom>
          <a:noFill/>
          <a:ln/>
        </p:spPr>
        <p:txBody>
          <a:bodyPr wrap="square" lIns="0" tIns="0" rIns="0" bIns="0" rtlCol="0" anchor="t"/>
          <a:lstStyle/>
          <a:p>
            <a:pPr indent="0" marL="0">
              <a:buNone/>
            </a:pPr>
            <a:r>
              <a:rPr lang="en-US" sz="1500" dirty="0">
                <a:solidFill>
                  <a:schemeClr val="bg1"/>
                </a:solidFill>
              </a:rPr>
              <a:t>교제폭력은 별도 법이 없어 폭행·협박죄로 처리됩니다. 이 죄들은 피해자가 ‘처벌을 원치 않는다’고 하면 처벌할 수 없습니다. 그래서 가해자는 회유나 협박으로 합의를 받아 내고, 풀려난 뒤 폭력이 반복됩니다.</a:t>
            </a:r>
            <a:endParaRPr lang="en-US" sz="1500" dirty="0"/>
          </a:p>
        </p:txBody>
      </p:sp>
      <p:sp>
        <p:nvSpPr>
          <p:cNvPr id="21"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국회입법조사처(2023 현장 종결) · 경찰청 표본 분석(신고 1,129건) · 경찰청 5년 구속 현황 · 박정현 의원실(재신고)</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10대의 현실: 더 어려지고, 더 디지털로</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2. 늘어나는 이유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graphicFrame>
        <p:nvGraphicFramePr>
          <p:cNvPr id="6" name="Chart 0" descr=""/>
          <p:cNvGraphicFramePr/>
          <p:nvPr/>
        </p:nvGraphicFramePr>
        <p:xfrm>
          <a:off x="548640" y="1325880"/>
          <a:ext cx="4572000" cy="374904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548640" y="5120640"/>
            <a:ext cx="4572000" cy="685800"/>
          </a:xfrm>
          <a:prstGeom prst="rect">
            <a:avLst/>
          </a:prstGeom>
          <a:noFill/>
          <a:ln/>
        </p:spPr>
        <p:txBody>
          <a:bodyPr wrap="square" lIns="0" tIns="0" rIns="0" bIns="0" rtlCol="0" anchor="ctr"/>
          <a:lstStyle/>
          <a:p>
            <a:pPr algn="ctr" indent="0" marL="0">
              <a:buNone/>
            </a:pPr>
            <a:r>
              <a:rPr lang="en-US" sz="1500" b="1" dirty="0">
                <a:solidFill>
                  <a:schemeClr val="accent1"/>
                </a:solidFill>
              </a:rPr>
              <a:t>4년 만에 2.2배 · 연령대 중 유일하게 매년 증가</a:t>
            </a:r>
            <a:endParaRPr lang="en-US" sz="1500" dirty="0"/>
          </a:p>
        </p:txBody>
      </p:sp>
      <p:sp>
        <p:nvSpPr>
          <p:cNvPr id="8" name="Card"/>
          <p:cNvSpPr/>
          <p:nvPr/>
        </p:nvSpPr>
        <p:spPr>
          <a:xfrm>
            <a:off x="5486400" y="1417320"/>
            <a:ext cx="6126480" cy="1325880"/>
          </a:xfrm>
          <a:prstGeom prst="roundRect">
            <a:avLst>
              <a:gd name="adj" fmla="val 1379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9" name="Text 4"/>
          <p:cNvSpPr txBox="1"/>
          <p:nvPr/>
        </p:nvSpPr>
        <p:spPr>
          <a:xfrm>
            <a:off x="5715000" y="1417320"/>
            <a:ext cx="1920240" cy="1325880"/>
          </a:xfrm>
          <a:prstGeom prst="rect">
            <a:avLst/>
          </a:prstGeom>
          <a:noFill/>
          <a:ln/>
        </p:spPr>
        <p:txBody>
          <a:bodyPr wrap="square" lIns="0" tIns="0" rIns="0" bIns="0" rtlCol="0" anchor="ctr"/>
          <a:lstStyle/>
          <a:p>
            <a:pPr indent="0" marL="0">
              <a:buNone/>
            </a:pPr>
            <a:r>
              <a:rPr lang="en-US" sz="3200" b="1" dirty="0">
                <a:solidFill>
                  <a:schemeClr val="accent1"/>
                </a:solidFill>
              </a:rPr>
              <a:t>61.8%</a:t>
            </a:r>
            <a:endParaRPr lang="en-US" sz="3200" dirty="0"/>
          </a:p>
        </p:txBody>
      </p:sp>
      <p:sp>
        <p:nvSpPr>
          <p:cNvPr id="10" name="Text 5"/>
          <p:cNvSpPr txBox="1"/>
          <p:nvPr/>
        </p:nvSpPr>
        <p:spPr>
          <a:xfrm>
            <a:off x="7680960" y="1417320"/>
            <a:ext cx="3794760" cy="1325880"/>
          </a:xfrm>
          <a:prstGeom prst="rect">
            <a:avLst/>
          </a:prstGeom>
          <a:noFill/>
          <a:ln/>
        </p:spPr>
        <p:txBody>
          <a:bodyPr wrap="square" lIns="0" tIns="0" rIns="0" bIns="0" rtlCol="0" anchor="ctr"/>
          <a:lstStyle/>
          <a:p>
            <a:pPr indent="0" marL="0">
              <a:buNone/>
            </a:pPr>
            <a:r>
              <a:rPr lang="en-US" sz="1400" dirty="0">
                <a:solidFill>
                  <a:schemeClr val="tx1"/>
                </a:solidFill>
              </a:rPr>
              <a:t>딥페이크 성범죄 피의자 중 10대 (2024.11~2025.10 경찰 집중단속, 1,449명)</a:t>
            </a:r>
            <a:endParaRPr lang="en-US" sz="1400" dirty="0"/>
          </a:p>
        </p:txBody>
      </p:sp>
      <p:sp>
        <p:nvSpPr>
          <p:cNvPr id="11" name="Card"/>
          <p:cNvSpPr/>
          <p:nvPr/>
        </p:nvSpPr>
        <p:spPr>
          <a:xfrm>
            <a:off x="5486400" y="2926080"/>
            <a:ext cx="6126480" cy="1325880"/>
          </a:xfrm>
          <a:prstGeom prst="roundRect">
            <a:avLst>
              <a:gd name="adj" fmla="val 1379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2" name="Text 7"/>
          <p:cNvSpPr txBox="1"/>
          <p:nvPr/>
        </p:nvSpPr>
        <p:spPr>
          <a:xfrm>
            <a:off x="5715000" y="2926080"/>
            <a:ext cx="1920240" cy="1325880"/>
          </a:xfrm>
          <a:prstGeom prst="rect">
            <a:avLst/>
          </a:prstGeom>
          <a:noFill/>
          <a:ln/>
        </p:spPr>
        <p:txBody>
          <a:bodyPr wrap="square" lIns="0" tIns="0" rIns="0" bIns="0" rtlCol="0" anchor="ctr"/>
          <a:lstStyle/>
          <a:p>
            <a:pPr indent="0" marL="0">
              <a:buNone/>
            </a:pPr>
            <a:r>
              <a:rPr lang="en-US" sz="3200" b="1" dirty="0">
                <a:solidFill>
                  <a:schemeClr val="accent1"/>
                </a:solidFill>
              </a:rPr>
              <a:t>46.2%</a:t>
            </a:r>
            <a:endParaRPr lang="en-US" sz="3200" dirty="0"/>
          </a:p>
        </p:txBody>
      </p:sp>
      <p:sp>
        <p:nvSpPr>
          <p:cNvPr id="13" name="Text 8"/>
          <p:cNvSpPr txBox="1"/>
          <p:nvPr/>
        </p:nvSpPr>
        <p:spPr>
          <a:xfrm>
            <a:off x="7680960" y="2926080"/>
            <a:ext cx="3794760" cy="1325880"/>
          </a:xfrm>
          <a:prstGeom prst="rect">
            <a:avLst/>
          </a:prstGeom>
          <a:noFill/>
          <a:ln/>
        </p:spPr>
        <p:txBody>
          <a:bodyPr wrap="square" lIns="0" tIns="0" rIns="0" bIns="0" rtlCol="0" anchor="ctr"/>
          <a:lstStyle/>
          <a:p>
            <a:pPr indent="0" marL="0">
              <a:buNone/>
            </a:pPr>
            <a:r>
              <a:rPr lang="en-US" sz="1400" dirty="0">
                <a:solidFill>
                  <a:schemeClr val="tx1"/>
                </a:solidFill>
              </a:rPr>
              <a:t>딥페이크 피해 지원 건 중 10대 (중앙디지털성범죄피해자지원센터, 2024)</a:t>
            </a:r>
            <a:endParaRPr lang="en-US" sz="1400" dirty="0"/>
          </a:p>
        </p:txBody>
      </p:sp>
      <p:sp>
        <p:nvSpPr>
          <p:cNvPr id="14" name="Card"/>
          <p:cNvSpPr/>
          <p:nvPr/>
        </p:nvSpPr>
        <p:spPr>
          <a:xfrm>
            <a:off x="5486400" y="4434840"/>
            <a:ext cx="6126480" cy="1325880"/>
          </a:xfrm>
          <a:prstGeom prst="roundRect">
            <a:avLst>
              <a:gd name="adj" fmla="val 1379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5" name="Text 10"/>
          <p:cNvSpPr txBox="1"/>
          <p:nvPr/>
        </p:nvSpPr>
        <p:spPr>
          <a:xfrm>
            <a:off x="5715000" y="4434840"/>
            <a:ext cx="1920240" cy="1325880"/>
          </a:xfrm>
          <a:prstGeom prst="rect">
            <a:avLst/>
          </a:prstGeom>
          <a:noFill/>
          <a:ln/>
        </p:spPr>
        <p:txBody>
          <a:bodyPr wrap="square" lIns="0" tIns="0" rIns="0" bIns="0" rtlCol="0" anchor="ctr"/>
          <a:lstStyle/>
          <a:p>
            <a:pPr indent="0" marL="0">
              <a:buNone/>
            </a:pPr>
            <a:r>
              <a:rPr lang="en-US" sz="3200" b="1" dirty="0">
                <a:solidFill>
                  <a:schemeClr val="accent1"/>
                </a:solidFill>
              </a:rPr>
              <a:t>42.5%</a:t>
            </a:r>
            <a:endParaRPr lang="en-US" sz="3200" dirty="0"/>
          </a:p>
        </p:txBody>
      </p:sp>
      <p:sp>
        <p:nvSpPr>
          <p:cNvPr id="16" name="Text 11"/>
          <p:cNvSpPr txBox="1"/>
          <p:nvPr/>
        </p:nvSpPr>
        <p:spPr>
          <a:xfrm>
            <a:off x="7680960" y="4434840"/>
            <a:ext cx="3794760" cy="1325880"/>
          </a:xfrm>
          <a:prstGeom prst="rect">
            <a:avLst/>
          </a:prstGeom>
          <a:noFill/>
          <a:ln/>
        </p:spPr>
        <p:txBody>
          <a:bodyPr wrap="square" lIns="0" tIns="0" rIns="0" bIns="0" rtlCol="0" anchor="ctr"/>
          <a:lstStyle/>
          <a:p>
            <a:pPr indent="0" marL="0">
              <a:buNone/>
            </a:pPr>
            <a:r>
              <a:rPr lang="en-US" sz="1400" dirty="0">
                <a:solidFill>
                  <a:schemeClr val="tx1"/>
                </a:solidFill>
              </a:rPr>
              <a:t>불법촬영·딥페이크 피해 여성의 가해자가 ‘전 애인’인 비율 (2022년 13.8%)</a:t>
            </a:r>
            <a:endParaRPr lang="en-US" sz="1400" dirty="0"/>
          </a:p>
        </p:txBody>
      </p:sp>
      <p:sp>
        <p:nvSpPr>
          <p:cNvPr id="17"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경찰청(뉴시스 2025.9.4) · 경찰청 국가수사본부(뉴시스 2025.11.14) · 여성가족부 「2024 디지털성범죄 피해지원 보고서」 · 성평등가족부 「2025 성폭력 안전실태조사」</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이별, 가장 위험한 순간</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2. 늘어나는 이유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3566160" cy="2468880"/>
          </a:xfrm>
          <a:prstGeom prst="roundRect">
            <a:avLst>
              <a:gd name="adj" fmla="val 740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Text 3"/>
          <p:cNvSpPr txBox="1"/>
          <p:nvPr/>
        </p:nvSpPr>
        <p:spPr>
          <a:xfrm>
            <a:off x="777240" y="1554480"/>
            <a:ext cx="3108960" cy="822960"/>
          </a:xfrm>
          <a:prstGeom prst="rect">
            <a:avLst/>
          </a:prstGeom>
          <a:noFill/>
          <a:ln/>
        </p:spPr>
        <p:txBody>
          <a:bodyPr wrap="square" lIns="0" tIns="0" rIns="0" bIns="0" rtlCol="0" anchor="ctr"/>
          <a:lstStyle/>
          <a:p>
            <a:pPr indent="0" marL="0">
              <a:buNone/>
            </a:pPr>
            <a:r>
              <a:rPr lang="en-US" sz="4200" b="1" dirty="0">
                <a:solidFill>
                  <a:schemeClr val="accent1"/>
                </a:solidFill>
              </a:rPr>
              <a:t>59.6%</a:t>
            </a:r>
            <a:endParaRPr lang="en-US" sz="4200" dirty="0"/>
          </a:p>
        </p:txBody>
      </p:sp>
      <p:sp>
        <p:nvSpPr>
          <p:cNvPr id="8" name="Text 4"/>
          <p:cNvSpPr txBox="1"/>
          <p:nvPr/>
        </p:nvSpPr>
        <p:spPr>
          <a:xfrm>
            <a:off x="777240" y="2423160"/>
            <a:ext cx="3108960" cy="1325880"/>
          </a:xfrm>
          <a:prstGeom prst="rect">
            <a:avLst/>
          </a:prstGeom>
          <a:noFill/>
          <a:ln/>
        </p:spPr>
        <p:txBody>
          <a:bodyPr wrap="square" lIns="0" tIns="0" rIns="0" bIns="0" rtlCol="0" anchor="t"/>
          <a:lstStyle/>
          <a:p>
            <a:pPr indent="0" marL="0">
              <a:buNone/>
            </a:pPr>
            <a:r>
              <a:rPr lang="en-US" sz="1400" dirty="0">
                <a:solidFill>
                  <a:schemeClr val="tx1"/>
                </a:solidFill>
              </a:rPr>
              <a:t>배우자·동거 파트너와 헤어진 여성 중 이별 전후 폭력(신체·성적·경제·정서)을 겪은 비율</a:t>
            </a:r>
            <a:endParaRPr lang="en-US" sz="1400" dirty="0"/>
          </a:p>
        </p:txBody>
      </p:sp>
      <p:sp>
        <p:nvSpPr>
          <p:cNvPr id="9" name="Card"/>
          <p:cNvSpPr/>
          <p:nvPr/>
        </p:nvSpPr>
        <p:spPr>
          <a:xfrm>
            <a:off x="4297680" y="1417320"/>
            <a:ext cx="3566160" cy="2468880"/>
          </a:xfrm>
          <a:prstGeom prst="roundRect">
            <a:avLst>
              <a:gd name="adj" fmla="val 740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0" name="Text 6"/>
          <p:cNvSpPr txBox="1"/>
          <p:nvPr/>
        </p:nvSpPr>
        <p:spPr>
          <a:xfrm>
            <a:off x="4526280" y="1554480"/>
            <a:ext cx="3108960" cy="822960"/>
          </a:xfrm>
          <a:prstGeom prst="rect">
            <a:avLst/>
          </a:prstGeom>
          <a:noFill/>
          <a:ln/>
        </p:spPr>
        <p:txBody>
          <a:bodyPr wrap="square" lIns="0" tIns="0" rIns="0" bIns="0" rtlCol="0" anchor="ctr"/>
          <a:lstStyle/>
          <a:p>
            <a:pPr indent="0" marL="0">
              <a:buNone/>
            </a:pPr>
            <a:r>
              <a:rPr lang="en-US" sz="4200" b="1" dirty="0">
                <a:solidFill>
                  <a:schemeClr val="accent1"/>
                </a:solidFill>
              </a:rPr>
              <a:t>29.1%</a:t>
            </a:r>
            <a:endParaRPr lang="en-US" sz="4200" dirty="0"/>
          </a:p>
        </p:txBody>
      </p:sp>
      <p:sp>
        <p:nvSpPr>
          <p:cNvPr id="11" name="Text 7"/>
          <p:cNvSpPr txBox="1"/>
          <p:nvPr/>
        </p:nvSpPr>
        <p:spPr>
          <a:xfrm>
            <a:off x="4526280" y="2423160"/>
            <a:ext cx="3108960" cy="1325880"/>
          </a:xfrm>
          <a:prstGeom prst="rect">
            <a:avLst/>
          </a:prstGeom>
          <a:noFill/>
          <a:ln/>
        </p:spPr>
        <p:txBody>
          <a:bodyPr wrap="square" lIns="0" tIns="0" rIns="0" bIns="0" rtlCol="0" anchor="t"/>
          <a:lstStyle/>
          <a:p>
            <a:pPr indent="0" marL="0">
              <a:buNone/>
            </a:pPr>
            <a:r>
              <a:rPr lang="en-US" sz="1400" dirty="0">
                <a:solidFill>
                  <a:schemeClr val="tx1"/>
                </a:solidFill>
              </a:rPr>
              <a:t>이별 전후 스토킹 피해를 겪은 여성 비율 (남성 18.9%)</a:t>
            </a:r>
            <a:endParaRPr lang="en-US" sz="1400" dirty="0"/>
          </a:p>
        </p:txBody>
      </p:sp>
      <p:sp>
        <p:nvSpPr>
          <p:cNvPr id="12" name="Card"/>
          <p:cNvSpPr/>
          <p:nvPr/>
        </p:nvSpPr>
        <p:spPr>
          <a:xfrm>
            <a:off x="8046720" y="1417320"/>
            <a:ext cx="3566160" cy="2468880"/>
          </a:xfrm>
          <a:prstGeom prst="roundRect">
            <a:avLst>
              <a:gd name="adj" fmla="val 7407"/>
            </a:avLst>
          </a:prstGeom>
          <a:solidFill>
            <a:schemeClr val="tx2"/>
          </a:solidFill>
          <a:ln/>
          <a:effectLst>
            <a:outerShdw sx="100000" sy="100000" kx="0" ky="0" algn="bl" rotWithShape="0" blurRad="101600" dist="25400" dir="5400000">
              <a:srgbClr val="4A1D3F">
                <a:alpha val="28000"/>
              </a:srgbClr>
            </a:outerShdw>
          </a:effectLst>
        </p:spPr>
      </p:sp>
      <p:sp>
        <p:nvSpPr>
          <p:cNvPr id="13" name="Text 9"/>
          <p:cNvSpPr txBox="1"/>
          <p:nvPr/>
        </p:nvSpPr>
        <p:spPr>
          <a:xfrm>
            <a:off x="8275320" y="1554480"/>
            <a:ext cx="3108960" cy="822960"/>
          </a:xfrm>
          <a:prstGeom prst="rect">
            <a:avLst/>
          </a:prstGeom>
          <a:noFill/>
          <a:ln/>
        </p:spPr>
        <p:txBody>
          <a:bodyPr wrap="square" lIns="0" tIns="0" rIns="0" bIns="0" rtlCol="0" anchor="ctr"/>
          <a:lstStyle/>
          <a:p>
            <a:pPr indent="0" marL="0">
              <a:buNone/>
            </a:pPr>
            <a:r>
              <a:rPr lang="en-US" sz="4200" b="1" dirty="0">
                <a:solidFill>
                  <a:schemeClr val="accent1"/>
                </a:solidFill>
              </a:rPr>
              <a:t>80.9%</a:t>
            </a:r>
            <a:endParaRPr lang="en-US" sz="4200" dirty="0"/>
          </a:p>
        </p:txBody>
      </p:sp>
      <p:sp>
        <p:nvSpPr>
          <p:cNvPr id="14" name="Text 10"/>
          <p:cNvSpPr txBox="1"/>
          <p:nvPr/>
        </p:nvSpPr>
        <p:spPr>
          <a:xfrm>
            <a:off x="8275320" y="2423160"/>
            <a:ext cx="3108960" cy="1325880"/>
          </a:xfrm>
          <a:prstGeom prst="rect">
            <a:avLst/>
          </a:prstGeom>
          <a:noFill/>
          <a:ln/>
        </p:spPr>
        <p:txBody>
          <a:bodyPr wrap="square" lIns="0" tIns="0" rIns="0" bIns="0" rtlCol="0" anchor="t"/>
          <a:lstStyle/>
          <a:p>
            <a:pPr indent="0" marL="0">
              <a:buNone/>
            </a:pPr>
            <a:r>
              <a:rPr lang="en-US" sz="1400" dirty="0">
                <a:solidFill>
                  <a:schemeClr val="bg1"/>
                </a:solidFill>
              </a:rPr>
              <a:t>이별 전후 폭력 피해자 중 누구에게도 도움을 요청하지 않은 비율</a:t>
            </a:r>
            <a:endParaRPr lang="en-US" sz="1400" dirty="0"/>
          </a:p>
        </p:txBody>
      </p:sp>
      <p:sp>
        <p:nvSpPr>
          <p:cNvPr id="15" name="Card"/>
          <p:cNvSpPr/>
          <p:nvPr/>
        </p:nvSpPr>
        <p:spPr>
          <a:xfrm>
            <a:off x="548640" y="4114800"/>
            <a:ext cx="11064240" cy="1828800"/>
          </a:xfrm>
          <a:prstGeom prst="roundRect">
            <a:avLst>
              <a:gd name="adj" fmla="val 1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6" name="Text 12"/>
          <p:cNvSpPr txBox="1"/>
          <p:nvPr/>
        </p:nvSpPr>
        <p:spPr>
          <a:xfrm>
            <a:off x="822960" y="4251960"/>
            <a:ext cx="10515600" cy="411480"/>
          </a:xfrm>
          <a:prstGeom prst="rect">
            <a:avLst/>
          </a:prstGeom>
          <a:noFill/>
          <a:ln/>
        </p:spPr>
        <p:txBody>
          <a:bodyPr wrap="square" lIns="0" tIns="0" rIns="0" bIns="0" rtlCol="0" anchor="ctr"/>
          <a:lstStyle/>
          <a:p>
            <a:pPr indent="0" marL="0">
              <a:buNone/>
            </a:pPr>
            <a:r>
              <a:rPr lang="en-US" sz="1800" b="1" dirty="0">
                <a:solidFill>
                  <a:schemeClr val="tx2"/>
                </a:solidFill>
              </a:rPr>
              <a:t>왜 이별할 때 위험할까?</a:t>
            </a:r>
            <a:endParaRPr lang="en-US" sz="1800" dirty="0"/>
          </a:p>
        </p:txBody>
      </p:sp>
      <p:sp>
        <p:nvSpPr>
          <p:cNvPr id="17" name="Text 13"/>
          <p:cNvSpPr txBox="1"/>
          <p:nvPr/>
        </p:nvSpPr>
        <p:spPr>
          <a:xfrm>
            <a:off x="822960" y="4663440"/>
            <a:ext cx="10515600" cy="1188720"/>
          </a:xfrm>
          <a:prstGeom prst="rect">
            <a:avLst/>
          </a:prstGeom>
          <a:noFill/>
          <a:ln/>
        </p:spPr>
        <p:txBody>
          <a:bodyPr wrap="square" lIns="0" tIns="0" rIns="0" bIns="0" rtlCol="0" anchor="t"/>
          <a:lstStyle/>
          <a:p>
            <a:pPr indent="0" marL="0">
              <a:buNone/>
            </a:pPr>
            <a:r>
              <a:rPr lang="en-US" sz="1500" dirty="0">
                <a:solidFill>
                  <a:schemeClr val="tx1"/>
                </a:solidFill>
              </a:rPr>
              <a:t>상대를 ‘소유’로 여기는 사람에게 이별은 통제를 잃는 순간입니다. 그래서 이별 통보 뒤 집착·스토킹·보복이 집중됩니다. 이 뒤에 볼 강남역·거제 사건도 모두 ‘헤어지는 과정’ 또는 ‘헤어진 뒤’에 일어났습니다.</a:t>
            </a:r>
            <a:endParaRPr lang="en-US" sz="1500" dirty="0"/>
          </a:p>
        </p:txBody>
      </p:sp>
      <p:sp>
        <p:nvSpPr>
          <p:cNvPr id="18"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성평등가족부 「2025년 가정폭력 실태조사」(2026.7.30 발표) — 이혼·별거·동거 종료 경험자 대상</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폭력의 구조: 권력과 통제의 바퀴</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3. 폭력 유형</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Wheel rim"/>
          <p:cNvSpPr/>
          <p:nvPr/>
        </p:nvSpPr>
        <p:spPr>
          <a:xfrm>
            <a:off x="1005840" y="1371600"/>
            <a:ext cx="4663440" cy="4663440"/>
          </a:xfrm>
          <a:prstGeom prst="ellipse">
            <a:avLst/>
          </a:prstGeom>
          <a:solidFill>
            <a:schemeClr val="bg2"/>
          </a:solidFill>
          <a:ln w="76200">
            <a:solidFill>
              <a:schemeClr val="accent1"/>
            </a:solidFill>
            <a:prstDash val="solid"/>
          </a:ln>
        </p:spPr>
      </p:sp>
      <p:sp>
        <p:nvSpPr>
          <p:cNvPr id="7" name="Wheel hub"/>
          <p:cNvSpPr/>
          <p:nvPr/>
        </p:nvSpPr>
        <p:spPr>
          <a:xfrm>
            <a:off x="2468880" y="2834640"/>
            <a:ext cx="1737360" cy="1737360"/>
          </a:xfrm>
          <a:prstGeom prst="ellipse">
            <a:avLst/>
          </a:prstGeom>
          <a:solidFill>
            <a:schemeClr val="tx2"/>
          </a:solidFill>
          <a:ln/>
        </p:spPr>
      </p:sp>
      <p:sp>
        <p:nvSpPr>
          <p:cNvPr id="8" name="Text 4"/>
          <p:cNvSpPr txBox="1"/>
          <p:nvPr/>
        </p:nvSpPr>
        <p:spPr>
          <a:xfrm>
            <a:off x="2468880" y="2834640"/>
            <a:ext cx="1737360" cy="1737360"/>
          </a:xfrm>
          <a:prstGeom prst="rect">
            <a:avLst/>
          </a:prstGeom>
          <a:noFill/>
          <a:ln/>
        </p:spPr>
        <p:txBody>
          <a:bodyPr wrap="square" lIns="0" tIns="0" rIns="0" bIns="0" rtlCol="0" anchor="ctr"/>
          <a:lstStyle/>
          <a:p>
            <a:pPr algn="ctr" indent="0" marL="0">
              <a:buNone/>
            </a:pPr>
            <a:r>
              <a:rPr lang="en-US" sz="1800" b="1" dirty="0">
                <a:solidFill>
                  <a:schemeClr val="bg1"/>
                </a:solidFill>
              </a:rPr>
              <a:t>권력과</a:t>
            </a:r>
            <a:endParaRPr lang="en-US" sz="1800" dirty="0"/>
          </a:p>
          <a:p>
            <a:pPr algn="ctr" indent="0" marL="0">
              <a:buNone/>
            </a:pPr>
            <a:r>
              <a:rPr lang="en-US" sz="1800" b="1" dirty="0">
                <a:solidFill>
                  <a:schemeClr val="bg1"/>
                </a:solidFill>
              </a:rPr>
              <a:t>통제</a:t>
            </a:r>
            <a:endParaRPr lang="en-US" sz="1800" dirty="0"/>
          </a:p>
        </p:txBody>
      </p:sp>
      <p:sp>
        <p:nvSpPr>
          <p:cNvPr id="9" name="Wheel spoke"/>
          <p:cNvSpPr/>
          <p:nvPr/>
        </p:nvSpPr>
        <p:spPr>
          <a:xfrm>
            <a:off x="2587752" y="1554480"/>
            <a:ext cx="1499616" cy="548640"/>
          </a:xfrm>
          <a:prstGeom prst="roundRect">
            <a:avLst>
              <a:gd name="adj" fmla="val 16667"/>
            </a:avLst>
          </a:prstGeom>
          <a:solidFill>
            <a:schemeClr val="bg1"/>
          </a:solidFill>
          <a:ln w="12700">
            <a:solidFill>
              <a:schemeClr val="accent3"/>
            </a:solidFill>
            <a:prstDash val="solid"/>
          </a:ln>
        </p:spPr>
      </p:sp>
      <p:sp>
        <p:nvSpPr>
          <p:cNvPr id="10" name="Text 6"/>
          <p:cNvSpPr txBox="1"/>
          <p:nvPr/>
        </p:nvSpPr>
        <p:spPr>
          <a:xfrm>
            <a:off x="2587752" y="1554480"/>
            <a:ext cx="1499616" cy="548640"/>
          </a:xfrm>
          <a:prstGeom prst="rect">
            <a:avLst/>
          </a:prstGeom>
          <a:noFill/>
          <a:ln/>
        </p:spPr>
        <p:txBody>
          <a:bodyPr wrap="square" lIns="0" tIns="0" rIns="0" bIns="0" rtlCol="0" anchor="ctr"/>
          <a:lstStyle/>
          <a:p>
            <a:pPr algn="ctr" indent="0" marL="0">
              <a:buNone/>
            </a:pPr>
            <a:r>
              <a:rPr lang="en-US" sz="1200" b="1" dirty="0">
                <a:solidFill>
                  <a:schemeClr val="tx2"/>
                </a:solidFill>
              </a:rPr>
              <a:t>위협·협박</a:t>
            </a:r>
            <a:endParaRPr lang="en-US" sz="1200" dirty="0"/>
          </a:p>
        </p:txBody>
      </p:sp>
      <p:sp>
        <p:nvSpPr>
          <p:cNvPr id="11" name="Wheel spoke"/>
          <p:cNvSpPr/>
          <p:nvPr/>
        </p:nvSpPr>
        <p:spPr>
          <a:xfrm>
            <a:off x="3913238" y="2103514"/>
            <a:ext cx="1499616" cy="548640"/>
          </a:xfrm>
          <a:prstGeom prst="roundRect">
            <a:avLst>
              <a:gd name="adj" fmla="val 16667"/>
            </a:avLst>
          </a:prstGeom>
          <a:solidFill>
            <a:schemeClr val="bg1"/>
          </a:solidFill>
          <a:ln w="12700">
            <a:solidFill>
              <a:schemeClr val="accent3"/>
            </a:solidFill>
            <a:prstDash val="solid"/>
          </a:ln>
        </p:spPr>
      </p:sp>
      <p:sp>
        <p:nvSpPr>
          <p:cNvPr id="12" name="Text 8"/>
          <p:cNvSpPr txBox="1"/>
          <p:nvPr/>
        </p:nvSpPr>
        <p:spPr>
          <a:xfrm>
            <a:off x="3913238" y="2103514"/>
            <a:ext cx="1499616" cy="548640"/>
          </a:xfrm>
          <a:prstGeom prst="rect">
            <a:avLst/>
          </a:prstGeom>
          <a:noFill/>
          <a:ln/>
        </p:spPr>
        <p:txBody>
          <a:bodyPr wrap="square" lIns="0" tIns="0" rIns="0" bIns="0" rtlCol="0" anchor="ctr"/>
          <a:lstStyle/>
          <a:p>
            <a:pPr algn="ctr" indent="0" marL="0">
              <a:buNone/>
            </a:pPr>
            <a:r>
              <a:rPr lang="en-US" sz="1200" b="1" dirty="0">
                <a:solidFill>
                  <a:schemeClr val="tx2"/>
                </a:solidFill>
              </a:rPr>
              <a:t>감시·디지털 통제</a:t>
            </a:r>
            <a:endParaRPr lang="en-US" sz="1200" dirty="0"/>
          </a:p>
        </p:txBody>
      </p:sp>
      <p:sp>
        <p:nvSpPr>
          <p:cNvPr id="13" name="Wheel spoke"/>
          <p:cNvSpPr/>
          <p:nvPr/>
        </p:nvSpPr>
        <p:spPr>
          <a:xfrm>
            <a:off x="4462272" y="3429000"/>
            <a:ext cx="1499616" cy="548640"/>
          </a:xfrm>
          <a:prstGeom prst="roundRect">
            <a:avLst>
              <a:gd name="adj" fmla="val 16667"/>
            </a:avLst>
          </a:prstGeom>
          <a:solidFill>
            <a:schemeClr val="bg1"/>
          </a:solidFill>
          <a:ln w="12700">
            <a:solidFill>
              <a:schemeClr val="accent3"/>
            </a:solidFill>
            <a:prstDash val="solid"/>
          </a:ln>
        </p:spPr>
      </p:sp>
      <p:sp>
        <p:nvSpPr>
          <p:cNvPr id="14" name="Text 10"/>
          <p:cNvSpPr txBox="1"/>
          <p:nvPr/>
        </p:nvSpPr>
        <p:spPr>
          <a:xfrm>
            <a:off x="4462272" y="3429000"/>
            <a:ext cx="1499616" cy="548640"/>
          </a:xfrm>
          <a:prstGeom prst="rect">
            <a:avLst/>
          </a:prstGeom>
          <a:noFill/>
          <a:ln/>
        </p:spPr>
        <p:txBody>
          <a:bodyPr wrap="square" lIns="0" tIns="0" rIns="0" bIns="0" rtlCol="0" anchor="ctr"/>
          <a:lstStyle/>
          <a:p>
            <a:pPr algn="ctr" indent="0" marL="0">
              <a:buNone/>
            </a:pPr>
            <a:r>
              <a:rPr lang="en-US" sz="1200" b="1" dirty="0">
                <a:solidFill>
                  <a:schemeClr val="tx2"/>
                </a:solidFill>
              </a:rPr>
              <a:t>정서적 학대</a:t>
            </a:r>
            <a:endParaRPr lang="en-US" sz="1200" dirty="0"/>
          </a:p>
        </p:txBody>
      </p:sp>
      <p:sp>
        <p:nvSpPr>
          <p:cNvPr id="15" name="Wheel spoke"/>
          <p:cNvSpPr/>
          <p:nvPr/>
        </p:nvSpPr>
        <p:spPr>
          <a:xfrm>
            <a:off x="3913238" y="4754486"/>
            <a:ext cx="1499616" cy="548640"/>
          </a:xfrm>
          <a:prstGeom prst="roundRect">
            <a:avLst>
              <a:gd name="adj" fmla="val 16667"/>
            </a:avLst>
          </a:prstGeom>
          <a:solidFill>
            <a:schemeClr val="bg1"/>
          </a:solidFill>
          <a:ln w="12700">
            <a:solidFill>
              <a:schemeClr val="accent3"/>
            </a:solidFill>
            <a:prstDash val="solid"/>
          </a:ln>
        </p:spPr>
      </p:sp>
      <p:sp>
        <p:nvSpPr>
          <p:cNvPr id="16" name="Text 12"/>
          <p:cNvSpPr txBox="1"/>
          <p:nvPr/>
        </p:nvSpPr>
        <p:spPr>
          <a:xfrm>
            <a:off x="3913238" y="4754486"/>
            <a:ext cx="1499616" cy="548640"/>
          </a:xfrm>
          <a:prstGeom prst="rect">
            <a:avLst/>
          </a:prstGeom>
          <a:noFill/>
          <a:ln/>
        </p:spPr>
        <p:txBody>
          <a:bodyPr wrap="square" lIns="0" tIns="0" rIns="0" bIns="0" rtlCol="0" anchor="ctr"/>
          <a:lstStyle/>
          <a:p>
            <a:pPr algn="ctr" indent="0" marL="0">
              <a:buNone/>
            </a:pPr>
            <a:r>
              <a:rPr lang="en-US" sz="1200" b="1" dirty="0">
                <a:solidFill>
                  <a:schemeClr val="tx2"/>
                </a:solidFill>
              </a:rPr>
              <a:t>고립시키기</a:t>
            </a:r>
            <a:endParaRPr lang="en-US" sz="1200" dirty="0"/>
          </a:p>
        </p:txBody>
      </p:sp>
      <p:sp>
        <p:nvSpPr>
          <p:cNvPr id="17" name="Wheel spoke"/>
          <p:cNvSpPr/>
          <p:nvPr/>
        </p:nvSpPr>
        <p:spPr>
          <a:xfrm>
            <a:off x="2587752" y="5303520"/>
            <a:ext cx="1499616" cy="548640"/>
          </a:xfrm>
          <a:prstGeom prst="roundRect">
            <a:avLst>
              <a:gd name="adj" fmla="val 16667"/>
            </a:avLst>
          </a:prstGeom>
          <a:solidFill>
            <a:schemeClr val="bg1"/>
          </a:solidFill>
          <a:ln w="12700">
            <a:solidFill>
              <a:schemeClr val="accent3"/>
            </a:solidFill>
            <a:prstDash val="solid"/>
          </a:ln>
        </p:spPr>
      </p:sp>
      <p:sp>
        <p:nvSpPr>
          <p:cNvPr id="18" name="Text 14"/>
          <p:cNvSpPr txBox="1"/>
          <p:nvPr/>
        </p:nvSpPr>
        <p:spPr>
          <a:xfrm>
            <a:off x="2587752" y="5303520"/>
            <a:ext cx="1499616" cy="548640"/>
          </a:xfrm>
          <a:prstGeom prst="rect">
            <a:avLst/>
          </a:prstGeom>
          <a:noFill/>
          <a:ln/>
        </p:spPr>
        <p:txBody>
          <a:bodyPr wrap="square" lIns="0" tIns="0" rIns="0" bIns="0" rtlCol="0" anchor="ctr"/>
          <a:lstStyle/>
          <a:p>
            <a:pPr algn="ctr" indent="0" marL="0">
              <a:buNone/>
            </a:pPr>
            <a:r>
              <a:rPr lang="en-US" sz="1200" b="1" dirty="0">
                <a:solidFill>
                  <a:schemeClr val="tx2"/>
                </a:solidFill>
              </a:rPr>
              <a:t>성적 강요</a:t>
            </a:r>
            <a:endParaRPr lang="en-US" sz="1200" dirty="0"/>
          </a:p>
        </p:txBody>
      </p:sp>
      <p:sp>
        <p:nvSpPr>
          <p:cNvPr id="19" name="Wheel spoke"/>
          <p:cNvSpPr/>
          <p:nvPr/>
        </p:nvSpPr>
        <p:spPr>
          <a:xfrm>
            <a:off x="1262266" y="4754486"/>
            <a:ext cx="1499616" cy="548640"/>
          </a:xfrm>
          <a:prstGeom prst="roundRect">
            <a:avLst>
              <a:gd name="adj" fmla="val 16667"/>
            </a:avLst>
          </a:prstGeom>
          <a:solidFill>
            <a:schemeClr val="bg1"/>
          </a:solidFill>
          <a:ln w="12700">
            <a:solidFill>
              <a:schemeClr val="accent3"/>
            </a:solidFill>
            <a:prstDash val="solid"/>
          </a:ln>
        </p:spPr>
      </p:sp>
      <p:sp>
        <p:nvSpPr>
          <p:cNvPr id="20" name="Text 16"/>
          <p:cNvSpPr txBox="1"/>
          <p:nvPr/>
        </p:nvSpPr>
        <p:spPr>
          <a:xfrm>
            <a:off x="1262266" y="4754486"/>
            <a:ext cx="1499616" cy="548640"/>
          </a:xfrm>
          <a:prstGeom prst="rect">
            <a:avLst/>
          </a:prstGeom>
          <a:noFill/>
          <a:ln/>
        </p:spPr>
        <p:txBody>
          <a:bodyPr wrap="square" lIns="0" tIns="0" rIns="0" bIns="0" rtlCol="0" anchor="ctr"/>
          <a:lstStyle/>
          <a:p>
            <a:pPr algn="ctr" indent="0" marL="0">
              <a:buNone/>
            </a:pPr>
            <a:r>
              <a:rPr lang="en-US" sz="1200" b="1" dirty="0">
                <a:solidFill>
                  <a:schemeClr val="tx2"/>
                </a:solidFill>
              </a:rPr>
              <a:t>소문·또래 이용</a:t>
            </a:r>
            <a:endParaRPr lang="en-US" sz="1200" dirty="0"/>
          </a:p>
        </p:txBody>
      </p:sp>
      <p:sp>
        <p:nvSpPr>
          <p:cNvPr id="21" name="Wheel spoke"/>
          <p:cNvSpPr/>
          <p:nvPr/>
        </p:nvSpPr>
        <p:spPr>
          <a:xfrm>
            <a:off x="713232" y="3429000"/>
            <a:ext cx="1499616" cy="548640"/>
          </a:xfrm>
          <a:prstGeom prst="roundRect">
            <a:avLst>
              <a:gd name="adj" fmla="val 16667"/>
            </a:avLst>
          </a:prstGeom>
          <a:solidFill>
            <a:schemeClr val="bg1"/>
          </a:solidFill>
          <a:ln w="12700">
            <a:solidFill>
              <a:schemeClr val="accent3"/>
            </a:solidFill>
            <a:prstDash val="solid"/>
          </a:ln>
        </p:spPr>
      </p:sp>
      <p:sp>
        <p:nvSpPr>
          <p:cNvPr id="22" name="Text 18"/>
          <p:cNvSpPr txBox="1"/>
          <p:nvPr/>
        </p:nvSpPr>
        <p:spPr>
          <a:xfrm>
            <a:off x="713232" y="3429000"/>
            <a:ext cx="1499616" cy="548640"/>
          </a:xfrm>
          <a:prstGeom prst="rect">
            <a:avLst/>
          </a:prstGeom>
          <a:noFill/>
          <a:ln/>
        </p:spPr>
        <p:txBody>
          <a:bodyPr wrap="square" lIns="0" tIns="0" rIns="0" bIns="0" rtlCol="0" anchor="ctr"/>
          <a:lstStyle/>
          <a:p>
            <a:pPr algn="ctr" indent="0" marL="0">
              <a:buNone/>
            </a:pPr>
            <a:r>
              <a:rPr lang="en-US" sz="1200" b="1" dirty="0">
                <a:solidFill>
                  <a:schemeClr val="tx2"/>
                </a:solidFill>
              </a:rPr>
              <a:t>축소·책임 전가</a:t>
            </a:r>
            <a:endParaRPr lang="en-US" sz="1200" dirty="0"/>
          </a:p>
        </p:txBody>
      </p:sp>
      <p:sp>
        <p:nvSpPr>
          <p:cNvPr id="23" name="Wheel spoke"/>
          <p:cNvSpPr/>
          <p:nvPr/>
        </p:nvSpPr>
        <p:spPr>
          <a:xfrm>
            <a:off x="1262266" y="2103514"/>
            <a:ext cx="1499616" cy="548640"/>
          </a:xfrm>
          <a:prstGeom prst="roundRect">
            <a:avLst>
              <a:gd name="adj" fmla="val 16667"/>
            </a:avLst>
          </a:prstGeom>
          <a:solidFill>
            <a:schemeClr val="bg1"/>
          </a:solidFill>
          <a:ln w="12700">
            <a:solidFill>
              <a:schemeClr val="accent3"/>
            </a:solidFill>
            <a:prstDash val="solid"/>
          </a:ln>
        </p:spPr>
      </p:sp>
      <p:sp>
        <p:nvSpPr>
          <p:cNvPr id="24" name="Text 20"/>
          <p:cNvSpPr txBox="1"/>
          <p:nvPr/>
        </p:nvSpPr>
        <p:spPr>
          <a:xfrm>
            <a:off x="1262266" y="2103514"/>
            <a:ext cx="1499616" cy="548640"/>
          </a:xfrm>
          <a:prstGeom prst="rect">
            <a:avLst/>
          </a:prstGeom>
          <a:noFill/>
          <a:ln/>
        </p:spPr>
        <p:txBody>
          <a:bodyPr wrap="square" lIns="0" tIns="0" rIns="0" bIns="0" rtlCol="0" anchor="ctr"/>
          <a:lstStyle/>
          <a:p>
            <a:pPr algn="ctr" indent="0" marL="0">
              <a:buNone/>
            </a:pPr>
            <a:r>
              <a:rPr lang="en-US" sz="1200" b="1" dirty="0">
                <a:solidFill>
                  <a:schemeClr val="tx2"/>
                </a:solidFill>
              </a:rPr>
              <a:t>경제적 통제</a:t>
            </a:r>
            <a:endParaRPr lang="en-US" sz="1200" dirty="0"/>
          </a:p>
        </p:txBody>
      </p:sp>
      <p:sp>
        <p:nvSpPr>
          <p:cNvPr id="25" name="Card"/>
          <p:cNvSpPr/>
          <p:nvPr/>
        </p:nvSpPr>
        <p:spPr>
          <a:xfrm>
            <a:off x="6492240" y="1417320"/>
            <a:ext cx="5120640" cy="1371600"/>
          </a:xfrm>
          <a:prstGeom prst="roundRect">
            <a:avLst>
              <a:gd name="adj" fmla="val 1333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6" name="Text 22"/>
          <p:cNvSpPr txBox="1"/>
          <p:nvPr/>
        </p:nvSpPr>
        <p:spPr>
          <a:xfrm>
            <a:off x="6720840" y="1527048"/>
            <a:ext cx="4663440" cy="365760"/>
          </a:xfrm>
          <a:prstGeom prst="rect">
            <a:avLst/>
          </a:prstGeom>
          <a:noFill/>
          <a:ln/>
        </p:spPr>
        <p:txBody>
          <a:bodyPr wrap="square" lIns="0" tIns="0" rIns="0" bIns="0" rtlCol="0" anchor="ctr"/>
          <a:lstStyle/>
          <a:p>
            <a:pPr indent="0" marL="0">
              <a:buNone/>
            </a:pPr>
            <a:r>
              <a:rPr lang="en-US" sz="1600" b="1" dirty="0">
                <a:solidFill>
                  <a:schemeClr val="accent1"/>
                </a:solidFill>
              </a:rPr>
              <a:t>바퀴살 = 일상의 통제</a:t>
            </a:r>
            <a:endParaRPr lang="en-US" sz="1600" dirty="0"/>
          </a:p>
        </p:txBody>
      </p:sp>
      <p:sp>
        <p:nvSpPr>
          <p:cNvPr id="27" name="Text 23"/>
          <p:cNvSpPr txBox="1"/>
          <p:nvPr/>
        </p:nvSpPr>
        <p:spPr>
          <a:xfrm>
            <a:off x="6720840" y="1920240"/>
            <a:ext cx="4663440" cy="822960"/>
          </a:xfrm>
          <a:prstGeom prst="rect">
            <a:avLst/>
          </a:prstGeom>
          <a:noFill/>
          <a:ln/>
        </p:spPr>
        <p:txBody>
          <a:bodyPr wrap="square" lIns="0" tIns="0" rIns="0" bIns="0" rtlCol="0" anchor="t"/>
          <a:lstStyle/>
          <a:p>
            <a:pPr indent="0" marL="0">
              <a:buNone/>
            </a:pPr>
            <a:r>
              <a:rPr lang="en-US" sz="1300" dirty="0">
                <a:solidFill>
                  <a:schemeClr val="tx1"/>
                </a:solidFill>
              </a:rPr>
              <a:t>“어디야? 사진 찍어 보내” / “걔랑 놀지 마” / “너 때문에 이렇게 된 거야” — 하나씩 보면 사소해 보입니다.</a:t>
            </a:r>
            <a:endParaRPr lang="en-US" sz="1300" dirty="0"/>
          </a:p>
        </p:txBody>
      </p:sp>
      <p:sp>
        <p:nvSpPr>
          <p:cNvPr id="28" name="Card"/>
          <p:cNvSpPr/>
          <p:nvPr/>
        </p:nvSpPr>
        <p:spPr>
          <a:xfrm>
            <a:off x="6492240" y="2926080"/>
            <a:ext cx="5120640" cy="1371600"/>
          </a:xfrm>
          <a:prstGeom prst="roundRect">
            <a:avLst>
              <a:gd name="adj" fmla="val 1333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9" name="Text 25"/>
          <p:cNvSpPr txBox="1"/>
          <p:nvPr/>
        </p:nvSpPr>
        <p:spPr>
          <a:xfrm>
            <a:off x="6720840" y="3035808"/>
            <a:ext cx="4663440" cy="365760"/>
          </a:xfrm>
          <a:prstGeom prst="rect">
            <a:avLst/>
          </a:prstGeom>
          <a:noFill/>
          <a:ln/>
        </p:spPr>
        <p:txBody>
          <a:bodyPr wrap="square" lIns="0" tIns="0" rIns="0" bIns="0" rtlCol="0" anchor="ctr"/>
          <a:lstStyle/>
          <a:p>
            <a:pPr indent="0" marL="0">
              <a:buNone/>
            </a:pPr>
            <a:r>
              <a:rPr lang="en-US" sz="1600" b="1" dirty="0">
                <a:solidFill>
                  <a:schemeClr val="accent1"/>
                </a:solidFill>
              </a:rPr>
              <a:t>테두리 = 신체·성적 폭력</a:t>
            </a:r>
            <a:endParaRPr lang="en-US" sz="1600" dirty="0"/>
          </a:p>
        </p:txBody>
      </p:sp>
      <p:sp>
        <p:nvSpPr>
          <p:cNvPr id="30" name="Text 26"/>
          <p:cNvSpPr txBox="1"/>
          <p:nvPr/>
        </p:nvSpPr>
        <p:spPr>
          <a:xfrm>
            <a:off x="6720840" y="3429000"/>
            <a:ext cx="4663440" cy="822960"/>
          </a:xfrm>
          <a:prstGeom prst="rect">
            <a:avLst/>
          </a:prstGeom>
          <a:noFill/>
          <a:ln/>
        </p:spPr>
        <p:txBody>
          <a:bodyPr wrap="square" lIns="0" tIns="0" rIns="0" bIns="0" rtlCol="0" anchor="t"/>
          <a:lstStyle/>
          <a:p>
            <a:pPr indent="0" marL="0">
              <a:buNone/>
            </a:pPr>
            <a:r>
              <a:rPr lang="en-US" sz="1300" dirty="0">
                <a:solidFill>
                  <a:schemeClr val="tx1"/>
                </a:solidFill>
              </a:rPr>
              <a:t>가끔 일어나도 ‘또 그럴 수 있다’는 두려움이 모든 통제를 단단하게 만듭니다.</a:t>
            </a:r>
            <a:endParaRPr lang="en-US" sz="1300" dirty="0"/>
          </a:p>
        </p:txBody>
      </p:sp>
      <p:sp>
        <p:nvSpPr>
          <p:cNvPr id="31" name="Card"/>
          <p:cNvSpPr/>
          <p:nvPr/>
        </p:nvSpPr>
        <p:spPr>
          <a:xfrm>
            <a:off x="6492240" y="4434840"/>
            <a:ext cx="5120640" cy="1371600"/>
          </a:xfrm>
          <a:prstGeom prst="roundRect">
            <a:avLst>
              <a:gd name="adj" fmla="val 1333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32" name="Text 28"/>
          <p:cNvSpPr txBox="1"/>
          <p:nvPr/>
        </p:nvSpPr>
        <p:spPr>
          <a:xfrm>
            <a:off x="6720840" y="4544568"/>
            <a:ext cx="4663440" cy="365760"/>
          </a:xfrm>
          <a:prstGeom prst="rect">
            <a:avLst/>
          </a:prstGeom>
          <a:noFill/>
          <a:ln/>
        </p:spPr>
        <p:txBody>
          <a:bodyPr wrap="square" lIns="0" tIns="0" rIns="0" bIns="0" rtlCol="0" anchor="ctr"/>
          <a:lstStyle/>
          <a:p>
            <a:pPr indent="0" marL="0">
              <a:buNone/>
            </a:pPr>
            <a:r>
              <a:rPr lang="en-US" sz="1600" b="1" dirty="0">
                <a:solidFill>
                  <a:schemeClr val="accent1"/>
                </a:solidFill>
              </a:rPr>
              <a:t>바퀴가 굴러가면</a:t>
            </a:r>
            <a:endParaRPr lang="en-US" sz="1600" dirty="0"/>
          </a:p>
        </p:txBody>
      </p:sp>
      <p:sp>
        <p:nvSpPr>
          <p:cNvPr id="33" name="Text 29"/>
          <p:cNvSpPr txBox="1"/>
          <p:nvPr/>
        </p:nvSpPr>
        <p:spPr>
          <a:xfrm>
            <a:off x="6720840" y="4937760"/>
            <a:ext cx="4663440" cy="822960"/>
          </a:xfrm>
          <a:prstGeom prst="rect">
            <a:avLst/>
          </a:prstGeom>
          <a:noFill/>
          <a:ln/>
        </p:spPr>
        <p:txBody>
          <a:bodyPr wrap="square" lIns="0" tIns="0" rIns="0" bIns="0" rtlCol="0" anchor="t"/>
          <a:lstStyle/>
          <a:p>
            <a:pPr indent="0" marL="0">
              <a:buNone/>
            </a:pPr>
            <a:r>
              <a:rPr lang="en-US" sz="1300" dirty="0">
                <a:solidFill>
                  <a:schemeClr val="tx1"/>
                </a:solidFill>
              </a:rPr>
              <a:t>피해자는 점점 친구를 잃고, 스스로를 탓하며, 벗어나기 어려워집니다.</a:t>
            </a:r>
            <a:endParaRPr lang="en-US" sz="1300" dirty="0"/>
          </a:p>
        </p:txBody>
      </p:sp>
      <p:sp>
        <p:nvSpPr>
          <p:cNvPr id="34"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Domestic Abuse Intervention Programs, Power and Control Wheel(Duluth, 1984)을 청소년 교제 상황에 맞게 재구성</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약속과 신뢰를 깨뜨리는 말: 강압적 통제</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3. 폭력 유형</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6035040" cy="914400"/>
          </a:xfrm>
          <a:prstGeom prst="roundRect">
            <a:avLst>
              <a:gd name="adj" fmla="val 20000"/>
            </a:avLst>
          </a:prstGeom>
          <a:solidFill>
            <a:schemeClr val="bg1"/>
          </a:solidFill>
          <a:ln w="15875">
            <a:solidFill>
              <a:srgbClr val="B98AA8"/>
            </a:solidFill>
            <a:prstDash val="dash"/>
          </a:ln>
          <a:effectLst>
            <a:outerShdw sx="100000" sy="100000" kx="0" ky="0" algn="bl" rotWithShape="0" blurRad="101600" dist="25400" dir="5400000">
              <a:srgbClr val="4A1D3F">
                <a:alpha val="10000"/>
              </a:srgbClr>
            </a:outerShdw>
          </a:effectLst>
        </p:spPr>
      </p:sp>
      <p:pic>
        <p:nvPicPr>
          <p:cNvPr id="7" name="Quote icon" descr="preencoded.png">    </p:cNvPr>
          <p:cNvPicPr>
            <a:picLocks noChangeAspect="1"/>
          </p:cNvPicPr>
          <p:nvPr/>
        </p:nvPicPr>
        <p:blipFill>
          <a:blip r:embed="rId2"/>
          <a:stretch>
            <a:fillRect/>
          </a:stretch>
        </p:blipFill>
        <p:spPr>
          <a:xfrm>
            <a:off x="777240" y="1673352"/>
            <a:ext cx="411480" cy="411480"/>
          </a:xfrm>
          <a:prstGeom prst="rect">
            <a:avLst/>
          </a:prstGeom>
        </p:spPr>
      </p:pic>
      <p:sp>
        <p:nvSpPr>
          <p:cNvPr id="8" name="Text 3"/>
          <p:cNvSpPr txBox="1"/>
          <p:nvPr/>
        </p:nvSpPr>
        <p:spPr>
          <a:xfrm>
            <a:off x="1371600" y="1417320"/>
            <a:ext cx="5120640" cy="914400"/>
          </a:xfrm>
          <a:prstGeom prst="rect">
            <a:avLst/>
          </a:prstGeom>
          <a:noFill/>
          <a:ln/>
        </p:spPr>
        <p:txBody>
          <a:bodyPr wrap="square" lIns="0" tIns="0" rIns="0" bIns="0" rtlCol="0" anchor="ctr"/>
          <a:lstStyle/>
          <a:p>
            <a:pPr indent="0" marL="0">
              <a:buNone/>
            </a:pPr>
            <a:r>
              <a:rPr lang="en-US" sz="1700" dirty="0">
                <a:solidFill>
                  <a:schemeClr val="tx1"/>
                </a:solidFill>
              </a:rPr>
              <a:t>“너 때문에 내가 이러는 거잖아.”</a:t>
            </a:r>
            <a:endParaRPr lang="en-US" sz="1700" dirty="0"/>
          </a:p>
        </p:txBody>
      </p:sp>
      <p:sp>
        <p:nvSpPr>
          <p:cNvPr id="9" name="Card"/>
          <p:cNvSpPr/>
          <p:nvPr/>
        </p:nvSpPr>
        <p:spPr>
          <a:xfrm>
            <a:off x="548640" y="2514600"/>
            <a:ext cx="6035040" cy="914400"/>
          </a:xfrm>
          <a:prstGeom prst="roundRect">
            <a:avLst>
              <a:gd name="adj" fmla="val 20000"/>
            </a:avLst>
          </a:prstGeom>
          <a:solidFill>
            <a:schemeClr val="bg1"/>
          </a:solidFill>
          <a:ln w="15875">
            <a:solidFill>
              <a:srgbClr val="B98AA8"/>
            </a:solidFill>
            <a:prstDash val="dash"/>
          </a:ln>
          <a:effectLst>
            <a:outerShdw sx="100000" sy="100000" kx="0" ky="0" algn="bl" rotWithShape="0" blurRad="101600" dist="25400" dir="5400000">
              <a:srgbClr val="4A1D3F">
                <a:alpha val="10000"/>
              </a:srgbClr>
            </a:outerShdw>
          </a:effectLst>
        </p:spPr>
      </p:sp>
      <p:pic>
        <p:nvPicPr>
          <p:cNvPr id="10" name="Quote icon" descr="preencoded.png">    </p:cNvPr>
          <p:cNvPicPr>
            <a:picLocks noChangeAspect="1"/>
          </p:cNvPicPr>
          <p:nvPr/>
        </p:nvPicPr>
        <p:blipFill>
          <a:blip r:embed="rId3"/>
          <a:stretch>
            <a:fillRect/>
          </a:stretch>
        </p:blipFill>
        <p:spPr>
          <a:xfrm>
            <a:off x="777240" y="2770632"/>
            <a:ext cx="411480" cy="411480"/>
          </a:xfrm>
          <a:prstGeom prst="rect">
            <a:avLst/>
          </a:prstGeom>
        </p:spPr>
      </p:pic>
      <p:sp>
        <p:nvSpPr>
          <p:cNvPr id="11" name="Text 5"/>
          <p:cNvSpPr txBox="1"/>
          <p:nvPr/>
        </p:nvSpPr>
        <p:spPr>
          <a:xfrm>
            <a:off x="1371600" y="2514600"/>
            <a:ext cx="5120640" cy="914400"/>
          </a:xfrm>
          <a:prstGeom prst="rect">
            <a:avLst/>
          </a:prstGeom>
          <a:noFill/>
          <a:ln/>
        </p:spPr>
        <p:txBody>
          <a:bodyPr wrap="square" lIns="0" tIns="0" rIns="0" bIns="0" rtlCol="0" anchor="ctr"/>
          <a:lstStyle/>
          <a:p>
            <a:pPr indent="0" marL="0">
              <a:buNone/>
            </a:pPr>
            <a:r>
              <a:rPr lang="en-US" sz="1700" dirty="0">
                <a:solidFill>
                  <a:schemeClr val="tx1"/>
                </a:solidFill>
              </a:rPr>
              <a:t>“비밀번호 알려줘. 숨길 거 없으면.”</a:t>
            </a:r>
            <a:endParaRPr lang="en-US" sz="1700" dirty="0"/>
          </a:p>
        </p:txBody>
      </p:sp>
      <p:sp>
        <p:nvSpPr>
          <p:cNvPr id="12" name="Card"/>
          <p:cNvSpPr/>
          <p:nvPr/>
        </p:nvSpPr>
        <p:spPr>
          <a:xfrm>
            <a:off x="548640" y="3611880"/>
            <a:ext cx="6035040" cy="914400"/>
          </a:xfrm>
          <a:prstGeom prst="roundRect">
            <a:avLst>
              <a:gd name="adj" fmla="val 20000"/>
            </a:avLst>
          </a:prstGeom>
          <a:solidFill>
            <a:schemeClr val="bg1"/>
          </a:solidFill>
          <a:ln w="15875">
            <a:solidFill>
              <a:srgbClr val="B98AA8"/>
            </a:solidFill>
            <a:prstDash val="dash"/>
          </a:ln>
          <a:effectLst>
            <a:outerShdw sx="100000" sy="100000" kx="0" ky="0" algn="bl" rotWithShape="0" blurRad="101600" dist="25400" dir="5400000">
              <a:srgbClr val="4A1D3F">
                <a:alpha val="10000"/>
              </a:srgbClr>
            </a:outerShdw>
          </a:effectLst>
        </p:spPr>
      </p:sp>
      <p:pic>
        <p:nvPicPr>
          <p:cNvPr id="13" name="Quote icon" descr="preencoded.png">    </p:cNvPr>
          <p:cNvPicPr>
            <a:picLocks noChangeAspect="1"/>
          </p:cNvPicPr>
          <p:nvPr/>
        </p:nvPicPr>
        <p:blipFill>
          <a:blip r:embed="rId4"/>
          <a:stretch>
            <a:fillRect/>
          </a:stretch>
        </p:blipFill>
        <p:spPr>
          <a:xfrm>
            <a:off x="777240" y="3867912"/>
            <a:ext cx="411480" cy="411480"/>
          </a:xfrm>
          <a:prstGeom prst="rect">
            <a:avLst/>
          </a:prstGeom>
        </p:spPr>
      </p:pic>
      <p:sp>
        <p:nvSpPr>
          <p:cNvPr id="14" name="Text 7"/>
          <p:cNvSpPr txBox="1"/>
          <p:nvPr/>
        </p:nvSpPr>
        <p:spPr>
          <a:xfrm>
            <a:off x="1371600" y="3611880"/>
            <a:ext cx="5120640" cy="914400"/>
          </a:xfrm>
          <a:prstGeom prst="rect">
            <a:avLst/>
          </a:prstGeom>
          <a:noFill/>
          <a:ln/>
        </p:spPr>
        <p:txBody>
          <a:bodyPr wrap="square" lIns="0" tIns="0" rIns="0" bIns="0" rtlCol="0" anchor="ctr"/>
          <a:lstStyle/>
          <a:p>
            <a:pPr indent="0" marL="0">
              <a:buNone/>
            </a:pPr>
            <a:r>
              <a:rPr lang="en-US" sz="1700" dirty="0">
                <a:solidFill>
                  <a:schemeClr val="tx1"/>
                </a:solidFill>
              </a:rPr>
              <a:t>“걔랑 연락하지 마. 나만 보면 되잖아.”</a:t>
            </a:r>
            <a:endParaRPr lang="en-US" sz="1700" dirty="0"/>
          </a:p>
        </p:txBody>
      </p:sp>
      <p:sp>
        <p:nvSpPr>
          <p:cNvPr id="15" name="Card"/>
          <p:cNvSpPr/>
          <p:nvPr/>
        </p:nvSpPr>
        <p:spPr>
          <a:xfrm>
            <a:off x="548640" y="4709160"/>
            <a:ext cx="6035040" cy="914400"/>
          </a:xfrm>
          <a:prstGeom prst="roundRect">
            <a:avLst>
              <a:gd name="adj" fmla="val 20000"/>
            </a:avLst>
          </a:prstGeom>
          <a:solidFill>
            <a:schemeClr val="bg1"/>
          </a:solidFill>
          <a:ln w="15875">
            <a:solidFill>
              <a:srgbClr val="B98AA8"/>
            </a:solidFill>
            <a:prstDash val="dash"/>
          </a:ln>
          <a:effectLst>
            <a:outerShdw sx="100000" sy="100000" kx="0" ky="0" algn="bl" rotWithShape="0" blurRad="101600" dist="25400" dir="5400000">
              <a:srgbClr val="4A1D3F">
                <a:alpha val="10000"/>
              </a:srgbClr>
            </a:outerShdw>
          </a:effectLst>
        </p:spPr>
      </p:sp>
      <p:pic>
        <p:nvPicPr>
          <p:cNvPr id="16" name="Quote icon" descr="preencoded.png">    </p:cNvPr>
          <p:cNvPicPr>
            <a:picLocks noChangeAspect="1"/>
          </p:cNvPicPr>
          <p:nvPr/>
        </p:nvPicPr>
        <p:blipFill>
          <a:blip r:embed="rId5"/>
          <a:stretch>
            <a:fillRect/>
          </a:stretch>
        </p:blipFill>
        <p:spPr>
          <a:xfrm>
            <a:off x="777240" y="4965192"/>
            <a:ext cx="411480" cy="411480"/>
          </a:xfrm>
          <a:prstGeom prst="rect">
            <a:avLst/>
          </a:prstGeom>
        </p:spPr>
      </p:pic>
      <p:sp>
        <p:nvSpPr>
          <p:cNvPr id="17" name="Text 9"/>
          <p:cNvSpPr txBox="1"/>
          <p:nvPr/>
        </p:nvSpPr>
        <p:spPr>
          <a:xfrm>
            <a:off x="1371600" y="4709160"/>
            <a:ext cx="5120640" cy="914400"/>
          </a:xfrm>
          <a:prstGeom prst="rect">
            <a:avLst/>
          </a:prstGeom>
          <a:noFill/>
          <a:ln/>
        </p:spPr>
        <p:txBody>
          <a:bodyPr wrap="square" lIns="0" tIns="0" rIns="0" bIns="0" rtlCol="0" anchor="ctr"/>
          <a:lstStyle/>
          <a:p>
            <a:pPr indent="0" marL="0">
              <a:buNone/>
            </a:pPr>
            <a:r>
              <a:rPr lang="en-US" sz="1700" dirty="0">
                <a:solidFill>
                  <a:schemeClr val="tx1"/>
                </a:solidFill>
              </a:rPr>
              <a:t>“헤어지자고 하면 사진 다 올릴 거야.”</a:t>
            </a:r>
            <a:endParaRPr lang="en-US" sz="1700" dirty="0"/>
          </a:p>
        </p:txBody>
      </p:sp>
      <p:sp>
        <p:nvSpPr>
          <p:cNvPr id="18" name="Card"/>
          <p:cNvSpPr/>
          <p:nvPr/>
        </p:nvSpPr>
        <p:spPr>
          <a:xfrm>
            <a:off x="6949440" y="1417320"/>
            <a:ext cx="4663440" cy="4206240"/>
          </a:xfrm>
          <a:prstGeom prst="roundRect">
            <a:avLst>
              <a:gd name="adj" fmla="val 4348"/>
            </a:avLst>
          </a:prstGeom>
          <a:solidFill>
            <a:schemeClr val="tx2"/>
          </a:solidFill>
          <a:ln/>
          <a:effectLst>
            <a:outerShdw sx="100000" sy="100000" kx="0" ky="0" algn="bl" rotWithShape="0" blurRad="101600" dist="25400" dir="5400000">
              <a:srgbClr val="4A1D3F">
                <a:alpha val="28000"/>
              </a:srgbClr>
            </a:outerShdw>
          </a:effectLst>
        </p:spPr>
      </p:sp>
      <p:sp>
        <p:nvSpPr>
          <p:cNvPr id="19" name="Text 11"/>
          <p:cNvSpPr txBox="1"/>
          <p:nvPr/>
        </p:nvSpPr>
        <p:spPr>
          <a:xfrm>
            <a:off x="7223760" y="1600200"/>
            <a:ext cx="4206240" cy="457200"/>
          </a:xfrm>
          <a:prstGeom prst="rect">
            <a:avLst/>
          </a:prstGeom>
          <a:noFill/>
          <a:ln/>
        </p:spPr>
        <p:txBody>
          <a:bodyPr wrap="square" lIns="0" tIns="0" rIns="0" bIns="0" rtlCol="0" anchor="ctr"/>
          <a:lstStyle/>
          <a:p>
            <a:pPr indent="0" marL="0">
              <a:buNone/>
            </a:pPr>
            <a:r>
              <a:rPr lang="en-US" sz="1800" b="1" dirty="0">
                <a:solidFill>
                  <a:schemeClr val="accent1"/>
                </a:solidFill>
              </a:rPr>
              <a:t>강압적 통제 (Coercive Control)</a:t>
            </a:r>
            <a:endParaRPr lang="en-US" sz="1800" dirty="0"/>
          </a:p>
        </p:txBody>
      </p:sp>
      <p:sp>
        <p:nvSpPr>
          <p:cNvPr id="20" name="Text 12"/>
          <p:cNvSpPr txBox="1"/>
          <p:nvPr/>
        </p:nvSpPr>
        <p:spPr>
          <a:xfrm>
            <a:off x="7223760" y="2103120"/>
            <a:ext cx="4206240" cy="1097280"/>
          </a:xfrm>
          <a:prstGeom prst="rect">
            <a:avLst/>
          </a:prstGeom>
          <a:noFill/>
          <a:ln/>
        </p:spPr>
        <p:txBody>
          <a:bodyPr wrap="square" lIns="0" tIns="0" rIns="0" bIns="0" rtlCol="0" anchor="t"/>
          <a:lstStyle/>
          <a:p>
            <a:pPr indent="0" marL="0">
              <a:buNone/>
            </a:pPr>
            <a:r>
              <a:rPr lang="en-US" sz="1500" dirty="0">
                <a:solidFill>
                  <a:schemeClr val="bg1"/>
                </a:solidFill>
              </a:rPr>
              <a:t>때리지 않아도 감시·고립·위협·모욕을 반복해 상대의 자유와 자존감을 빼앗는 행동의 패턴</a:t>
            </a:r>
            <a:endParaRPr lang="en-US" sz="1500" dirty="0"/>
          </a:p>
        </p:txBody>
      </p:sp>
      <p:sp>
        <p:nvSpPr>
          <p:cNvPr id="21" name="Text 13"/>
          <p:cNvSpPr txBox="1"/>
          <p:nvPr/>
        </p:nvSpPr>
        <p:spPr>
          <a:xfrm>
            <a:off x="7223760" y="3291840"/>
            <a:ext cx="4206240" cy="2194560"/>
          </a:xfrm>
          <a:prstGeom prst="rect">
            <a:avLst/>
          </a:prstGeom>
          <a:noFill/>
          <a:ln/>
        </p:spPr>
        <p:txBody>
          <a:bodyPr wrap="square" rtlCol="0" anchor="t"/>
          <a:lstStyle/>
          <a:p>
            <a:pPr marL="342900" indent="-342900">
              <a:spcAft>
                <a:spcPts val="800"/>
              </a:spcAft>
              <a:buSzPct val="100000"/>
              <a:buChar char="•"/>
            </a:pPr>
            <a:r>
              <a:rPr lang="en-US" sz="1400" dirty="0">
                <a:solidFill>
                  <a:schemeClr val="accent3"/>
                </a:solidFill>
              </a:rPr>
              <a:t>하나의 사건이 아니라 ‘패턴’으로 봐야 보입니다</a:t>
            </a:r>
            <a:endParaRPr lang="en-US" sz="1400" dirty="0"/>
          </a:p>
          <a:p>
            <a:pPr marL="342900" indent="-342900">
              <a:spcAft>
                <a:spcPts val="800"/>
              </a:spcAft>
              <a:buSzPct val="100000"/>
              <a:buChar char="•"/>
            </a:pPr>
            <a:r>
              <a:rPr lang="en-US" sz="1400" dirty="0">
                <a:solidFill>
                  <a:schemeClr val="accent3"/>
                </a:solidFill>
              </a:rPr>
              <a:t>영국: 2015년 범죄로 규정 (최대 징역 5년)</a:t>
            </a:r>
            <a:endParaRPr lang="en-US" sz="1400" dirty="0"/>
          </a:p>
          <a:p>
            <a:pPr marL="342900" indent="-342900">
              <a:spcAft>
                <a:spcPts val="800"/>
              </a:spcAft>
              <a:buSzPct val="100000"/>
              <a:buChar char="•"/>
            </a:pPr>
            <a:r>
              <a:rPr lang="en-US" sz="1400" dirty="0">
                <a:solidFill>
                  <a:schemeClr val="accent3"/>
                </a:solidFill>
              </a:rPr>
              <a:t>한국: 아직 처벌 규정 없음, 도입 논의 중</a:t>
            </a:r>
            <a:endParaRPr lang="en-US" sz="1400" dirty="0"/>
          </a:p>
        </p:txBody>
      </p:sp>
      <p:sp>
        <p:nvSpPr>
          <p:cNvPr id="22" name="Tagline"/>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500" b="1" i="1" dirty="0">
                <a:solidFill>
                  <a:schemeClr val="accent1"/>
                </a:solidFill>
              </a:rPr>
              <a:t>신뢰는 감시로 얻는 것이 아니라 약속을 지키는 것으로 쌓입니다</a:t>
            </a:r>
            <a:endParaRPr lang="en-US" sz="1500" dirty="0"/>
          </a:p>
        </p:txBody>
      </p:sp>
      <p:sp>
        <p:nvSpPr>
          <p:cNvPr id="23"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Stark, E.(2007) Coercive Control · UK Serious Crime Act 2015 s.76 · 한국형사정책연구원 「형사정책연구」 제32권 제2호</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10대 곁의 폭력: 디지털 교제폭력</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3. 폭력 유형</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4937760" cy="978408"/>
          </a:xfrm>
          <a:prstGeom prst="roundRect">
            <a:avLst>
              <a:gd name="adj" fmla="val 18692"/>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Icon circle"/>
          <p:cNvSpPr/>
          <p:nvPr/>
        </p:nvSpPr>
        <p:spPr>
          <a:xfrm>
            <a:off x="731520" y="1581912"/>
            <a:ext cx="640080" cy="640080"/>
          </a:xfrm>
          <a:prstGeom prst="ellipse">
            <a:avLst/>
          </a:prstGeom>
          <a:solidFill>
            <a:schemeClr val="tx2"/>
          </a:solidFill>
          <a:ln/>
        </p:spPr>
      </p:sp>
      <p:pic>
        <p:nvPicPr>
          <p:cNvPr id="8" name="Icon" descr="preencoded.png">    </p:cNvPr>
          <p:cNvPicPr>
            <a:picLocks noChangeAspect="1"/>
          </p:cNvPicPr>
          <p:nvPr/>
        </p:nvPicPr>
        <p:blipFill>
          <a:blip r:embed="rId2"/>
          <a:stretch>
            <a:fillRect/>
          </a:stretch>
        </p:blipFill>
        <p:spPr>
          <a:xfrm>
            <a:off x="910742" y="1761134"/>
            <a:ext cx="281635" cy="281635"/>
          </a:xfrm>
          <a:prstGeom prst="rect">
            <a:avLst/>
          </a:prstGeom>
        </p:spPr>
      </p:pic>
      <p:sp>
        <p:nvSpPr>
          <p:cNvPr id="9" name="Text 4"/>
          <p:cNvSpPr txBox="1"/>
          <p:nvPr/>
        </p:nvSpPr>
        <p:spPr>
          <a:xfrm>
            <a:off x="1554480" y="1508760"/>
            <a:ext cx="3749040" cy="384048"/>
          </a:xfrm>
          <a:prstGeom prst="rect">
            <a:avLst/>
          </a:prstGeom>
          <a:noFill/>
          <a:ln/>
        </p:spPr>
        <p:txBody>
          <a:bodyPr wrap="square" lIns="0" tIns="0" rIns="0" bIns="0" rtlCol="0" anchor="ctr"/>
          <a:lstStyle/>
          <a:p>
            <a:pPr indent="0" marL="0">
              <a:buNone/>
            </a:pPr>
            <a:r>
              <a:rPr lang="en-US" sz="1600" b="1" dirty="0">
                <a:solidFill>
                  <a:schemeClr val="tx2"/>
                </a:solidFill>
              </a:rPr>
              <a:t>위치 공유 강요</a:t>
            </a:r>
            <a:endParaRPr lang="en-US" sz="1600" dirty="0"/>
          </a:p>
        </p:txBody>
      </p:sp>
      <p:sp>
        <p:nvSpPr>
          <p:cNvPr id="10" name="Text 5"/>
          <p:cNvSpPr txBox="1"/>
          <p:nvPr/>
        </p:nvSpPr>
        <p:spPr>
          <a:xfrm>
            <a:off x="1554480" y="1892808"/>
            <a:ext cx="3749040" cy="411480"/>
          </a:xfrm>
          <a:prstGeom prst="rect">
            <a:avLst/>
          </a:prstGeom>
          <a:noFill/>
          <a:ln/>
        </p:spPr>
        <p:txBody>
          <a:bodyPr wrap="square" lIns="0" tIns="0" rIns="0" bIns="0" rtlCol="0" anchor="ctr"/>
          <a:lstStyle/>
          <a:p>
            <a:pPr indent="0" marL="0">
              <a:buNone/>
            </a:pPr>
            <a:r>
              <a:rPr lang="en-US" sz="1300" dirty="0">
                <a:solidFill>
                  <a:schemeClr val="tx1"/>
                </a:solidFill>
              </a:rPr>
              <a:t>끄면 화내고, 어디인지 사진 인증 요구</a:t>
            </a:r>
            <a:endParaRPr lang="en-US" sz="1300" dirty="0"/>
          </a:p>
        </p:txBody>
      </p:sp>
      <p:sp>
        <p:nvSpPr>
          <p:cNvPr id="11" name="Card"/>
          <p:cNvSpPr/>
          <p:nvPr/>
        </p:nvSpPr>
        <p:spPr>
          <a:xfrm>
            <a:off x="548640" y="2532888"/>
            <a:ext cx="4937760" cy="978408"/>
          </a:xfrm>
          <a:prstGeom prst="roundRect">
            <a:avLst>
              <a:gd name="adj" fmla="val 18692"/>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2" name="Icon circle"/>
          <p:cNvSpPr/>
          <p:nvPr/>
        </p:nvSpPr>
        <p:spPr>
          <a:xfrm>
            <a:off x="731520" y="2697480"/>
            <a:ext cx="640080" cy="640080"/>
          </a:xfrm>
          <a:prstGeom prst="ellipse">
            <a:avLst/>
          </a:prstGeom>
          <a:solidFill>
            <a:schemeClr val="tx2"/>
          </a:solidFill>
          <a:ln/>
        </p:spPr>
      </p:sp>
      <p:pic>
        <p:nvPicPr>
          <p:cNvPr id="13" name="Icon" descr="preencoded.png">    </p:cNvPr>
          <p:cNvPicPr>
            <a:picLocks noChangeAspect="1"/>
          </p:cNvPicPr>
          <p:nvPr/>
        </p:nvPicPr>
        <p:blipFill>
          <a:blip r:embed="rId3"/>
          <a:stretch>
            <a:fillRect/>
          </a:stretch>
        </p:blipFill>
        <p:spPr>
          <a:xfrm>
            <a:off x="910742" y="2876702"/>
            <a:ext cx="281635" cy="281635"/>
          </a:xfrm>
          <a:prstGeom prst="rect">
            <a:avLst/>
          </a:prstGeom>
        </p:spPr>
      </p:pic>
      <p:sp>
        <p:nvSpPr>
          <p:cNvPr id="14" name="Text 8"/>
          <p:cNvSpPr txBox="1"/>
          <p:nvPr/>
        </p:nvSpPr>
        <p:spPr>
          <a:xfrm>
            <a:off x="1554480" y="2624328"/>
            <a:ext cx="3749040" cy="384048"/>
          </a:xfrm>
          <a:prstGeom prst="rect">
            <a:avLst/>
          </a:prstGeom>
          <a:noFill/>
          <a:ln/>
        </p:spPr>
        <p:txBody>
          <a:bodyPr wrap="square" lIns="0" tIns="0" rIns="0" bIns="0" rtlCol="0" anchor="ctr"/>
          <a:lstStyle/>
          <a:p>
            <a:pPr indent="0" marL="0">
              <a:buNone/>
            </a:pPr>
            <a:r>
              <a:rPr lang="en-US" sz="1600" b="1" dirty="0">
                <a:solidFill>
                  <a:schemeClr val="tx2"/>
                </a:solidFill>
              </a:rPr>
              <a:t>메신저·DM 검사</a:t>
            </a:r>
            <a:endParaRPr lang="en-US" sz="1600" dirty="0"/>
          </a:p>
        </p:txBody>
      </p:sp>
      <p:sp>
        <p:nvSpPr>
          <p:cNvPr id="15" name="Text 9"/>
          <p:cNvSpPr txBox="1"/>
          <p:nvPr/>
        </p:nvSpPr>
        <p:spPr>
          <a:xfrm>
            <a:off x="1554480" y="3008376"/>
            <a:ext cx="3749040" cy="411480"/>
          </a:xfrm>
          <a:prstGeom prst="rect">
            <a:avLst/>
          </a:prstGeom>
          <a:noFill/>
          <a:ln/>
        </p:spPr>
        <p:txBody>
          <a:bodyPr wrap="square" lIns="0" tIns="0" rIns="0" bIns="0" rtlCol="0" anchor="ctr"/>
          <a:lstStyle/>
          <a:p>
            <a:pPr indent="0" marL="0">
              <a:buNone/>
            </a:pPr>
            <a:r>
              <a:rPr lang="en-US" sz="1300" dirty="0">
                <a:solidFill>
                  <a:schemeClr val="tx1"/>
                </a:solidFill>
              </a:rPr>
              <a:t>비밀번호·대화 내용 공개 요구</a:t>
            </a:r>
            <a:endParaRPr lang="en-US" sz="1300" dirty="0"/>
          </a:p>
        </p:txBody>
      </p:sp>
      <p:sp>
        <p:nvSpPr>
          <p:cNvPr id="16" name="Card"/>
          <p:cNvSpPr/>
          <p:nvPr/>
        </p:nvSpPr>
        <p:spPr>
          <a:xfrm>
            <a:off x="548640" y="3648456"/>
            <a:ext cx="4937760" cy="978408"/>
          </a:xfrm>
          <a:prstGeom prst="roundRect">
            <a:avLst>
              <a:gd name="adj" fmla="val 18692"/>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7" name="Icon circle"/>
          <p:cNvSpPr/>
          <p:nvPr/>
        </p:nvSpPr>
        <p:spPr>
          <a:xfrm>
            <a:off x="731520" y="3813048"/>
            <a:ext cx="640080" cy="640080"/>
          </a:xfrm>
          <a:prstGeom prst="ellipse">
            <a:avLst/>
          </a:prstGeom>
          <a:solidFill>
            <a:schemeClr val="tx2"/>
          </a:solidFill>
          <a:ln/>
        </p:spPr>
      </p:sp>
      <p:pic>
        <p:nvPicPr>
          <p:cNvPr id="18" name="Icon" descr="preencoded.png">    </p:cNvPr>
          <p:cNvPicPr>
            <a:picLocks noChangeAspect="1"/>
          </p:cNvPicPr>
          <p:nvPr/>
        </p:nvPicPr>
        <p:blipFill>
          <a:blip r:embed="rId4"/>
          <a:stretch>
            <a:fillRect/>
          </a:stretch>
        </p:blipFill>
        <p:spPr>
          <a:xfrm>
            <a:off x="910742" y="3992270"/>
            <a:ext cx="281635" cy="281635"/>
          </a:xfrm>
          <a:prstGeom prst="rect">
            <a:avLst/>
          </a:prstGeom>
        </p:spPr>
      </p:pic>
      <p:sp>
        <p:nvSpPr>
          <p:cNvPr id="19" name="Text 12"/>
          <p:cNvSpPr txBox="1"/>
          <p:nvPr/>
        </p:nvSpPr>
        <p:spPr>
          <a:xfrm>
            <a:off x="1554480" y="3739896"/>
            <a:ext cx="3749040" cy="384048"/>
          </a:xfrm>
          <a:prstGeom prst="rect">
            <a:avLst/>
          </a:prstGeom>
          <a:noFill/>
          <a:ln/>
        </p:spPr>
        <p:txBody>
          <a:bodyPr wrap="square" lIns="0" tIns="0" rIns="0" bIns="0" rtlCol="0" anchor="ctr"/>
          <a:lstStyle/>
          <a:p>
            <a:pPr indent="0" marL="0">
              <a:buNone/>
            </a:pPr>
            <a:r>
              <a:rPr lang="en-US" sz="1600" b="1" dirty="0">
                <a:solidFill>
                  <a:schemeClr val="tx2"/>
                </a:solidFill>
              </a:rPr>
              <a:t>사진 요구</a:t>
            </a:r>
            <a:endParaRPr lang="en-US" sz="1600" dirty="0"/>
          </a:p>
        </p:txBody>
      </p:sp>
      <p:sp>
        <p:nvSpPr>
          <p:cNvPr id="20" name="Text 13"/>
          <p:cNvSpPr txBox="1"/>
          <p:nvPr/>
        </p:nvSpPr>
        <p:spPr>
          <a:xfrm>
            <a:off x="1554480" y="4123944"/>
            <a:ext cx="3749040" cy="411480"/>
          </a:xfrm>
          <a:prstGeom prst="rect">
            <a:avLst/>
          </a:prstGeom>
          <a:noFill/>
          <a:ln/>
        </p:spPr>
        <p:txBody>
          <a:bodyPr wrap="square" lIns="0" tIns="0" rIns="0" bIns="0" rtlCol="0" anchor="ctr"/>
          <a:lstStyle/>
          <a:p>
            <a:pPr indent="0" marL="0">
              <a:buNone/>
            </a:pPr>
            <a:r>
              <a:rPr lang="en-US" sz="1300" dirty="0">
                <a:solidFill>
                  <a:schemeClr val="tx1"/>
                </a:solidFill>
              </a:rPr>
              <a:t>‘사랑하면 보내 줘’ — 성적 사진 요구</a:t>
            </a:r>
            <a:endParaRPr lang="en-US" sz="1300" dirty="0"/>
          </a:p>
        </p:txBody>
      </p:sp>
      <p:sp>
        <p:nvSpPr>
          <p:cNvPr id="21" name="Card"/>
          <p:cNvSpPr/>
          <p:nvPr/>
        </p:nvSpPr>
        <p:spPr>
          <a:xfrm>
            <a:off x="548640" y="4764024"/>
            <a:ext cx="4937760" cy="978408"/>
          </a:xfrm>
          <a:prstGeom prst="roundRect">
            <a:avLst>
              <a:gd name="adj" fmla="val 18692"/>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Icon circle"/>
          <p:cNvSpPr/>
          <p:nvPr/>
        </p:nvSpPr>
        <p:spPr>
          <a:xfrm>
            <a:off x="731520" y="4928616"/>
            <a:ext cx="640080" cy="640080"/>
          </a:xfrm>
          <a:prstGeom prst="ellipse">
            <a:avLst/>
          </a:prstGeom>
          <a:solidFill>
            <a:schemeClr val="tx2"/>
          </a:solidFill>
          <a:ln/>
        </p:spPr>
      </p:sp>
      <p:pic>
        <p:nvPicPr>
          <p:cNvPr id="23" name="Icon" descr="preencoded.png">    </p:cNvPr>
          <p:cNvPicPr>
            <a:picLocks noChangeAspect="1"/>
          </p:cNvPicPr>
          <p:nvPr/>
        </p:nvPicPr>
        <p:blipFill>
          <a:blip r:embed="rId5"/>
          <a:stretch>
            <a:fillRect/>
          </a:stretch>
        </p:blipFill>
        <p:spPr>
          <a:xfrm>
            <a:off x="910742" y="5107838"/>
            <a:ext cx="281635" cy="281635"/>
          </a:xfrm>
          <a:prstGeom prst="rect">
            <a:avLst/>
          </a:prstGeom>
        </p:spPr>
      </p:pic>
      <p:sp>
        <p:nvSpPr>
          <p:cNvPr id="24" name="Text 16"/>
          <p:cNvSpPr txBox="1"/>
          <p:nvPr/>
        </p:nvSpPr>
        <p:spPr>
          <a:xfrm>
            <a:off x="1554480" y="4855464"/>
            <a:ext cx="3749040" cy="384048"/>
          </a:xfrm>
          <a:prstGeom prst="rect">
            <a:avLst/>
          </a:prstGeom>
          <a:noFill/>
          <a:ln/>
        </p:spPr>
        <p:txBody>
          <a:bodyPr wrap="square" lIns="0" tIns="0" rIns="0" bIns="0" rtlCol="0" anchor="ctr"/>
          <a:lstStyle/>
          <a:p>
            <a:pPr indent="0" marL="0">
              <a:buNone/>
            </a:pPr>
            <a:r>
              <a:rPr lang="en-US" sz="1600" b="1" dirty="0">
                <a:solidFill>
                  <a:schemeClr val="tx2"/>
                </a:solidFill>
              </a:rPr>
              <a:t>유포 협박</a:t>
            </a:r>
            <a:endParaRPr lang="en-US" sz="1600" dirty="0"/>
          </a:p>
        </p:txBody>
      </p:sp>
      <p:sp>
        <p:nvSpPr>
          <p:cNvPr id="25" name="Text 17"/>
          <p:cNvSpPr txBox="1"/>
          <p:nvPr/>
        </p:nvSpPr>
        <p:spPr>
          <a:xfrm>
            <a:off x="1554480" y="5239512"/>
            <a:ext cx="3749040" cy="411480"/>
          </a:xfrm>
          <a:prstGeom prst="rect">
            <a:avLst/>
          </a:prstGeom>
          <a:noFill/>
          <a:ln/>
        </p:spPr>
        <p:txBody>
          <a:bodyPr wrap="square" lIns="0" tIns="0" rIns="0" bIns="0" rtlCol="0" anchor="ctr"/>
          <a:lstStyle/>
          <a:p>
            <a:pPr indent="0" marL="0">
              <a:buNone/>
            </a:pPr>
            <a:r>
              <a:rPr lang="en-US" sz="1300" dirty="0">
                <a:solidFill>
                  <a:schemeClr val="tx1"/>
                </a:solidFill>
              </a:rPr>
              <a:t>‘헤어지면 올린다’, 딥페이크 합성</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60720" y="1417320"/>
          <a:ext cx="5852160" cy="914400"/>
        </p:xfrm>
        <a:graphic>
          <a:graphicData uri="http://schemas.openxmlformats.org/drawingml/2006/table">
            <a:tbl>
              <a:tblPr/>
              <a:tblGrid>
                <a:gridCol w="2926080"/>
                <a:gridCol w="1645920"/>
                <a:gridCol w="1280160"/>
              </a:tblGrid>
              <a:tr h="457200">
                <a:tc>
                  <a:txBody>
                    <a:bodyPr/>
                    <a:lstStyle/>
                    <a:p>
                      <a:pPr indent="0" marL="0">
                        <a:buNone/>
                      </a:pPr>
                      <a:r>
                        <a:rPr lang="en-US" sz="1400" b="1" dirty="0">
                          <a:solidFill>
                            <a:schemeClr val="bg1"/>
                          </a:solidFill>
                        </a:rPr>
                        <a:t>행위</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근거</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징역</a:t>
                      </a:r>
                      <a:endParaRPr lang="en-US" sz="14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713232">
                <a:tc>
                  <a:txBody>
                    <a:bodyPr/>
                    <a:lstStyle/>
                    <a:p>
                      <a:pPr indent="0" marL="0">
                        <a:buNone/>
                      </a:pPr>
                      <a:r>
                        <a:rPr lang="en-US" sz="1300" dirty="0">
                          <a:solidFill>
                            <a:schemeClr val="tx1"/>
                          </a:solidFill>
                        </a:rPr>
                        <a:t>청소년 성적 촬영물 제작 (요구해 찍게 한 경우 포함)</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6"/>
                          </a:solidFill>
                        </a:rPr>
                        <a:t>청소년성보호법 §11①</a:t>
                      </a:r>
                      <a:endParaRPr lang="en-US" sz="12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무기 또는 5년 이상</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03504">
                <a:tc>
                  <a:txBody>
                    <a:bodyPr/>
                    <a:lstStyle/>
                    <a:p>
                      <a:pPr indent="0" marL="0">
                        <a:buNone/>
                      </a:pPr>
                      <a:r>
                        <a:rPr lang="en-US" sz="1300" dirty="0">
                          <a:solidFill>
                            <a:schemeClr val="tx1"/>
                          </a:solidFill>
                        </a:rPr>
                        <a:t>청소년 성착취물 구입·소지·시청</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6"/>
                          </a:solidFill>
                        </a:rPr>
                        <a:t>청소년성보호법 §11⑤</a:t>
                      </a:r>
                      <a:endParaRPr lang="en-US" sz="12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1년 이상</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03504">
                <a:tc>
                  <a:txBody>
                    <a:bodyPr/>
                    <a:lstStyle/>
                    <a:p>
                      <a:pPr indent="0" marL="0">
                        <a:buNone/>
                      </a:pPr>
                      <a:r>
                        <a:rPr lang="en-US" sz="1300" dirty="0">
                          <a:solidFill>
                            <a:schemeClr val="tx1"/>
                          </a:solidFill>
                        </a:rPr>
                        <a:t>딥페이크 제작·유포</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6"/>
                          </a:solidFill>
                        </a:rPr>
                        <a:t>성폭력처벌법 §14의2</a:t>
                      </a:r>
                      <a:endParaRPr lang="en-US" sz="12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7년 이하</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603504">
                <a:tc>
                  <a:txBody>
                    <a:bodyPr/>
                    <a:lstStyle/>
                    <a:p>
                      <a:pPr indent="0" marL="0">
                        <a:buNone/>
                      </a:pPr>
                      <a:r>
                        <a:rPr lang="en-US" sz="1300" dirty="0">
                          <a:solidFill>
                            <a:schemeClr val="tx1"/>
                          </a:solidFill>
                        </a:rPr>
                        <a:t>딥페이크 소지·시청 (2024.10~)</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6"/>
                          </a:solidFill>
                        </a:rPr>
                        <a:t>성폭력처벌법 §14의2</a:t>
                      </a:r>
                      <a:endParaRPr lang="en-US" sz="12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rPr>
                        <a:t>3년 이하</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r>
              <a:tr h="603504">
                <a:tc>
                  <a:txBody>
                    <a:bodyPr/>
                    <a:lstStyle/>
                    <a:p>
                      <a:pPr indent="0" marL="0">
                        <a:buNone/>
                      </a:pPr>
                      <a:r>
                        <a:rPr lang="en-US" sz="1300" dirty="0">
                          <a:solidFill>
                            <a:schemeClr val="tx1"/>
                          </a:solidFill>
                        </a:rPr>
                        <a:t>촬영물·딥페이크 이용 협박</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6"/>
                          </a:solidFill>
                        </a:rPr>
                        <a:t>성폭력처벌법 §14의3</a:t>
                      </a:r>
                      <a:endParaRPr lang="en-US" sz="12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1년 이상</a:t>
                      </a:r>
                      <a:endParaRPr lang="en-US" sz="1300" dirty="0"/>
                    </a:p>
                  </a:txBody>
                  <a:tcPr marL="91440" marR="9144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7" name="Tagline"/>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500" b="1" i="1" dirty="0">
                <a:solidFill>
                  <a:schemeClr val="accent1"/>
                </a:solidFill>
              </a:rPr>
              <a:t>보낸 사람이 아니라, 요구하고 퍼뜨린 사람이 범죄자입니다</a:t>
            </a:r>
            <a:endParaRPr lang="en-US" sz="1500" dirty="0"/>
          </a:p>
        </p:txBody>
      </p:sp>
      <p:sp>
        <p:nvSpPr>
          <p:cNvPr id="28"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청소년성보호법 제11조 · 성폭력처벌법 제14조의2·3 (2024.10 개정) · 국가법령정보센터</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왜 쉽게 벗어나지 못할까? 폭력의 순환</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3. 폭력 유형</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ycle step"/>
          <p:cNvSpPr/>
          <p:nvPr/>
        </p:nvSpPr>
        <p:spPr>
          <a:xfrm>
            <a:off x="2240280" y="1417320"/>
            <a:ext cx="2103120" cy="960120"/>
          </a:xfrm>
          <a:prstGeom prst="roundRect">
            <a:avLst>
              <a:gd name="adj" fmla="val 14286"/>
            </a:avLst>
          </a:prstGeom>
          <a:solidFill>
            <a:schemeClr val="tx2"/>
          </a:solidFill>
          <a:ln/>
        </p:spPr>
      </p:sp>
      <p:sp>
        <p:nvSpPr>
          <p:cNvPr id="7" name="Text 3"/>
          <p:cNvSpPr txBox="1"/>
          <p:nvPr/>
        </p:nvSpPr>
        <p:spPr>
          <a:xfrm>
            <a:off x="2240280" y="1417320"/>
            <a:ext cx="2103120" cy="960120"/>
          </a:xfrm>
          <a:prstGeom prst="rect">
            <a:avLst/>
          </a:prstGeom>
          <a:noFill/>
          <a:ln/>
        </p:spPr>
        <p:txBody>
          <a:bodyPr wrap="square" lIns="0" tIns="0" rIns="0" bIns="0" rtlCol="0" anchor="ctr"/>
          <a:lstStyle/>
          <a:p>
            <a:pPr algn="ctr" indent="0" marL="0">
              <a:buNone/>
            </a:pPr>
            <a:r>
              <a:rPr lang="en-US" sz="1700" b="1" dirty="0">
                <a:solidFill>
                  <a:schemeClr val="bg1"/>
                </a:solidFill>
              </a:rPr>
              <a:t>① 긴장 형성</a:t>
            </a:r>
            <a:endParaRPr lang="en-US" sz="1700" dirty="0"/>
          </a:p>
        </p:txBody>
      </p:sp>
      <p:sp>
        <p:nvSpPr>
          <p:cNvPr id="8" name="Cycle step"/>
          <p:cNvSpPr/>
          <p:nvPr/>
        </p:nvSpPr>
        <p:spPr>
          <a:xfrm>
            <a:off x="4251960" y="3063240"/>
            <a:ext cx="2103120" cy="960120"/>
          </a:xfrm>
          <a:prstGeom prst="roundRect">
            <a:avLst>
              <a:gd name="adj" fmla="val 14286"/>
            </a:avLst>
          </a:prstGeom>
          <a:solidFill>
            <a:schemeClr val="accent1"/>
          </a:solidFill>
          <a:ln/>
        </p:spPr>
      </p:sp>
      <p:sp>
        <p:nvSpPr>
          <p:cNvPr id="9" name="Text 5"/>
          <p:cNvSpPr txBox="1"/>
          <p:nvPr/>
        </p:nvSpPr>
        <p:spPr>
          <a:xfrm>
            <a:off x="4251960" y="3063240"/>
            <a:ext cx="2103120" cy="960120"/>
          </a:xfrm>
          <a:prstGeom prst="rect">
            <a:avLst/>
          </a:prstGeom>
          <a:noFill/>
          <a:ln/>
        </p:spPr>
        <p:txBody>
          <a:bodyPr wrap="square" lIns="0" tIns="0" rIns="0" bIns="0" rtlCol="0" anchor="ctr"/>
          <a:lstStyle/>
          <a:p>
            <a:pPr algn="ctr" indent="0" marL="0">
              <a:buNone/>
            </a:pPr>
            <a:r>
              <a:rPr lang="en-US" sz="1700" b="1" dirty="0">
                <a:solidFill>
                  <a:schemeClr val="bg1"/>
                </a:solidFill>
              </a:rPr>
              <a:t>② 폭력 발생</a:t>
            </a:r>
            <a:endParaRPr lang="en-US" sz="1700" dirty="0"/>
          </a:p>
        </p:txBody>
      </p:sp>
      <p:sp>
        <p:nvSpPr>
          <p:cNvPr id="10" name="Cycle step"/>
          <p:cNvSpPr/>
          <p:nvPr/>
        </p:nvSpPr>
        <p:spPr>
          <a:xfrm>
            <a:off x="2240280" y="4709160"/>
            <a:ext cx="2103120" cy="960120"/>
          </a:xfrm>
          <a:prstGeom prst="roundRect">
            <a:avLst>
              <a:gd name="adj" fmla="val 14286"/>
            </a:avLst>
          </a:prstGeom>
          <a:solidFill>
            <a:schemeClr val="tx2"/>
          </a:solidFill>
          <a:ln/>
        </p:spPr>
      </p:sp>
      <p:sp>
        <p:nvSpPr>
          <p:cNvPr id="11" name="Text 7"/>
          <p:cNvSpPr txBox="1"/>
          <p:nvPr/>
        </p:nvSpPr>
        <p:spPr>
          <a:xfrm>
            <a:off x="2240280" y="4709160"/>
            <a:ext cx="2103120" cy="960120"/>
          </a:xfrm>
          <a:prstGeom prst="rect">
            <a:avLst/>
          </a:prstGeom>
          <a:noFill/>
          <a:ln/>
        </p:spPr>
        <p:txBody>
          <a:bodyPr wrap="square" lIns="0" tIns="0" rIns="0" bIns="0" rtlCol="0" anchor="ctr"/>
          <a:lstStyle/>
          <a:p>
            <a:pPr algn="ctr" indent="0" marL="0">
              <a:buNone/>
            </a:pPr>
            <a:r>
              <a:rPr lang="en-US" sz="1700" b="1" dirty="0">
                <a:solidFill>
                  <a:schemeClr val="bg1"/>
                </a:solidFill>
              </a:rPr>
              <a:t>③ 화해(허니문)</a:t>
            </a:r>
            <a:endParaRPr lang="en-US" sz="1700" dirty="0"/>
          </a:p>
        </p:txBody>
      </p:sp>
      <p:sp>
        <p:nvSpPr>
          <p:cNvPr id="12" name="Cycle step"/>
          <p:cNvSpPr/>
          <p:nvPr/>
        </p:nvSpPr>
        <p:spPr>
          <a:xfrm>
            <a:off x="228600" y="3063240"/>
            <a:ext cx="2103120" cy="960120"/>
          </a:xfrm>
          <a:prstGeom prst="roundRect">
            <a:avLst>
              <a:gd name="adj" fmla="val 14286"/>
            </a:avLst>
          </a:prstGeom>
          <a:solidFill>
            <a:schemeClr val="tx2"/>
          </a:solidFill>
          <a:ln/>
        </p:spPr>
      </p:sp>
      <p:sp>
        <p:nvSpPr>
          <p:cNvPr id="13" name="Text 9"/>
          <p:cNvSpPr txBox="1"/>
          <p:nvPr/>
        </p:nvSpPr>
        <p:spPr>
          <a:xfrm>
            <a:off x="228600" y="3063240"/>
            <a:ext cx="2103120" cy="960120"/>
          </a:xfrm>
          <a:prstGeom prst="rect">
            <a:avLst/>
          </a:prstGeom>
          <a:noFill/>
          <a:ln/>
        </p:spPr>
        <p:txBody>
          <a:bodyPr wrap="square" lIns="0" tIns="0" rIns="0" bIns="0" rtlCol="0" anchor="ctr"/>
          <a:lstStyle/>
          <a:p>
            <a:pPr algn="ctr" indent="0" marL="0">
              <a:buNone/>
            </a:pPr>
            <a:r>
              <a:rPr lang="en-US" sz="1700" b="1" dirty="0">
                <a:solidFill>
                  <a:schemeClr val="bg1"/>
                </a:solidFill>
              </a:rPr>
              <a:t>④ 안정기</a:t>
            </a:r>
            <a:endParaRPr lang="en-US" sz="1700" dirty="0"/>
          </a:p>
        </p:txBody>
      </p:sp>
      <p:sp>
        <p:nvSpPr>
          <p:cNvPr id="14" name="Cycle arrow"/>
          <p:cNvSpPr/>
          <p:nvPr/>
        </p:nvSpPr>
        <p:spPr>
          <a:xfrm>
            <a:off x="3977640" y="2331720"/>
            <a:ext cx="457200" cy="685800"/>
          </a:xfrm>
          <a:prstGeom prst="line">
            <a:avLst/>
          </a:prstGeom>
          <a:noFill/>
          <a:ln w="31750">
            <a:solidFill>
              <a:schemeClr val="accent3"/>
            </a:solidFill>
            <a:prstDash val="solid"/>
            <a:tailEnd type="triangle"/>
          </a:ln>
        </p:spPr>
      </p:sp>
      <p:sp>
        <p:nvSpPr>
          <p:cNvPr id="15" name="Cycle arrow"/>
          <p:cNvSpPr/>
          <p:nvPr/>
        </p:nvSpPr>
        <p:spPr>
          <a:xfrm flipH="1">
            <a:off x="3977640" y="4023360"/>
            <a:ext cx="457200" cy="685800"/>
          </a:xfrm>
          <a:prstGeom prst="line">
            <a:avLst/>
          </a:prstGeom>
          <a:noFill/>
          <a:ln w="31750">
            <a:solidFill>
              <a:schemeClr val="accent3"/>
            </a:solidFill>
            <a:prstDash val="solid"/>
            <a:tailEnd type="triangle"/>
          </a:ln>
        </p:spPr>
      </p:sp>
      <p:sp>
        <p:nvSpPr>
          <p:cNvPr id="16" name="Cycle arrow"/>
          <p:cNvSpPr/>
          <p:nvPr/>
        </p:nvSpPr>
        <p:spPr>
          <a:xfrm flipH="1" flipV="1">
            <a:off x="1783080" y="4023360"/>
            <a:ext cx="457200" cy="685800"/>
          </a:xfrm>
          <a:prstGeom prst="line">
            <a:avLst/>
          </a:prstGeom>
          <a:noFill/>
          <a:ln w="31750">
            <a:solidFill>
              <a:schemeClr val="accent3"/>
            </a:solidFill>
            <a:prstDash val="solid"/>
            <a:tailEnd type="triangle"/>
          </a:ln>
        </p:spPr>
      </p:sp>
      <p:sp>
        <p:nvSpPr>
          <p:cNvPr id="17" name="Cycle arrow"/>
          <p:cNvSpPr/>
          <p:nvPr/>
        </p:nvSpPr>
        <p:spPr>
          <a:xfrm flipV="1">
            <a:off x="1783080" y="2331720"/>
            <a:ext cx="457200" cy="685800"/>
          </a:xfrm>
          <a:prstGeom prst="line">
            <a:avLst/>
          </a:prstGeom>
          <a:noFill/>
          <a:ln w="31750">
            <a:solidFill>
              <a:schemeClr val="accent3"/>
            </a:solidFill>
            <a:prstDash val="solid"/>
            <a:tailEnd type="triangle"/>
          </a:ln>
        </p:spPr>
      </p:sp>
      <p:sp>
        <p:nvSpPr>
          <p:cNvPr id="18" name="Card"/>
          <p:cNvSpPr/>
          <p:nvPr/>
        </p:nvSpPr>
        <p:spPr>
          <a:xfrm>
            <a:off x="6949440" y="1417320"/>
            <a:ext cx="4663440" cy="4206240"/>
          </a:xfrm>
          <a:prstGeom prst="roundRect">
            <a:avLst>
              <a:gd name="adj" fmla="val 4348"/>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9" name="Text 15"/>
          <p:cNvSpPr txBox="1"/>
          <p:nvPr/>
        </p:nvSpPr>
        <p:spPr>
          <a:xfrm>
            <a:off x="7223760" y="1600200"/>
            <a:ext cx="4114800" cy="457200"/>
          </a:xfrm>
          <a:prstGeom prst="rect">
            <a:avLst/>
          </a:prstGeom>
          <a:noFill/>
          <a:ln/>
        </p:spPr>
        <p:txBody>
          <a:bodyPr wrap="square" lIns="0" tIns="0" rIns="0" bIns="0" rtlCol="0" anchor="ctr"/>
          <a:lstStyle/>
          <a:p>
            <a:pPr indent="0" marL="0">
              <a:buNone/>
            </a:pPr>
            <a:r>
              <a:rPr lang="en-US" sz="1800" b="1" dirty="0">
                <a:solidFill>
                  <a:schemeClr val="tx2"/>
                </a:solidFill>
              </a:rPr>
              <a:t>단계별로 일어나는 일</a:t>
            </a:r>
            <a:endParaRPr lang="en-US" sz="1800" dirty="0"/>
          </a:p>
        </p:txBody>
      </p:sp>
      <p:sp>
        <p:nvSpPr>
          <p:cNvPr id="20" name="Text 16"/>
          <p:cNvSpPr txBox="1"/>
          <p:nvPr/>
        </p:nvSpPr>
        <p:spPr>
          <a:xfrm>
            <a:off x="7223760" y="2194560"/>
            <a:ext cx="4206240" cy="320040"/>
          </a:xfrm>
          <a:prstGeom prst="rect">
            <a:avLst/>
          </a:prstGeom>
          <a:noFill/>
          <a:ln/>
        </p:spPr>
        <p:txBody>
          <a:bodyPr wrap="square" lIns="0" tIns="0" rIns="0" bIns="0" rtlCol="0" anchor="ctr"/>
          <a:lstStyle/>
          <a:p>
            <a:pPr indent="0" marL="0">
              <a:buNone/>
            </a:pPr>
            <a:r>
              <a:rPr lang="en-US" sz="1500" b="1" dirty="0">
                <a:solidFill>
                  <a:schemeClr val="accent1"/>
                </a:solidFill>
              </a:rPr>
              <a:t>① 긴장 형성</a:t>
            </a:r>
            <a:endParaRPr lang="en-US" sz="1500" dirty="0"/>
          </a:p>
        </p:txBody>
      </p:sp>
      <p:sp>
        <p:nvSpPr>
          <p:cNvPr id="21" name="Text 17"/>
          <p:cNvSpPr txBox="1"/>
          <p:nvPr/>
        </p:nvSpPr>
        <p:spPr>
          <a:xfrm>
            <a:off x="7223760" y="2532888"/>
            <a:ext cx="4206240" cy="384048"/>
          </a:xfrm>
          <a:prstGeom prst="rect">
            <a:avLst/>
          </a:prstGeom>
          <a:noFill/>
          <a:ln/>
        </p:spPr>
        <p:txBody>
          <a:bodyPr wrap="square" lIns="0" tIns="0" rIns="0" bIns="0" rtlCol="0" anchor="ctr"/>
          <a:lstStyle/>
          <a:p>
            <a:pPr indent="0" marL="0">
              <a:buNone/>
            </a:pPr>
            <a:r>
              <a:rPr lang="en-US" sz="1400" dirty="0">
                <a:solidFill>
                  <a:schemeClr val="tx1"/>
                </a:solidFill>
              </a:rPr>
              <a:t>사소한 일에 짜증, 의심, 눈치 보게 됨</a:t>
            </a:r>
            <a:endParaRPr lang="en-US" sz="1400" dirty="0"/>
          </a:p>
        </p:txBody>
      </p:sp>
      <p:sp>
        <p:nvSpPr>
          <p:cNvPr id="22" name="Text 18"/>
          <p:cNvSpPr txBox="1"/>
          <p:nvPr/>
        </p:nvSpPr>
        <p:spPr>
          <a:xfrm>
            <a:off x="7223760" y="3017520"/>
            <a:ext cx="4206240" cy="320040"/>
          </a:xfrm>
          <a:prstGeom prst="rect">
            <a:avLst/>
          </a:prstGeom>
          <a:noFill/>
          <a:ln/>
        </p:spPr>
        <p:txBody>
          <a:bodyPr wrap="square" lIns="0" tIns="0" rIns="0" bIns="0" rtlCol="0" anchor="ctr"/>
          <a:lstStyle/>
          <a:p>
            <a:pPr indent="0" marL="0">
              <a:buNone/>
            </a:pPr>
            <a:r>
              <a:rPr lang="en-US" sz="1500" b="1" dirty="0">
                <a:solidFill>
                  <a:schemeClr val="accent1"/>
                </a:solidFill>
              </a:rPr>
              <a:t>② 폭력 발생</a:t>
            </a:r>
            <a:endParaRPr lang="en-US" sz="1500" dirty="0"/>
          </a:p>
        </p:txBody>
      </p:sp>
      <p:sp>
        <p:nvSpPr>
          <p:cNvPr id="23" name="Text 19"/>
          <p:cNvSpPr txBox="1"/>
          <p:nvPr/>
        </p:nvSpPr>
        <p:spPr>
          <a:xfrm>
            <a:off x="7223760" y="3355848"/>
            <a:ext cx="4206240" cy="384048"/>
          </a:xfrm>
          <a:prstGeom prst="rect">
            <a:avLst/>
          </a:prstGeom>
          <a:noFill/>
          <a:ln/>
        </p:spPr>
        <p:txBody>
          <a:bodyPr wrap="square" lIns="0" tIns="0" rIns="0" bIns="0" rtlCol="0" anchor="ctr"/>
          <a:lstStyle/>
          <a:p>
            <a:pPr indent="0" marL="0">
              <a:buNone/>
            </a:pPr>
            <a:r>
              <a:rPr lang="en-US" sz="1400" dirty="0">
                <a:solidFill>
                  <a:schemeClr val="tx1"/>
                </a:solidFill>
              </a:rPr>
              <a:t>폭언·폭행·협박이 터져 나옴</a:t>
            </a:r>
            <a:endParaRPr lang="en-US" sz="1400" dirty="0"/>
          </a:p>
        </p:txBody>
      </p:sp>
      <p:sp>
        <p:nvSpPr>
          <p:cNvPr id="24" name="Text 20"/>
          <p:cNvSpPr txBox="1"/>
          <p:nvPr/>
        </p:nvSpPr>
        <p:spPr>
          <a:xfrm>
            <a:off x="7223760" y="3840480"/>
            <a:ext cx="4206240" cy="320040"/>
          </a:xfrm>
          <a:prstGeom prst="rect">
            <a:avLst/>
          </a:prstGeom>
          <a:noFill/>
          <a:ln/>
        </p:spPr>
        <p:txBody>
          <a:bodyPr wrap="square" lIns="0" tIns="0" rIns="0" bIns="0" rtlCol="0" anchor="ctr"/>
          <a:lstStyle/>
          <a:p>
            <a:pPr indent="0" marL="0">
              <a:buNone/>
            </a:pPr>
            <a:r>
              <a:rPr lang="en-US" sz="1500" b="1" dirty="0">
                <a:solidFill>
                  <a:schemeClr val="accent1"/>
                </a:solidFill>
              </a:rPr>
              <a:t>③ 화해(허니문)</a:t>
            </a:r>
            <a:endParaRPr lang="en-US" sz="1500" dirty="0"/>
          </a:p>
        </p:txBody>
      </p:sp>
      <p:sp>
        <p:nvSpPr>
          <p:cNvPr id="25" name="Text 21"/>
          <p:cNvSpPr txBox="1"/>
          <p:nvPr/>
        </p:nvSpPr>
        <p:spPr>
          <a:xfrm>
            <a:off x="7223760" y="4178808"/>
            <a:ext cx="4206240" cy="384048"/>
          </a:xfrm>
          <a:prstGeom prst="rect">
            <a:avLst/>
          </a:prstGeom>
          <a:noFill/>
          <a:ln/>
        </p:spPr>
        <p:txBody>
          <a:bodyPr wrap="square" lIns="0" tIns="0" rIns="0" bIns="0" rtlCol="0" anchor="ctr"/>
          <a:lstStyle/>
          <a:p>
            <a:pPr indent="0" marL="0">
              <a:buNone/>
            </a:pPr>
            <a:r>
              <a:rPr lang="en-US" sz="1400" dirty="0">
                <a:solidFill>
                  <a:schemeClr val="tx1"/>
                </a:solidFill>
              </a:rPr>
              <a:t>울며 사과, 선물, ‘다시는 안 그럴게’</a:t>
            </a:r>
            <a:endParaRPr lang="en-US" sz="1400" dirty="0"/>
          </a:p>
        </p:txBody>
      </p:sp>
      <p:sp>
        <p:nvSpPr>
          <p:cNvPr id="26" name="Text 22"/>
          <p:cNvSpPr txBox="1"/>
          <p:nvPr/>
        </p:nvSpPr>
        <p:spPr>
          <a:xfrm>
            <a:off x="7223760" y="4663440"/>
            <a:ext cx="4206240" cy="320040"/>
          </a:xfrm>
          <a:prstGeom prst="rect">
            <a:avLst/>
          </a:prstGeom>
          <a:noFill/>
          <a:ln/>
        </p:spPr>
        <p:txBody>
          <a:bodyPr wrap="square" lIns="0" tIns="0" rIns="0" bIns="0" rtlCol="0" anchor="ctr"/>
          <a:lstStyle/>
          <a:p>
            <a:pPr indent="0" marL="0">
              <a:buNone/>
            </a:pPr>
            <a:r>
              <a:rPr lang="en-US" sz="1500" b="1" dirty="0">
                <a:solidFill>
                  <a:schemeClr val="accent1"/>
                </a:solidFill>
              </a:rPr>
              <a:t>④ 안정기</a:t>
            </a:r>
            <a:endParaRPr lang="en-US" sz="1500" dirty="0"/>
          </a:p>
        </p:txBody>
      </p:sp>
      <p:sp>
        <p:nvSpPr>
          <p:cNvPr id="27" name="Text 23"/>
          <p:cNvSpPr txBox="1"/>
          <p:nvPr/>
        </p:nvSpPr>
        <p:spPr>
          <a:xfrm>
            <a:off x="7223760" y="5001768"/>
            <a:ext cx="4206240" cy="384048"/>
          </a:xfrm>
          <a:prstGeom prst="rect">
            <a:avLst/>
          </a:prstGeom>
          <a:noFill/>
          <a:ln/>
        </p:spPr>
        <p:txBody>
          <a:bodyPr wrap="square" lIns="0" tIns="0" rIns="0" bIns="0" rtlCol="0" anchor="ctr"/>
          <a:lstStyle/>
          <a:p>
            <a:pPr indent="0" marL="0">
              <a:buNone/>
            </a:pPr>
            <a:r>
              <a:rPr lang="en-US" sz="1400" dirty="0">
                <a:solidFill>
                  <a:schemeClr val="tx1"/>
                </a:solidFill>
              </a:rPr>
              <a:t>잠시 평온 → 피해자는 ‘변했다’고 믿음</a:t>
            </a:r>
            <a:endParaRPr lang="en-US" sz="1400" dirty="0"/>
          </a:p>
        </p:txBody>
      </p:sp>
      <p:sp>
        <p:nvSpPr>
          <p:cNvPr id="28" name="Tagline"/>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500" b="1" i="1" dirty="0">
                <a:solidFill>
                  <a:schemeClr val="accent1"/>
                </a:solidFill>
              </a:rPr>
              <a:t>순환이 반복될수록 폭력은 더 자주, 더 심해집니다</a:t>
            </a:r>
            <a:endParaRPr lang="en-US" sz="1500" dirty="0"/>
          </a:p>
        </p:txBody>
      </p:sp>
      <p:sp>
        <p:nvSpPr>
          <p:cNvPr id="29"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Walker, L. E.(1979) The Battered Woman</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활동: 이건 폭력일까, 아닐까?</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3. 폭력 유형</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5394960" cy="1645920"/>
          </a:xfrm>
          <a:prstGeom prst="roundRect">
            <a:avLst>
              <a:gd name="adj" fmla="val 11111"/>
            </a:avLst>
          </a:prstGeom>
          <a:solidFill>
            <a:schemeClr val="bg1"/>
          </a:solidFill>
          <a:ln w="15875">
            <a:solidFill>
              <a:srgbClr val="E8505B"/>
            </a:solidFill>
            <a:prstDash val="dash"/>
          </a:ln>
          <a:effectLst>
            <a:outerShdw sx="100000" sy="100000" kx="0" ky="0" algn="bl" rotWithShape="0" blurRad="101600" dist="25400" dir="5400000">
              <a:srgbClr val="4A1D3F">
                <a:alpha val="10000"/>
              </a:srgbClr>
            </a:outerShdw>
          </a:effectLst>
        </p:spPr>
      </p:sp>
      <p:sp>
        <p:nvSpPr>
          <p:cNvPr id="7" name="Text 3"/>
          <p:cNvSpPr txBox="1"/>
          <p:nvPr/>
        </p:nvSpPr>
        <p:spPr>
          <a:xfrm>
            <a:off x="822960" y="1554480"/>
            <a:ext cx="1371600" cy="365760"/>
          </a:xfrm>
          <a:prstGeom prst="rect">
            <a:avLst/>
          </a:prstGeom>
          <a:noFill/>
          <a:ln/>
        </p:spPr>
        <p:txBody>
          <a:bodyPr wrap="square" lIns="0" tIns="0" rIns="0" bIns="0" rtlCol="0" anchor="ctr"/>
          <a:lstStyle/>
          <a:p>
            <a:pPr indent="0" marL="0">
              <a:buNone/>
            </a:pPr>
            <a:r>
              <a:rPr lang="en-US" sz="1500" b="1" dirty="0">
                <a:solidFill>
                  <a:schemeClr val="accent1"/>
                </a:solidFill>
              </a:rPr>
              <a:t>상황 A</a:t>
            </a:r>
            <a:endParaRPr lang="en-US" sz="1500" dirty="0"/>
          </a:p>
        </p:txBody>
      </p:sp>
      <p:sp>
        <p:nvSpPr>
          <p:cNvPr id="8" name="Text 4"/>
          <p:cNvSpPr txBox="1"/>
          <p:nvPr/>
        </p:nvSpPr>
        <p:spPr>
          <a:xfrm>
            <a:off x="822960" y="1920240"/>
            <a:ext cx="4846320" cy="1051560"/>
          </a:xfrm>
          <a:prstGeom prst="rect">
            <a:avLst/>
          </a:prstGeom>
          <a:noFill/>
          <a:ln/>
        </p:spPr>
        <p:txBody>
          <a:bodyPr wrap="square" lIns="0" tIns="0" rIns="0" bIns="0" rtlCol="0" anchor="t"/>
          <a:lstStyle/>
          <a:p>
            <a:pPr indent="0" marL="0">
              <a:buNone/>
            </a:pPr>
            <a:r>
              <a:rPr lang="en-US" sz="1400" dirty="0">
                <a:solidFill>
                  <a:schemeClr val="tx1"/>
                </a:solidFill>
              </a:rPr>
              <a:t>민지가 학원에서 답장을 못 하자 남자친구가 30분 동안 전화를 20통 걸고, 위치 공유 앱을 끄면 화를 낸다.</a:t>
            </a:r>
            <a:endParaRPr lang="en-US" sz="1400" dirty="0"/>
          </a:p>
        </p:txBody>
      </p:sp>
      <p:sp>
        <p:nvSpPr>
          <p:cNvPr id="9" name="Card"/>
          <p:cNvSpPr/>
          <p:nvPr/>
        </p:nvSpPr>
        <p:spPr>
          <a:xfrm>
            <a:off x="6217920" y="1417320"/>
            <a:ext cx="5394960" cy="1645920"/>
          </a:xfrm>
          <a:prstGeom prst="roundRect">
            <a:avLst>
              <a:gd name="adj" fmla="val 11111"/>
            </a:avLst>
          </a:prstGeom>
          <a:solidFill>
            <a:schemeClr val="bg1"/>
          </a:solidFill>
          <a:ln w="15875">
            <a:solidFill>
              <a:srgbClr val="E8505B"/>
            </a:solidFill>
            <a:prstDash val="dash"/>
          </a:ln>
          <a:effectLst>
            <a:outerShdw sx="100000" sy="100000" kx="0" ky="0" algn="bl" rotWithShape="0" blurRad="101600" dist="25400" dir="5400000">
              <a:srgbClr val="4A1D3F">
                <a:alpha val="10000"/>
              </a:srgbClr>
            </a:outerShdw>
          </a:effectLst>
        </p:spPr>
      </p:sp>
      <p:sp>
        <p:nvSpPr>
          <p:cNvPr id="10" name="Text 6"/>
          <p:cNvSpPr txBox="1"/>
          <p:nvPr/>
        </p:nvSpPr>
        <p:spPr>
          <a:xfrm>
            <a:off x="6492240" y="1554480"/>
            <a:ext cx="1371600" cy="365760"/>
          </a:xfrm>
          <a:prstGeom prst="rect">
            <a:avLst/>
          </a:prstGeom>
          <a:noFill/>
          <a:ln/>
        </p:spPr>
        <p:txBody>
          <a:bodyPr wrap="square" lIns="0" tIns="0" rIns="0" bIns="0" rtlCol="0" anchor="ctr"/>
          <a:lstStyle/>
          <a:p>
            <a:pPr indent="0" marL="0">
              <a:buNone/>
            </a:pPr>
            <a:r>
              <a:rPr lang="en-US" sz="1500" b="1" dirty="0">
                <a:solidFill>
                  <a:schemeClr val="accent1"/>
                </a:solidFill>
              </a:rPr>
              <a:t>상황 B</a:t>
            </a:r>
            <a:endParaRPr lang="en-US" sz="1500" dirty="0"/>
          </a:p>
        </p:txBody>
      </p:sp>
      <p:sp>
        <p:nvSpPr>
          <p:cNvPr id="11" name="Text 7"/>
          <p:cNvSpPr txBox="1"/>
          <p:nvPr/>
        </p:nvSpPr>
        <p:spPr>
          <a:xfrm>
            <a:off x="6492240" y="1920240"/>
            <a:ext cx="4846320" cy="1051560"/>
          </a:xfrm>
          <a:prstGeom prst="rect">
            <a:avLst/>
          </a:prstGeom>
          <a:noFill/>
          <a:ln/>
        </p:spPr>
        <p:txBody>
          <a:bodyPr wrap="square" lIns="0" tIns="0" rIns="0" bIns="0" rtlCol="0" anchor="t"/>
          <a:lstStyle/>
          <a:p>
            <a:pPr indent="0" marL="0">
              <a:buNone/>
            </a:pPr>
            <a:r>
              <a:rPr lang="en-US" sz="1400" dirty="0">
                <a:solidFill>
                  <a:schemeClr val="tx1"/>
                </a:solidFill>
              </a:rPr>
              <a:t>준호의 여자친구는 준호가 친구들과 놀러 가면 ‘나보다 친구가 좋냐’며 며칠씩 연락을 끊고 사과를 요구한다.</a:t>
            </a:r>
            <a:endParaRPr lang="en-US" sz="1400" dirty="0"/>
          </a:p>
        </p:txBody>
      </p:sp>
      <p:sp>
        <p:nvSpPr>
          <p:cNvPr id="12" name="Card"/>
          <p:cNvSpPr/>
          <p:nvPr/>
        </p:nvSpPr>
        <p:spPr>
          <a:xfrm>
            <a:off x="548640" y="3246120"/>
            <a:ext cx="5394960" cy="1645920"/>
          </a:xfrm>
          <a:prstGeom prst="roundRect">
            <a:avLst>
              <a:gd name="adj" fmla="val 11111"/>
            </a:avLst>
          </a:prstGeom>
          <a:solidFill>
            <a:schemeClr val="bg1"/>
          </a:solidFill>
          <a:ln w="15875">
            <a:solidFill>
              <a:srgbClr val="E8505B"/>
            </a:solidFill>
            <a:prstDash val="dash"/>
          </a:ln>
          <a:effectLst>
            <a:outerShdw sx="100000" sy="100000" kx="0" ky="0" algn="bl" rotWithShape="0" blurRad="101600" dist="25400" dir="5400000">
              <a:srgbClr val="4A1D3F">
                <a:alpha val="10000"/>
              </a:srgbClr>
            </a:outerShdw>
          </a:effectLst>
        </p:spPr>
      </p:sp>
      <p:sp>
        <p:nvSpPr>
          <p:cNvPr id="13" name="Text 9"/>
          <p:cNvSpPr txBox="1"/>
          <p:nvPr/>
        </p:nvSpPr>
        <p:spPr>
          <a:xfrm>
            <a:off x="822960" y="3383280"/>
            <a:ext cx="1371600" cy="365760"/>
          </a:xfrm>
          <a:prstGeom prst="rect">
            <a:avLst/>
          </a:prstGeom>
          <a:noFill/>
          <a:ln/>
        </p:spPr>
        <p:txBody>
          <a:bodyPr wrap="square" lIns="0" tIns="0" rIns="0" bIns="0" rtlCol="0" anchor="ctr"/>
          <a:lstStyle/>
          <a:p>
            <a:pPr indent="0" marL="0">
              <a:buNone/>
            </a:pPr>
            <a:r>
              <a:rPr lang="en-US" sz="1500" b="1" dirty="0">
                <a:solidFill>
                  <a:schemeClr val="accent1"/>
                </a:solidFill>
              </a:rPr>
              <a:t>상황 C</a:t>
            </a:r>
            <a:endParaRPr lang="en-US" sz="1500" dirty="0"/>
          </a:p>
        </p:txBody>
      </p:sp>
      <p:sp>
        <p:nvSpPr>
          <p:cNvPr id="14" name="Text 10"/>
          <p:cNvSpPr txBox="1"/>
          <p:nvPr/>
        </p:nvSpPr>
        <p:spPr>
          <a:xfrm>
            <a:off x="822960" y="3749040"/>
            <a:ext cx="4846320" cy="1051560"/>
          </a:xfrm>
          <a:prstGeom prst="rect">
            <a:avLst/>
          </a:prstGeom>
          <a:noFill/>
          <a:ln/>
        </p:spPr>
        <p:txBody>
          <a:bodyPr wrap="square" lIns="0" tIns="0" rIns="0" bIns="0" rtlCol="0" anchor="t"/>
          <a:lstStyle/>
          <a:p>
            <a:pPr indent="0" marL="0">
              <a:buNone/>
            </a:pPr>
            <a:r>
              <a:rPr lang="en-US" sz="1400" dirty="0">
                <a:solidFill>
                  <a:schemeClr val="tx1"/>
                </a:solidFill>
              </a:rPr>
              <a:t>단둘이 있을 때 서연이 ‘싫어’라고 했지만, 상대는 ‘우리 사귀잖아, 다들 이 정도는 해’라며 계속 스킨십을 한다.</a:t>
            </a:r>
            <a:endParaRPr lang="en-US" sz="1400" dirty="0"/>
          </a:p>
        </p:txBody>
      </p:sp>
      <p:sp>
        <p:nvSpPr>
          <p:cNvPr id="15" name="Card"/>
          <p:cNvSpPr/>
          <p:nvPr/>
        </p:nvSpPr>
        <p:spPr>
          <a:xfrm>
            <a:off x="6217920" y="3246120"/>
            <a:ext cx="5394960" cy="1645920"/>
          </a:xfrm>
          <a:prstGeom prst="roundRect">
            <a:avLst>
              <a:gd name="adj" fmla="val 11111"/>
            </a:avLst>
          </a:prstGeom>
          <a:solidFill>
            <a:schemeClr val="bg1"/>
          </a:solidFill>
          <a:ln w="15875">
            <a:solidFill>
              <a:srgbClr val="E8505B"/>
            </a:solidFill>
            <a:prstDash val="dash"/>
          </a:ln>
          <a:effectLst>
            <a:outerShdw sx="100000" sy="100000" kx="0" ky="0" algn="bl" rotWithShape="0" blurRad="101600" dist="25400" dir="5400000">
              <a:srgbClr val="4A1D3F">
                <a:alpha val="10000"/>
              </a:srgbClr>
            </a:outerShdw>
          </a:effectLst>
        </p:spPr>
      </p:sp>
      <p:sp>
        <p:nvSpPr>
          <p:cNvPr id="16" name="Text 12"/>
          <p:cNvSpPr txBox="1"/>
          <p:nvPr/>
        </p:nvSpPr>
        <p:spPr>
          <a:xfrm>
            <a:off x="6492240" y="3383280"/>
            <a:ext cx="1371600" cy="365760"/>
          </a:xfrm>
          <a:prstGeom prst="rect">
            <a:avLst/>
          </a:prstGeom>
          <a:noFill/>
          <a:ln/>
        </p:spPr>
        <p:txBody>
          <a:bodyPr wrap="square" lIns="0" tIns="0" rIns="0" bIns="0" rtlCol="0" anchor="ctr"/>
          <a:lstStyle/>
          <a:p>
            <a:pPr indent="0" marL="0">
              <a:buNone/>
            </a:pPr>
            <a:r>
              <a:rPr lang="en-US" sz="1500" b="1" dirty="0">
                <a:solidFill>
                  <a:schemeClr val="accent1"/>
                </a:solidFill>
              </a:rPr>
              <a:t>상황 D</a:t>
            </a:r>
            <a:endParaRPr lang="en-US" sz="1500" dirty="0"/>
          </a:p>
        </p:txBody>
      </p:sp>
      <p:sp>
        <p:nvSpPr>
          <p:cNvPr id="17" name="Text 13"/>
          <p:cNvSpPr txBox="1"/>
          <p:nvPr/>
        </p:nvSpPr>
        <p:spPr>
          <a:xfrm>
            <a:off x="6492240" y="3749040"/>
            <a:ext cx="4846320" cy="1051560"/>
          </a:xfrm>
          <a:prstGeom prst="rect">
            <a:avLst/>
          </a:prstGeom>
          <a:noFill/>
          <a:ln/>
        </p:spPr>
        <p:txBody>
          <a:bodyPr wrap="square" lIns="0" tIns="0" rIns="0" bIns="0" rtlCol="0" anchor="t"/>
          <a:lstStyle/>
          <a:p>
            <a:pPr indent="0" marL="0">
              <a:buNone/>
            </a:pPr>
            <a:r>
              <a:rPr lang="en-US" sz="1400" dirty="0">
                <a:solidFill>
                  <a:schemeClr val="tx1"/>
                </a:solidFill>
              </a:rPr>
              <a:t>헤어지자는 말에 전 연인이 ‘예전에 보낸 사진, 반 단톡방에 올려도 돼?’라고 메시지를 보냈다.</a:t>
            </a:r>
            <a:endParaRPr lang="en-US" sz="1400" dirty="0"/>
          </a:p>
        </p:txBody>
      </p:sp>
      <p:sp>
        <p:nvSpPr>
          <p:cNvPr id="18" name="Card"/>
          <p:cNvSpPr/>
          <p:nvPr/>
        </p:nvSpPr>
        <p:spPr>
          <a:xfrm>
            <a:off x="548640" y="5166360"/>
            <a:ext cx="11064240" cy="777240"/>
          </a:xfrm>
          <a:prstGeom prst="roundRect">
            <a:avLst>
              <a:gd name="adj" fmla="val 23529"/>
            </a:avLst>
          </a:prstGeom>
          <a:solidFill>
            <a:schemeClr val="tx2"/>
          </a:solidFill>
          <a:ln/>
          <a:effectLst>
            <a:outerShdw sx="100000" sy="100000" kx="0" ky="0" algn="bl" rotWithShape="0" blurRad="101600" dist="25400" dir="5400000">
              <a:srgbClr val="4A1D3F">
                <a:alpha val="28000"/>
              </a:srgbClr>
            </a:outerShdw>
          </a:effectLst>
        </p:spPr>
      </p:sp>
      <p:sp>
        <p:nvSpPr>
          <p:cNvPr id="19" name="Text 15"/>
          <p:cNvSpPr txBox="1"/>
          <p:nvPr/>
        </p:nvSpPr>
        <p:spPr>
          <a:xfrm>
            <a:off x="822960" y="5166360"/>
            <a:ext cx="10515600" cy="777240"/>
          </a:xfrm>
          <a:prstGeom prst="rect">
            <a:avLst/>
          </a:prstGeom>
          <a:noFill/>
          <a:ln/>
        </p:spPr>
        <p:txBody>
          <a:bodyPr wrap="square" lIns="0" tIns="0" rIns="0" bIns="0" rtlCol="0" anchor="ctr"/>
          <a:lstStyle/>
          <a:p>
            <a:pPr indent="0" marL="0">
              <a:buNone/>
            </a:pPr>
            <a:r>
              <a:rPr lang="en-US" sz="1500" b="1" dirty="0">
                <a:solidFill>
                  <a:schemeClr val="bg1"/>
                </a:solidFill>
              </a:rPr>
              <a:t>판단 기준 3가지  ①  상대가 두려워하거나 눈치를 보는가   ②  선택의 자유를 빼앗는가   ③  반복되는가</a:t>
            </a:r>
            <a:endParaRPr lang="en-US" sz="1500" dirty="0"/>
          </a:p>
        </p:txBody>
      </p:sp>
      <p:sp>
        <p:nvSpPr>
          <p:cNvPr id="20" name="Text 16"/>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 교육용으로 재구성한 가상 사례입니다</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실제 사례 ① 이별을 받아들이지 못한 폭력</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3. 폭력 유형</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4572000" cy="4526280"/>
          </a:xfrm>
          <a:prstGeom prst="roundRect">
            <a:avLst>
              <a:gd name="adj" fmla="val 4040"/>
            </a:avLst>
          </a:prstGeom>
          <a:solidFill>
            <a:schemeClr val="tx2"/>
          </a:solidFill>
          <a:ln/>
          <a:effectLst>
            <a:outerShdw sx="100000" sy="100000" kx="0" ky="0" algn="bl" rotWithShape="0" blurRad="101600" dist="25400" dir="5400000">
              <a:srgbClr val="4A1D3F">
                <a:alpha val="28000"/>
              </a:srgbClr>
            </a:outerShdw>
          </a:effectLst>
        </p:spPr>
      </p:sp>
      <p:sp>
        <p:nvSpPr>
          <p:cNvPr id="7" name="Case tag"/>
          <p:cNvSpPr/>
          <p:nvPr/>
        </p:nvSpPr>
        <p:spPr>
          <a:xfrm>
            <a:off x="822960" y="1645920"/>
            <a:ext cx="1005840" cy="384048"/>
          </a:xfrm>
          <a:prstGeom prst="roundRect">
            <a:avLst>
              <a:gd name="adj" fmla="val 23810"/>
            </a:avLst>
          </a:prstGeom>
          <a:solidFill>
            <a:schemeClr val="accent1"/>
          </a:solidFill>
          <a:ln/>
        </p:spPr>
      </p:sp>
      <p:sp>
        <p:nvSpPr>
          <p:cNvPr id="8" name="Text 4"/>
          <p:cNvSpPr txBox="1"/>
          <p:nvPr/>
        </p:nvSpPr>
        <p:spPr>
          <a:xfrm>
            <a:off x="822960" y="1645920"/>
            <a:ext cx="1005840" cy="384048"/>
          </a:xfrm>
          <a:prstGeom prst="rect">
            <a:avLst/>
          </a:prstGeom>
          <a:noFill/>
          <a:ln/>
        </p:spPr>
        <p:txBody>
          <a:bodyPr wrap="square" lIns="0" tIns="0" rIns="0" bIns="0" rtlCol="0" anchor="ctr"/>
          <a:lstStyle/>
          <a:p>
            <a:pPr algn="ctr" indent="0" marL="0">
              <a:buNone/>
            </a:pPr>
            <a:r>
              <a:rPr lang="en-US" sz="1300" b="1" dirty="0">
                <a:solidFill>
                  <a:schemeClr val="bg1"/>
                </a:solidFill>
              </a:rPr>
              <a:t>사례 1</a:t>
            </a:r>
            <a:endParaRPr lang="en-US" sz="1300" dirty="0"/>
          </a:p>
        </p:txBody>
      </p:sp>
      <p:sp>
        <p:nvSpPr>
          <p:cNvPr id="9" name="Text 5"/>
          <p:cNvSpPr txBox="1"/>
          <p:nvPr/>
        </p:nvSpPr>
        <p:spPr>
          <a:xfrm>
            <a:off x="822960" y="2148840"/>
            <a:ext cx="4114800" cy="822960"/>
          </a:xfrm>
          <a:prstGeom prst="rect">
            <a:avLst/>
          </a:prstGeom>
          <a:noFill/>
          <a:ln/>
        </p:spPr>
        <p:txBody>
          <a:bodyPr wrap="square" lIns="0" tIns="0" rIns="0" bIns="0" rtlCol="0" anchor="t"/>
          <a:lstStyle/>
          <a:p>
            <a:pPr indent="0" marL="0">
              <a:buNone/>
            </a:pPr>
            <a:r>
              <a:rPr lang="en-US" sz="2200" b="1" dirty="0">
                <a:solidFill>
                  <a:schemeClr val="bg1"/>
                </a:solidFill>
              </a:rPr>
              <a:t>강남역 교제살인 사건</a:t>
            </a:r>
            <a:endParaRPr lang="en-US" sz="2200" dirty="0"/>
          </a:p>
        </p:txBody>
      </p:sp>
      <p:sp>
        <p:nvSpPr>
          <p:cNvPr id="10" name="Text 6"/>
          <p:cNvSpPr txBox="1"/>
          <p:nvPr/>
        </p:nvSpPr>
        <p:spPr>
          <a:xfrm>
            <a:off x="822960" y="2971800"/>
            <a:ext cx="4114800" cy="548640"/>
          </a:xfrm>
          <a:prstGeom prst="rect">
            <a:avLst/>
          </a:prstGeom>
          <a:noFill/>
          <a:ln/>
        </p:spPr>
        <p:txBody>
          <a:bodyPr wrap="square" lIns="0" tIns="0" rIns="0" bIns="0" rtlCol="0" anchor="t"/>
          <a:lstStyle/>
          <a:p>
            <a:pPr indent="0" marL="0">
              <a:buNone/>
            </a:pPr>
            <a:r>
              <a:rPr lang="en-US" sz="1300" dirty="0">
                <a:solidFill>
                  <a:schemeClr val="accent3"/>
                </a:solidFill>
              </a:rPr>
              <a:t>2024년 5월 · 서울 · 피해자 20대</a:t>
            </a:r>
            <a:endParaRPr lang="en-US" sz="1300" dirty="0"/>
          </a:p>
        </p:txBody>
      </p:sp>
      <p:sp>
        <p:nvSpPr>
          <p:cNvPr id="11" name="Text 7"/>
          <p:cNvSpPr txBox="1"/>
          <p:nvPr/>
        </p:nvSpPr>
        <p:spPr>
          <a:xfrm>
            <a:off x="822960" y="3566160"/>
            <a:ext cx="4114800" cy="2286000"/>
          </a:xfrm>
          <a:prstGeom prst="rect">
            <a:avLst/>
          </a:prstGeom>
          <a:noFill/>
          <a:ln/>
        </p:spPr>
        <p:txBody>
          <a:bodyPr wrap="square" rtlCol="0" anchor="t"/>
          <a:lstStyle/>
          <a:p>
            <a:pPr marL="342900" indent="-342900">
              <a:spcAft>
                <a:spcPts val="800"/>
              </a:spcAft>
              <a:buSzPct val="100000"/>
              <a:buChar char="•"/>
            </a:pPr>
            <a:r>
              <a:rPr lang="en-US" sz="1400" dirty="0">
                <a:solidFill>
                  <a:schemeClr val="bg1"/>
                </a:solidFill>
              </a:rPr>
              <a:t>결별 문제로 갈등하던 연인을 살해</a:t>
            </a:r>
            <a:endParaRPr lang="en-US" sz="1400" dirty="0"/>
          </a:p>
          <a:p>
            <a:pPr marL="342900" indent="-342900">
              <a:spcAft>
                <a:spcPts val="800"/>
              </a:spcAft>
              <a:buSzPct val="100000"/>
              <a:buChar char="•"/>
            </a:pPr>
            <a:r>
              <a:rPr lang="en-US" sz="1400" dirty="0">
                <a:solidFill>
                  <a:schemeClr val="bg1"/>
                </a:solidFill>
              </a:rPr>
              <a:t>범행 도구를 미리 준비한 계획 범행</a:t>
            </a:r>
            <a:endParaRPr lang="en-US" sz="1400" dirty="0"/>
          </a:p>
          <a:p>
            <a:pPr marL="342900" indent="-342900">
              <a:spcAft>
                <a:spcPts val="800"/>
              </a:spcAft>
              <a:buSzPct val="100000"/>
              <a:buChar char="•"/>
            </a:pPr>
            <a:r>
              <a:rPr lang="en-US" sz="1400" dirty="0">
                <a:solidFill>
                  <a:schemeClr val="bg1"/>
                </a:solidFill>
              </a:rPr>
              <a:t>법원: 피해자 가족의 소송으로 자신의 학적이 위태로워질까 봐 범행을 결심</a:t>
            </a:r>
            <a:endParaRPr lang="en-US" sz="1400" dirty="0"/>
          </a:p>
        </p:txBody>
      </p:sp>
      <p:sp>
        <p:nvSpPr>
          <p:cNvPr id="12" name="Text 8"/>
          <p:cNvSpPr txBox="1"/>
          <p:nvPr/>
        </p:nvSpPr>
        <p:spPr>
          <a:xfrm>
            <a:off x="5486400" y="1417320"/>
            <a:ext cx="6126480" cy="365760"/>
          </a:xfrm>
          <a:prstGeom prst="rect">
            <a:avLst/>
          </a:prstGeom>
          <a:noFill/>
          <a:ln/>
        </p:spPr>
        <p:txBody>
          <a:bodyPr wrap="square" lIns="0" tIns="0" rIns="0" bIns="0" rtlCol="0" anchor="ctr"/>
          <a:lstStyle/>
          <a:p>
            <a:pPr indent="0" marL="0">
              <a:buNone/>
            </a:pPr>
            <a:r>
              <a:rPr lang="en-US" sz="1700" b="1" dirty="0">
                <a:solidFill>
                  <a:schemeClr val="tx2"/>
                </a:solidFill>
              </a:rPr>
              <a:t>사건 경과와 판결</a:t>
            </a:r>
            <a:endParaRPr lang="en-US" sz="1700" dirty="0"/>
          </a:p>
        </p:txBody>
      </p:sp>
      <p:sp>
        <p:nvSpPr>
          <p:cNvPr id="13" name="Timeline line"/>
          <p:cNvSpPr/>
          <p:nvPr/>
        </p:nvSpPr>
        <p:spPr>
          <a:xfrm>
            <a:off x="5641848" y="2057400"/>
            <a:ext cx="0" cy="1885950"/>
          </a:xfrm>
          <a:prstGeom prst="line">
            <a:avLst/>
          </a:prstGeom>
          <a:noFill/>
          <a:ln w="25400">
            <a:solidFill>
              <a:schemeClr val="accent3"/>
            </a:solidFill>
            <a:prstDash val="solid"/>
          </a:ln>
        </p:spPr>
      </p:sp>
      <p:sp>
        <p:nvSpPr>
          <p:cNvPr id="14" name="Timeline dot"/>
          <p:cNvSpPr/>
          <p:nvPr/>
        </p:nvSpPr>
        <p:spPr>
          <a:xfrm>
            <a:off x="5532120" y="1947672"/>
            <a:ext cx="219456" cy="219456"/>
          </a:xfrm>
          <a:prstGeom prst="ellipse">
            <a:avLst/>
          </a:prstGeom>
          <a:solidFill>
            <a:schemeClr val="tx2"/>
          </a:solidFill>
          <a:ln/>
        </p:spPr>
      </p:sp>
      <p:sp>
        <p:nvSpPr>
          <p:cNvPr id="15" name="Text 11"/>
          <p:cNvSpPr txBox="1"/>
          <p:nvPr/>
        </p:nvSpPr>
        <p:spPr>
          <a:xfrm>
            <a:off x="5943600" y="1874520"/>
            <a:ext cx="1737360" cy="365760"/>
          </a:xfrm>
          <a:prstGeom prst="rect">
            <a:avLst/>
          </a:prstGeom>
          <a:noFill/>
          <a:ln/>
        </p:spPr>
        <p:txBody>
          <a:bodyPr wrap="square" lIns="0" tIns="0" rIns="0" bIns="0" rtlCol="0" anchor="ctr"/>
          <a:lstStyle/>
          <a:p>
            <a:pPr indent="0" marL="0">
              <a:buNone/>
            </a:pPr>
            <a:r>
              <a:rPr lang="en-US" sz="1400" b="1" dirty="0">
                <a:solidFill>
                  <a:schemeClr val="accent1"/>
                </a:solidFill>
              </a:rPr>
              <a:t>2024.5</a:t>
            </a:r>
            <a:endParaRPr lang="en-US" sz="1400" dirty="0"/>
          </a:p>
        </p:txBody>
      </p:sp>
      <p:sp>
        <p:nvSpPr>
          <p:cNvPr id="16" name="Text 12"/>
          <p:cNvSpPr txBox="1"/>
          <p:nvPr/>
        </p:nvSpPr>
        <p:spPr>
          <a:xfrm>
            <a:off x="7726680" y="1874520"/>
            <a:ext cx="3886200" cy="582930"/>
          </a:xfrm>
          <a:prstGeom prst="rect">
            <a:avLst/>
          </a:prstGeom>
          <a:noFill/>
          <a:ln/>
        </p:spPr>
        <p:txBody>
          <a:bodyPr wrap="square" lIns="0" tIns="0" rIns="0" bIns="0" rtlCol="0" anchor="t"/>
          <a:lstStyle/>
          <a:p>
            <a:pPr indent="0" marL="0">
              <a:buNone/>
            </a:pPr>
            <a:r>
              <a:rPr lang="en-US" sz="1400" dirty="0">
                <a:solidFill>
                  <a:schemeClr val="tx1"/>
                </a:solidFill>
              </a:rPr>
              <a:t>범행 후 체포·구속기소</a:t>
            </a:r>
            <a:endParaRPr lang="en-US" sz="1400" dirty="0"/>
          </a:p>
        </p:txBody>
      </p:sp>
      <p:sp>
        <p:nvSpPr>
          <p:cNvPr id="17" name="Timeline dot"/>
          <p:cNvSpPr/>
          <p:nvPr/>
        </p:nvSpPr>
        <p:spPr>
          <a:xfrm>
            <a:off x="5532120" y="2576322"/>
            <a:ext cx="219456" cy="219456"/>
          </a:xfrm>
          <a:prstGeom prst="ellipse">
            <a:avLst/>
          </a:prstGeom>
          <a:solidFill>
            <a:schemeClr val="tx2"/>
          </a:solidFill>
          <a:ln/>
        </p:spPr>
      </p:sp>
      <p:sp>
        <p:nvSpPr>
          <p:cNvPr id="18" name="Text 14"/>
          <p:cNvSpPr txBox="1"/>
          <p:nvPr/>
        </p:nvSpPr>
        <p:spPr>
          <a:xfrm>
            <a:off x="5943600" y="2503170"/>
            <a:ext cx="1737360" cy="365760"/>
          </a:xfrm>
          <a:prstGeom prst="rect">
            <a:avLst/>
          </a:prstGeom>
          <a:noFill/>
          <a:ln/>
        </p:spPr>
        <p:txBody>
          <a:bodyPr wrap="square" lIns="0" tIns="0" rIns="0" bIns="0" rtlCol="0" anchor="ctr"/>
          <a:lstStyle/>
          <a:p>
            <a:pPr indent="0" marL="0">
              <a:buNone/>
            </a:pPr>
            <a:r>
              <a:rPr lang="en-US" sz="1400" b="1" dirty="0">
                <a:solidFill>
                  <a:schemeClr val="accent1"/>
                </a:solidFill>
              </a:rPr>
              <a:t>1심</a:t>
            </a:r>
            <a:endParaRPr lang="en-US" sz="1400" dirty="0"/>
          </a:p>
        </p:txBody>
      </p:sp>
      <p:sp>
        <p:nvSpPr>
          <p:cNvPr id="19" name="Text 15"/>
          <p:cNvSpPr txBox="1"/>
          <p:nvPr/>
        </p:nvSpPr>
        <p:spPr>
          <a:xfrm>
            <a:off x="7726680" y="2503170"/>
            <a:ext cx="3886200" cy="582930"/>
          </a:xfrm>
          <a:prstGeom prst="rect">
            <a:avLst/>
          </a:prstGeom>
          <a:noFill/>
          <a:ln/>
        </p:spPr>
        <p:txBody>
          <a:bodyPr wrap="square" lIns="0" tIns="0" rIns="0" bIns="0" rtlCol="0" anchor="t"/>
          <a:lstStyle/>
          <a:p>
            <a:pPr indent="0" marL="0">
              <a:buNone/>
            </a:pPr>
            <a:r>
              <a:rPr lang="en-US" sz="1400" dirty="0">
                <a:solidFill>
                  <a:schemeClr val="tx1"/>
                </a:solidFill>
              </a:rPr>
              <a:t>징역 26년</a:t>
            </a:r>
            <a:endParaRPr lang="en-US" sz="1400" dirty="0"/>
          </a:p>
        </p:txBody>
      </p:sp>
      <p:sp>
        <p:nvSpPr>
          <p:cNvPr id="20" name="Timeline dot"/>
          <p:cNvSpPr/>
          <p:nvPr/>
        </p:nvSpPr>
        <p:spPr>
          <a:xfrm>
            <a:off x="5532120" y="3204972"/>
            <a:ext cx="219456" cy="219456"/>
          </a:xfrm>
          <a:prstGeom prst="ellipse">
            <a:avLst/>
          </a:prstGeom>
          <a:solidFill>
            <a:schemeClr val="tx2"/>
          </a:solidFill>
          <a:ln/>
        </p:spPr>
      </p:sp>
      <p:sp>
        <p:nvSpPr>
          <p:cNvPr id="21" name="Text 17"/>
          <p:cNvSpPr txBox="1"/>
          <p:nvPr/>
        </p:nvSpPr>
        <p:spPr>
          <a:xfrm>
            <a:off x="5943600" y="3131820"/>
            <a:ext cx="1737360" cy="365760"/>
          </a:xfrm>
          <a:prstGeom prst="rect">
            <a:avLst/>
          </a:prstGeom>
          <a:noFill/>
          <a:ln/>
        </p:spPr>
        <p:txBody>
          <a:bodyPr wrap="square" lIns="0" tIns="0" rIns="0" bIns="0" rtlCol="0" anchor="ctr"/>
          <a:lstStyle/>
          <a:p>
            <a:pPr indent="0" marL="0">
              <a:buNone/>
            </a:pPr>
            <a:r>
              <a:rPr lang="en-US" sz="1400" b="1" dirty="0">
                <a:solidFill>
                  <a:schemeClr val="accent1"/>
                </a:solidFill>
              </a:rPr>
              <a:t>2심</a:t>
            </a:r>
            <a:endParaRPr lang="en-US" sz="1400" dirty="0"/>
          </a:p>
        </p:txBody>
      </p:sp>
      <p:sp>
        <p:nvSpPr>
          <p:cNvPr id="22" name="Text 18"/>
          <p:cNvSpPr txBox="1"/>
          <p:nvPr/>
        </p:nvSpPr>
        <p:spPr>
          <a:xfrm>
            <a:off x="7726680" y="3131820"/>
            <a:ext cx="3886200" cy="582930"/>
          </a:xfrm>
          <a:prstGeom prst="rect">
            <a:avLst/>
          </a:prstGeom>
          <a:noFill/>
          <a:ln/>
        </p:spPr>
        <p:txBody>
          <a:bodyPr wrap="square" lIns="0" tIns="0" rIns="0" bIns="0" rtlCol="0" anchor="t"/>
          <a:lstStyle/>
          <a:p>
            <a:pPr indent="0" marL="0">
              <a:buNone/>
            </a:pPr>
            <a:r>
              <a:rPr lang="en-US" sz="1400" dirty="0">
                <a:solidFill>
                  <a:schemeClr val="tx1"/>
                </a:solidFill>
              </a:rPr>
              <a:t>‘형이 가볍다’며 징역 30년으로 늘림</a:t>
            </a:r>
            <a:endParaRPr lang="en-US" sz="1400" dirty="0"/>
          </a:p>
        </p:txBody>
      </p:sp>
      <p:sp>
        <p:nvSpPr>
          <p:cNvPr id="23" name="Timeline dot"/>
          <p:cNvSpPr/>
          <p:nvPr/>
        </p:nvSpPr>
        <p:spPr>
          <a:xfrm>
            <a:off x="5532120" y="3833622"/>
            <a:ext cx="219456" cy="219456"/>
          </a:xfrm>
          <a:prstGeom prst="ellipse">
            <a:avLst/>
          </a:prstGeom>
          <a:solidFill>
            <a:schemeClr val="accent1"/>
          </a:solidFill>
          <a:ln/>
        </p:spPr>
      </p:sp>
      <p:sp>
        <p:nvSpPr>
          <p:cNvPr id="24" name="Text 20"/>
          <p:cNvSpPr txBox="1"/>
          <p:nvPr/>
        </p:nvSpPr>
        <p:spPr>
          <a:xfrm>
            <a:off x="5943600" y="3760470"/>
            <a:ext cx="1737360" cy="365760"/>
          </a:xfrm>
          <a:prstGeom prst="rect">
            <a:avLst/>
          </a:prstGeom>
          <a:noFill/>
          <a:ln/>
        </p:spPr>
        <p:txBody>
          <a:bodyPr wrap="square" lIns="0" tIns="0" rIns="0" bIns="0" rtlCol="0" anchor="ctr"/>
          <a:lstStyle/>
          <a:p>
            <a:pPr indent="0" marL="0">
              <a:buNone/>
            </a:pPr>
            <a:r>
              <a:rPr lang="en-US" sz="1400" b="1" dirty="0">
                <a:solidFill>
                  <a:schemeClr val="accent1"/>
                </a:solidFill>
              </a:rPr>
              <a:t>2025.9.11</a:t>
            </a:r>
            <a:endParaRPr lang="en-US" sz="1400" dirty="0"/>
          </a:p>
        </p:txBody>
      </p:sp>
      <p:sp>
        <p:nvSpPr>
          <p:cNvPr id="25" name="Text 21"/>
          <p:cNvSpPr txBox="1"/>
          <p:nvPr/>
        </p:nvSpPr>
        <p:spPr>
          <a:xfrm>
            <a:off x="7726680" y="3760470"/>
            <a:ext cx="3886200" cy="582930"/>
          </a:xfrm>
          <a:prstGeom prst="rect">
            <a:avLst/>
          </a:prstGeom>
          <a:noFill/>
          <a:ln/>
        </p:spPr>
        <p:txBody>
          <a:bodyPr wrap="square" lIns="0" tIns="0" rIns="0" bIns="0" rtlCol="0" anchor="t"/>
          <a:lstStyle/>
          <a:p>
            <a:pPr indent="0" marL="0">
              <a:buNone/>
            </a:pPr>
            <a:r>
              <a:rPr lang="en-US" sz="1400" dirty="0">
                <a:solidFill>
                  <a:schemeClr val="tx1"/>
                </a:solidFill>
              </a:rPr>
              <a:t>대법원 징역 30년 확정</a:t>
            </a:r>
            <a:endParaRPr lang="en-US" sz="1400" dirty="0"/>
          </a:p>
        </p:txBody>
      </p:sp>
      <p:sp>
        <p:nvSpPr>
          <p:cNvPr id="26" name="Card"/>
          <p:cNvSpPr/>
          <p:nvPr/>
        </p:nvSpPr>
        <p:spPr>
          <a:xfrm>
            <a:off x="5486400" y="4572000"/>
            <a:ext cx="6126480" cy="1371600"/>
          </a:xfrm>
          <a:prstGeom prst="roundRect">
            <a:avLst>
              <a:gd name="adj" fmla="val 1333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7" name="Text 23"/>
          <p:cNvSpPr txBox="1"/>
          <p:nvPr/>
        </p:nvSpPr>
        <p:spPr>
          <a:xfrm>
            <a:off x="5715000" y="4663440"/>
            <a:ext cx="5669280" cy="347472"/>
          </a:xfrm>
          <a:prstGeom prst="rect">
            <a:avLst/>
          </a:prstGeom>
          <a:noFill/>
          <a:ln/>
        </p:spPr>
        <p:txBody>
          <a:bodyPr wrap="square" lIns="0" tIns="0" rIns="0" bIns="0" rtlCol="0" anchor="ctr"/>
          <a:lstStyle/>
          <a:p>
            <a:pPr indent="0" marL="0">
              <a:buNone/>
            </a:pPr>
            <a:r>
              <a:rPr lang="en-US" sz="1500" b="1" dirty="0">
                <a:solidFill>
                  <a:schemeClr val="accent1"/>
                </a:solidFill>
              </a:rPr>
              <a:t>이 사건에서 배울 점</a:t>
            </a:r>
            <a:endParaRPr lang="en-US" sz="1500" dirty="0"/>
          </a:p>
        </p:txBody>
      </p:sp>
      <p:sp>
        <p:nvSpPr>
          <p:cNvPr id="28" name="Text 24"/>
          <p:cNvSpPr txBox="1"/>
          <p:nvPr/>
        </p:nvSpPr>
        <p:spPr>
          <a:xfrm>
            <a:off x="5715000" y="5010912"/>
            <a:ext cx="5715000" cy="868680"/>
          </a:xfrm>
          <a:prstGeom prst="rect">
            <a:avLst/>
          </a:prstGeom>
          <a:noFill/>
          <a:ln/>
        </p:spPr>
        <p:txBody>
          <a:bodyPr wrap="square" lIns="0" tIns="0" rIns="0" bIns="0" rtlCol="0" anchor="t"/>
          <a:lstStyle/>
          <a:p>
            <a:pPr indent="0" marL="0">
              <a:buNone/>
            </a:pPr>
            <a:r>
              <a:rPr lang="en-US" sz="1400" dirty="0">
                <a:solidFill>
                  <a:schemeClr val="tx1"/>
                </a:solidFill>
              </a:rPr>
              <a:t>이별을 이야기하는 시기가 가장 위험합니다. 상대가 이별을 받아들이지 못하고 집착·위협을 보이면 단둘이 만나지 말고, 주변과 기관에 먼저 알려야 합니다.</a:t>
            </a:r>
            <a:endParaRPr lang="en-US" sz="1400" dirty="0"/>
          </a:p>
        </p:txBody>
      </p:sp>
      <p:sp>
        <p:nvSpPr>
          <p:cNvPr id="29"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노컷뉴스·경향신문 2025.9.11 · 법률신문(대법원 2025도10098)</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실제 사례 ② 반복된 폭력, 가벼운 처벌</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3. 폭력 유형</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4572000" cy="4526280"/>
          </a:xfrm>
          <a:prstGeom prst="roundRect">
            <a:avLst>
              <a:gd name="adj" fmla="val 4040"/>
            </a:avLst>
          </a:prstGeom>
          <a:solidFill>
            <a:schemeClr val="tx2"/>
          </a:solidFill>
          <a:ln/>
          <a:effectLst>
            <a:outerShdw sx="100000" sy="100000" kx="0" ky="0" algn="bl" rotWithShape="0" blurRad="101600" dist="25400" dir="5400000">
              <a:srgbClr val="4A1D3F">
                <a:alpha val="28000"/>
              </a:srgbClr>
            </a:outerShdw>
          </a:effectLst>
        </p:spPr>
      </p:sp>
      <p:sp>
        <p:nvSpPr>
          <p:cNvPr id="7" name="Case tag"/>
          <p:cNvSpPr/>
          <p:nvPr/>
        </p:nvSpPr>
        <p:spPr>
          <a:xfrm>
            <a:off x="822960" y="1645920"/>
            <a:ext cx="1005840" cy="384048"/>
          </a:xfrm>
          <a:prstGeom prst="roundRect">
            <a:avLst>
              <a:gd name="adj" fmla="val 23810"/>
            </a:avLst>
          </a:prstGeom>
          <a:solidFill>
            <a:schemeClr val="accent1"/>
          </a:solidFill>
          <a:ln/>
        </p:spPr>
      </p:sp>
      <p:sp>
        <p:nvSpPr>
          <p:cNvPr id="8" name="Text 4"/>
          <p:cNvSpPr txBox="1"/>
          <p:nvPr/>
        </p:nvSpPr>
        <p:spPr>
          <a:xfrm>
            <a:off x="822960" y="1645920"/>
            <a:ext cx="1005840" cy="384048"/>
          </a:xfrm>
          <a:prstGeom prst="rect">
            <a:avLst/>
          </a:prstGeom>
          <a:noFill/>
          <a:ln/>
        </p:spPr>
        <p:txBody>
          <a:bodyPr wrap="square" lIns="0" tIns="0" rIns="0" bIns="0" rtlCol="0" anchor="ctr"/>
          <a:lstStyle/>
          <a:p>
            <a:pPr algn="ctr" indent="0" marL="0">
              <a:buNone/>
            </a:pPr>
            <a:r>
              <a:rPr lang="en-US" sz="1300" b="1" dirty="0">
                <a:solidFill>
                  <a:schemeClr val="bg1"/>
                </a:solidFill>
              </a:rPr>
              <a:t>사례 2</a:t>
            </a:r>
            <a:endParaRPr lang="en-US" sz="1300" dirty="0"/>
          </a:p>
        </p:txBody>
      </p:sp>
      <p:sp>
        <p:nvSpPr>
          <p:cNvPr id="9" name="Text 5"/>
          <p:cNvSpPr txBox="1"/>
          <p:nvPr/>
        </p:nvSpPr>
        <p:spPr>
          <a:xfrm>
            <a:off x="822960" y="2148840"/>
            <a:ext cx="4114800" cy="822960"/>
          </a:xfrm>
          <a:prstGeom prst="rect">
            <a:avLst/>
          </a:prstGeom>
          <a:noFill/>
          <a:ln/>
        </p:spPr>
        <p:txBody>
          <a:bodyPr wrap="square" lIns="0" tIns="0" rIns="0" bIns="0" rtlCol="0" anchor="t"/>
          <a:lstStyle/>
          <a:p>
            <a:pPr indent="0" marL="0">
              <a:buNone/>
            </a:pPr>
            <a:r>
              <a:rPr lang="en-US" sz="2200" b="1" dirty="0">
                <a:solidFill>
                  <a:schemeClr val="bg1"/>
                </a:solidFill>
              </a:rPr>
              <a:t>거제 교제폭력</a:t>
            </a:r>
            <a:endParaRPr lang="en-US" sz="2200" dirty="0"/>
          </a:p>
          <a:p>
            <a:pPr indent="0" marL="0">
              <a:buNone/>
            </a:pPr>
            <a:r>
              <a:rPr lang="en-US" sz="2200" b="1" dirty="0">
                <a:solidFill>
                  <a:schemeClr val="bg1"/>
                </a:solidFill>
              </a:rPr>
              <a:t>사망 사건</a:t>
            </a:r>
            <a:endParaRPr lang="en-US" sz="2200" dirty="0"/>
          </a:p>
        </p:txBody>
      </p:sp>
      <p:sp>
        <p:nvSpPr>
          <p:cNvPr id="10" name="Text 6"/>
          <p:cNvSpPr txBox="1"/>
          <p:nvPr/>
        </p:nvSpPr>
        <p:spPr>
          <a:xfrm>
            <a:off x="822960" y="2971800"/>
            <a:ext cx="4114800" cy="548640"/>
          </a:xfrm>
          <a:prstGeom prst="rect">
            <a:avLst/>
          </a:prstGeom>
          <a:noFill/>
          <a:ln/>
        </p:spPr>
        <p:txBody>
          <a:bodyPr wrap="square" lIns="0" tIns="0" rIns="0" bIns="0" rtlCol="0" anchor="t"/>
          <a:lstStyle/>
          <a:p>
            <a:pPr indent="0" marL="0">
              <a:buNone/>
            </a:pPr>
            <a:r>
              <a:rPr lang="en-US" sz="1300" dirty="0">
                <a:solidFill>
                  <a:schemeClr val="accent3"/>
                </a:solidFill>
              </a:rPr>
              <a:t>2024년 4월 · 경남 거제 · 피해자 19세</a:t>
            </a:r>
            <a:endParaRPr lang="en-US" sz="1300" dirty="0"/>
          </a:p>
        </p:txBody>
      </p:sp>
      <p:sp>
        <p:nvSpPr>
          <p:cNvPr id="11" name="Text 7"/>
          <p:cNvSpPr txBox="1"/>
          <p:nvPr/>
        </p:nvSpPr>
        <p:spPr>
          <a:xfrm>
            <a:off x="822960" y="3566160"/>
            <a:ext cx="4114800" cy="2286000"/>
          </a:xfrm>
          <a:prstGeom prst="rect">
            <a:avLst/>
          </a:prstGeom>
          <a:noFill/>
          <a:ln/>
        </p:spPr>
        <p:txBody>
          <a:bodyPr wrap="square" rtlCol="0" anchor="t"/>
          <a:lstStyle/>
          <a:p>
            <a:pPr marL="342900" indent="-342900">
              <a:spcAft>
                <a:spcPts val="800"/>
              </a:spcAft>
              <a:buSzPct val="100000"/>
              <a:buChar char="•"/>
            </a:pPr>
            <a:r>
              <a:rPr lang="en-US" sz="1400" dirty="0">
                <a:solidFill>
                  <a:schemeClr val="bg1"/>
                </a:solidFill>
              </a:rPr>
              <a:t>헤어진 전 연인이 피해자의 집에 침입해 장시간 폭행</a:t>
            </a:r>
            <a:endParaRPr lang="en-US" sz="1400" dirty="0"/>
          </a:p>
          <a:p>
            <a:pPr marL="342900" indent="-342900">
              <a:spcAft>
                <a:spcPts val="800"/>
              </a:spcAft>
              <a:buSzPct val="100000"/>
              <a:buChar char="•"/>
            </a:pPr>
            <a:r>
              <a:rPr lang="en-US" sz="1400" dirty="0">
                <a:solidFill>
                  <a:schemeClr val="bg1"/>
                </a:solidFill>
              </a:rPr>
              <a:t>피해자는 치료를 받다 열흘 만에 사망</a:t>
            </a:r>
            <a:endParaRPr lang="en-US" sz="1400" dirty="0"/>
          </a:p>
          <a:p>
            <a:pPr marL="342900" indent="-342900">
              <a:spcAft>
                <a:spcPts val="800"/>
              </a:spcAft>
              <a:buSzPct val="100000"/>
              <a:buChar char="•"/>
            </a:pPr>
            <a:r>
              <a:rPr lang="en-US" sz="1400" dirty="0">
                <a:solidFill>
                  <a:schemeClr val="bg1"/>
                </a:solidFill>
              </a:rPr>
              <a:t>법원은 살인의 고의를 인정하지 않고 상해치사를 적용</a:t>
            </a:r>
            <a:endParaRPr lang="en-US" sz="1400" dirty="0"/>
          </a:p>
        </p:txBody>
      </p:sp>
      <p:sp>
        <p:nvSpPr>
          <p:cNvPr id="12" name="Text 8"/>
          <p:cNvSpPr txBox="1"/>
          <p:nvPr/>
        </p:nvSpPr>
        <p:spPr>
          <a:xfrm>
            <a:off x="5486400" y="1417320"/>
            <a:ext cx="6126480" cy="365760"/>
          </a:xfrm>
          <a:prstGeom prst="rect">
            <a:avLst/>
          </a:prstGeom>
          <a:noFill/>
          <a:ln/>
        </p:spPr>
        <p:txBody>
          <a:bodyPr wrap="square" lIns="0" tIns="0" rIns="0" bIns="0" rtlCol="0" anchor="ctr"/>
          <a:lstStyle/>
          <a:p>
            <a:pPr indent="0" marL="0">
              <a:buNone/>
            </a:pPr>
            <a:r>
              <a:rPr lang="en-US" sz="1700" b="1" dirty="0">
                <a:solidFill>
                  <a:schemeClr val="tx2"/>
                </a:solidFill>
              </a:rPr>
              <a:t>사건 경과와 판결</a:t>
            </a:r>
            <a:endParaRPr lang="en-US" sz="1700" dirty="0"/>
          </a:p>
        </p:txBody>
      </p:sp>
      <p:sp>
        <p:nvSpPr>
          <p:cNvPr id="13" name="Timeline line"/>
          <p:cNvSpPr/>
          <p:nvPr/>
        </p:nvSpPr>
        <p:spPr>
          <a:xfrm>
            <a:off x="5641848" y="2057400"/>
            <a:ext cx="0" cy="1885950"/>
          </a:xfrm>
          <a:prstGeom prst="line">
            <a:avLst/>
          </a:prstGeom>
          <a:noFill/>
          <a:ln w="25400">
            <a:solidFill>
              <a:schemeClr val="accent3"/>
            </a:solidFill>
            <a:prstDash val="solid"/>
          </a:ln>
        </p:spPr>
      </p:sp>
      <p:sp>
        <p:nvSpPr>
          <p:cNvPr id="14" name="Timeline dot"/>
          <p:cNvSpPr/>
          <p:nvPr/>
        </p:nvSpPr>
        <p:spPr>
          <a:xfrm>
            <a:off x="5532120" y="1947672"/>
            <a:ext cx="219456" cy="219456"/>
          </a:xfrm>
          <a:prstGeom prst="ellipse">
            <a:avLst/>
          </a:prstGeom>
          <a:solidFill>
            <a:schemeClr val="tx2"/>
          </a:solidFill>
          <a:ln/>
        </p:spPr>
      </p:sp>
      <p:sp>
        <p:nvSpPr>
          <p:cNvPr id="15" name="Text 11"/>
          <p:cNvSpPr txBox="1"/>
          <p:nvPr/>
        </p:nvSpPr>
        <p:spPr>
          <a:xfrm>
            <a:off x="5943600" y="1874520"/>
            <a:ext cx="1737360" cy="365760"/>
          </a:xfrm>
          <a:prstGeom prst="rect">
            <a:avLst/>
          </a:prstGeom>
          <a:noFill/>
          <a:ln/>
        </p:spPr>
        <p:txBody>
          <a:bodyPr wrap="square" lIns="0" tIns="0" rIns="0" bIns="0" rtlCol="0" anchor="ctr"/>
          <a:lstStyle/>
          <a:p>
            <a:pPr indent="0" marL="0">
              <a:buNone/>
            </a:pPr>
            <a:r>
              <a:rPr lang="en-US" sz="1400" b="1" dirty="0">
                <a:solidFill>
                  <a:schemeClr val="accent1"/>
                </a:solidFill>
              </a:rPr>
              <a:t>2024.4.1</a:t>
            </a:r>
            <a:endParaRPr lang="en-US" sz="1400" dirty="0"/>
          </a:p>
        </p:txBody>
      </p:sp>
      <p:sp>
        <p:nvSpPr>
          <p:cNvPr id="16" name="Text 12"/>
          <p:cNvSpPr txBox="1"/>
          <p:nvPr/>
        </p:nvSpPr>
        <p:spPr>
          <a:xfrm>
            <a:off x="7726680" y="1874520"/>
            <a:ext cx="3886200" cy="582930"/>
          </a:xfrm>
          <a:prstGeom prst="rect">
            <a:avLst/>
          </a:prstGeom>
          <a:noFill/>
          <a:ln/>
        </p:spPr>
        <p:txBody>
          <a:bodyPr wrap="square" lIns="0" tIns="0" rIns="0" bIns="0" rtlCol="0" anchor="t"/>
          <a:lstStyle/>
          <a:p>
            <a:pPr indent="0" marL="0">
              <a:buNone/>
            </a:pPr>
            <a:r>
              <a:rPr lang="en-US" sz="1400" dirty="0">
                <a:solidFill>
                  <a:schemeClr val="tx1"/>
                </a:solidFill>
              </a:rPr>
              <a:t>폭행 발생, 피해자 입원</a:t>
            </a:r>
            <a:endParaRPr lang="en-US" sz="1400" dirty="0"/>
          </a:p>
        </p:txBody>
      </p:sp>
      <p:sp>
        <p:nvSpPr>
          <p:cNvPr id="17" name="Timeline dot"/>
          <p:cNvSpPr/>
          <p:nvPr/>
        </p:nvSpPr>
        <p:spPr>
          <a:xfrm>
            <a:off x="5532120" y="2576322"/>
            <a:ext cx="219456" cy="219456"/>
          </a:xfrm>
          <a:prstGeom prst="ellipse">
            <a:avLst/>
          </a:prstGeom>
          <a:solidFill>
            <a:schemeClr val="tx2"/>
          </a:solidFill>
          <a:ln/>
        </p:spPr>
      </p:sp>
      <p:sp>
        <p:nvSpPr>
          <p:cNvPr id="18" name="Text 14"/>
          <p:cNvSpPr txBox="1"/>
          <p:nvPr/>
        </p:nvSpPr>
        <p:spPr>
          <a:xfrm>
            <a:off x="5943600" y="2503170"/>
            <a:ext cx="1737360" cy="365760"/>
          </a:xfrm>
          <a:prstGeom prst="rect">
            <a:avLst/>
          </a:prstGeom>
          <a:noFill/>
          <a:ln/>
        </p:spPr>
        <p:txBody>
          <a:bodyPr wrap="square" lIns="0" tIns="0" rIns="0" bIns="0" rtlCol="0" anchor="ctr"/>
          <a:lstStyle/>
          <a:p>
            <a:pPr indent="0" marL="0">
              <a:buNone/>
            </a:pPr>
            <a:r>
              <a:rPr lang="en-US" sz="1400" b="1" dirty="0">
                <a:solidFill>
                  <a:schemeClr val="accent1"/>
                </a:solidFill>
              </a:rPr>
              <a:t>약 10일 뒤</a:t>
            </a:r>
            <a:endParaRPr lang="en-US" sz="1400" dirty="0"/>
          </a:p>
        </p:txBody>
      </p:sp>
      <p:sp>
        <p:nvSpPr>
          <p:cNvPr id="19" name="Text 15"/>
          <p:cNvSpPr txBox="1"/>
          <p:nvPr/>
        </p:nvSpPr>
        <p:spPr>
          <a:xfrm>
            <a:off x="7726680" y="2503170"/>
            <a:ext cx="3886200" cy="582930"/>
          </a:xfrm>
          <a:prstGeom prst="rect">
            <a:avLst/>
          </a:prstGeom>
          <a:noFill/>
          <a:ln/>
        </p:spPr>
        <p:txBody>
          <a:bodyPr wrap="square" lIns="0" tIns="0" rIns="0" bIns="0" rtlCol="0" anchor="t"/>
          <a:lstStyle/>
          <a:p>
            <a:pPr indent="0" marL="0">
              <a:buNone/>
            </a:pPr>
            <a:r>
              <a:rPr lang="en-US" sz="1400" dirty="0">
                <a:solidFill>
                  <a:schemeClr val="tx1"/>
                </a:solidFill>
              </a:rPr>
              <a:t>피해자 사망</a:t>
            </a:r>
            <a:endParaRPr lang="en-US" sz="1400" dirty="0"/>
          </a:p>
        </p:txBody>
      </p:sp>
      <p:sp>
        <p:nvSpPr>
          <p:cNvPr id="20" name="Timeline dot"/>
          <p:cNvSpPr/>
          <p:nvPr/>
        </p:nvSpPr>
        <p:spPr>
          <a:xfrm>
            <a:off x="5532120" y="3204972"/>
            <a:ext cx="219456" cy="219456"/>
          </a:xfrm>
          <a:prstGeom prst="ellipse">
            <a:avLst/>
          </a:prstGeom>
          <a:solidFill>
            <a:schemeClr val="tx2"/>
          </a:solidFill>
          <a:ln/>
        </p:spPr>
      </p:sp>
      <p:sp>
        <p:nvSpPr>
          <p:cNvPr id="21" name="Text 17"/>
          <p:cNvSpPr txBox="1"/>
          <p:nvPr/>
        </p:nvSpPr>
        <p:spPr>
          <a:xfrm>
            <a:off x="5943600" y="3131820"/>
            <a:ext cx="1737360" cy="365760"/>
          </a:xfrm>
          <a:prstGeom prst="rect">
            <a:avLst/>
          </a:prstGeom>
          <a:noFill/>
          <a:ln/>
        </p:spPr>
        <p:txBody>
          <a:bodyPr wrap="square" lIns="0" tIns="0" rIns="0" bIns="0" rtlCol="0" anchor="ctr"/>
          <a:lstStyle/>
          <a:p>
            <a:pPr indent="0" marL="0">
              <a:buNone/>
            </a:pPr>
            <a:r>
              <a:rPr lang="en-US" sz="1400" b="1" dirty="0">
                <a:solidFill>
                  <a:schemeClr val="accent1"/>
                </a:solidFill>
              </a:rPr>
              <a:t>2024.11</a:t>
            </a:r>
            <a:endParaRPr lang="en-US" sz="1400" dirty="0"/>
          </a:p>
        </p:txBody>
      </p:sp>
      <p:sp>
        <p:nvSpPr>
          <p:cNvPr id="22" name="Text 18"/>
          <p:cNvSpPr txBox="1"/>
          <p:nvPr/>
        </p:nvSpPr>
        <p:spPr>
          <a:xfrm>
            <a:off x="7726680" y="3131820"/>
            <a:ext cx="3886200" cy="582930"/>
          </a:xfrm>
          <a:prstGeom prst="rect">
            <a:avLst/>
          </a:prstGeom>
          <a:noFill/>
          <a:ln/>
        </p:spPr>
        <p:txBody>
          <a:bodyPr wrap="square" lIns="0" tIns="0" rIns="0" bIns="0" rtlCol="0" anchor="t"/>
          <a:lstStyle/>
          <a:p>
            <a:pPr indent="0" marL="0">
              <a:buNone/>
            </a:pPr>
            <a:r>
              <a:rPr lang="en-US" sz="1400" dirty="0">
                <a:solidFill>
                  <a:schemeClr val="tx1"/>
                </a:solidFill>
              </a:rPr>
              <a:t>1심 징역 12년 (검찰 구형 20년)</a:t>
            </a:r>
            <a:endParaRPr lang="en-US" sz="1400" dirty="0"/>
          </a:p>
        </p:txBody>
      </p:sp>
      <p:sp>
        <p:nvSpPr>
          <p:cNvPr id="23" name="Timeline dot"/>
          <p:cNvSpPr/>
          <p:nvPr/>
        </p:nvSpPr>
        <p:spPr>
          <a:xfrm>
            <a:off x="5532120" y="3833622"/>
            <a:ext cx="219456" cy="219456"/>
          </a:xfrm>
          <a:prstGeom prst="ellipse">
            <a:avLst/>
          </a:prstGeom>
          <a:solidFill>
            <a:schemeClr val="accent1"/>
          </a:solidFill>
          <a:ln/>
        </p:spPr>
      </p:sp>
      <p:sp>
        <p:nvSpPr>
          <p:cNvPr id="24" name="Text 20"/>
          <p:cNvSpPr txBox="1"/>
          <p:nvPr/>
        </p:nvSpPr>
        <p:spPr>
          <a:xfrm>
            <a:off x="5943600" y="3760470"/>
            <a:ext cx="1737360" cy="365760"/>
          </a:xfrm>
          <a:prstGeom prst="rect">
            <a:avLst/>
          </a:prstGeom>
          <a:noFill/>
          <a:ln/>
        </p:spPr>
        <p:txBody>
          <a:bodyPr wrap="square" lIns="0" tIns="0" rIns="0" bIns="0" rtlCol="0" anchor="ctr"/>
          <a:lstStyle/>
          <a:p>
            <a:pPr indent="0" marL="0">
              <a:buNone/>
            </a:pPr>
            <a:r>
              <a:rPr lang="en-US" sz="1400" b="1" dirty="0">
                <a:solidFill>
                  <a:schemeClr val="accent1"/>
                </a:solidFill>
              </a:rPr>
              <a:t>2025.9.4</a:t>
            </a:r>
            <a:endParaRPr lang="en-US" sz="1400" dirty="0"/>
          </a:p>
        </p:txBody>
      </p:sp>
      <p:sp>
        <p:nvSpPr>
          <p:cNvPr id="25" name="Text 21"/>
          <p:cNvSpPr txBox="1"/>
          <p:nvPr/>
        </p:nvSpPr>
        <p:spPr>
          <a:xfrm>
            <a:off x="7726680" y="3760470"/>
            <a:ext cx="3886200" cy="582930"/>
          </a:xfrm>
          <a:prstGeom prst="rect">
            <a:avLst/>
          </a:prstGeom>
          <a:noFill/>
          <a:ln/>
        </p:spPr>
        <p:txBody>
          <a:bodyPr wrap="square" lIns="0" tIns="0" rIns="0" bIns="0" rtlCol="0" anchor="t"/>
          <a:lstStyle/>
          <a:p>
            <a:pPr indent="0" marL="0">
              <a:buNone/>
            </a:pPr>
            <a:r>
              <a:rPr lang="en-US" sz="1400" dirty="0">
                <a:solidFill>
                  <a:schemeClr val="tx1"/>
                </a:solidFill>
              </a:rPr>
              <a:t>대법원 징역 12년 확정</a:t>
            </a:r>
            <a:endParaRPr lang="en-US" sz="1400" dirty="0"/>
          </a:p>
        </p:txBody>
      </p:sp>
      <p:sp>
        <p:nvSpPr>
          <p:cNvPr id="26" name="Card"/>
          <p:cNvSpPr/>
          <p:nvPr/>
        </p:nvSpPr>
        <p:spPr>
          <a:xfrm>
            <a:off x="5486400" y="4572000"/>
            <a:ext cx="6126480" cy="1371600"/>
          </a:xfrm>
          <a:prstGeom prst="roundRect">
            <a:avLst>
              <a:gd name="adj" fmla="val 1333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7" name="Text 23"/>
          <p:cNvSpPr txBox="1"/>
          <p:nvPr/>
        </p:nvSpPr>
        <p:spPr>
          <a:xfrm>
            <a:off x="5715000" y="4663440"/>
            <a:ext cx="5669280" cy="347472"/>
          </a:xfrm>
          <a:prstGeom prst="rect">
            <a:avLst/>
          </a:prstGeom>
          <a:noFill/>
          <a:ln/>
        </p:spPr>
        <p:txBody>
          <a:bodyPr wrap="square" lIns="0" tIns="0" rIns="0" bIns="0" rtlCol="0" anchor="ctr"/>
          <a:lstStyle/>
          <a:p>
            <a:pPr indent="0" marL="0">
              <a:buNone/>
            </a:pPr>
            <a:r>
              <a:rPr lang="en-US" sz="1500" b="1" dirty="0">
                <a:solidFill>
                  <a:schemeClr val="accent1"/>
                </a:solidFill>
              </a:rPr>
              <a:t>무엇이 문제였나?</a:t>
            </a:r>
            <a:endParaRPr lang="en-US" sz="1500" dirty="0"/>
          </a:p>
        </p:txBody>
      </p:sp>
      <p:sp>
        <p:nvSpPr>
          <p:cNvPr id="28" name="Text 24"/>
          <p:cNvSpPr txBox="1"/>
          <p:nvPr/>
        </p:nvSpPr>
        <p:spPr>
          <a:xfrm>
            <a:off x="5715000" y="5010912"/>
            <a:ext cx="5715000" cy="868680"/>
          </a:xfrm>
          <a:prstGeom prst="rect">
            <a:avLst/>
          </a:prstGeom>
          <a:noFill/>
          <a:ln/>
        </p:spPr>
        <p:txBody>
          <a:bodyPr wrap="square" lIns="0" tIns="0" rIns="0" bIns="0" rtlCol="0" anchor="t"/>
          <a:lstStyle/>
          <a:p>
            <a:pPr indent="0" marL="0">
              <a:buNone/>
            </a:pPr>
            <a:r>
              <a:rPr lang="en-US" sz="1400" dirty="0">
                <a:solidFill>
                  <a:schemeClr val="tx1"/>
                </a:solidFill>
              </a:rPr>
              <a:t>교제폭력 전용 양형기준이 없어 상해치사 기준(기본 3~5년)으로 판단됩니다. ‘사랑싸움’으로 여겨진 폭력이 죽음으로 이어졌고, 교제폭력처벌법 제정 요구로 이어졌습니다.</a:t>
            </a:r>
            <a:endParaRPr lang="en-US" sz="1400" dirty="0"/>
          </a:p>
        </p:txBody>
      </p:sp>
      <p:sp>
        <p:nvSpPr>
          <p:cNvPr id="29"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경향신문 2024.11.14 · 경남도민일보(대법원 확정) · 서울경제</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내가 피해를 겪는다면</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4. 대처·예방·신고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Step circle"/>
          <p:cNvSpPr/>
          <p:nvPr/>
        </p:nvSpPr>
        <p:spPr>
          <a:xfrm>
            <a:off x="1463040" y="1463040"/>
            <a:ext cx="777240" cy="777240"/>
          </a:xfrm>
          <a:prstGeom prst="ellipse">
            <a:avLst/>
          </a:prstGeom>
          <a:solidFill>
            <a:schemeClr val="accent1"/>
          </a:solidFill>
          <a:ln/>
        </p:spPr>
      </p:sp>
      <p:sp>
        <p:nvSpPr>
          <p:cNvPr id="7" name="Text 3"/>
          <p:cNvSpPr txBox="1"/>
          <p:nvPr/>
        </p:nvSpPr>
        <p:spPr>
          <a:xfrm>
            <a:off x="1463040" y="146304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Step connector"/>
          <p:cNvSpPr/>
          <p:nvPr/>
        </p:nvSpPr>
        <p:spPr>
          <a:xfrm>
            <a:off x="2377440" y="1856232"/>
            <a:ext cx="2606040" cy="0"/>
          </a:xfrm>
          <a:prstGeom prst="line">
            <a:avLst/>
          </a:prstGeom>
          <a:noFill/>
          <a:ln w="25400">
            <a:solidFill>
              <a:schemeClr val="accent3"/>
            </a:solidFill>
            <a:prstDash val="dash"/>
          </a:ln>
        </p:spPr>
      </p:sp>
      <p:sp>
        <p:nvSpPr>
          <p:cNvPr id="9" name="Card"/>
          <p:cNvSpPr/>
          <p:nvPr/>
        </p:nvSpPr>
        <p:spPr>
          <a:xfrm>
            <a:off x="548640" y="2468880"/>
            <a:ext cx="2651760" cy="1828800"/>
          </a:xfrm>
          <a:prstGeom prst="roundRect">
            <a:avLst>
              <a:gd name="adj" fmla="val 1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0" name="Text 6"/>
          <p:cNvSpPr txBox="1"/>
          <p:nvPr/>
        </p:nvSpPr>
        <p:spPr>
          <a:xfrm>
            <a:off x="731520" y="2560320"/>
            <a:ext cx="2286000" cy="457200"/>
          </a:xfrm>
          <a:prstGeom prst="rect">
            <a:avLst/>
          </a:prstGeom>
          <a:noFill/>
          <a:ln/>
        </p:spPr>
        <p:txBody>
          <a:bodyPr wrap="square" lIns="0" tIns="0" rIns="0" bIns="0" rtlCol="0" anchor="ctr"/>
          <a:lstStyle/>
          <a:p>
            <a:pPr algn="ctr" indent="0" marL="0">
              <a:buNone/>
            </a:pPr>
            <a:r>
              <a:rPr lang="en-US" sz="1800" b="1" dirty="0">
                <a:solidFill>
                  <a:schemeClr val="tx2"/>
                </a:solidFill>
              </a:rPr>
              <a:t>안전 확보</a:t>
            </a:r>
            <a:endParaRPr lang="en-US" sz="1800" dirty="0"/>
          </a:p>
        </p:txBody>
      </p:sp>
      <p:sp>
        <p:nvSpPr>
          <p:cNvPr id="11" name="Text 7"/>
          <p:cNvSpPr txBox="1"/>
          <p:nvPr/>
        </p:nvSpPr>
        <p:spPr>
          <a:xfrm>
            <a:off x="777240" y="3063240"/>
            <a:ext cx="2194560" cy="1143000"/>
          </a:xfrm>
          <a:prstGeom prst="rect">
            <a:avLst/>
          </a:prstGeom>
          <a:noFill/>
          <a:ln/>
        </p:spPr>
        <p:txBody>
          <a:bodyPr wrap="square" lIns="0" tIns="0" rIns="0" bIns="0" rtlCol="0" anchor="t"/>
          <a:lstStyle/>
          <a:p>
            <a:pPr indent="0" marL="0">
              <a:buNone/>
            </a:pPr>
            <a:r>
              <a:rPr lang="en-US" sz="1400" dirty="0">
                <a:solidFill>
                  <a:schemeClr val="tx1"/>
                </a:solidFill>
              </a:rPr>
              <a:t>위험한 장소를 벗어나 사람이 많은 곳으로 이동하세요</a:t>
            </a:r>
            <a:endParaRPr lang="en-US" sz="1400" dirty="0"/>
          </a:p>
        </p:txBody>
      </p:sp>
      <p:sp>
        <p:nvSpPr>
          <p:cNvPr id="12" name="Step circle"/>
          <p:cNvSpPr/>
          <p:nvPr/>
        </p:nvSpPr>
        <p:spPr>
          <a:xfrm>
            <a:off x="4297680" y="1463040"/>
            <a:ext cx="777240" cy="777240"/>
          </a:xfrm>
          <a:prstGeom prst="ellipse">
            <a:avLst/>
          </a:prstGeom>
          <a:solidFill>
            <a:schemeClr val="accent1"/>
          </a:solidFill>
          <a:ln/>
        </p:spPr>
      </p:sp>
      <p:sp>
        <p:nvSpPr>
          <p:cNvPr id="13" name="Text 9"/>
          <p:cNvSpPr txBox="1"/>
          <p:nvPr/>
        </p:nvSpPr>
        <p:spPr>
          <a:xfrm>
            <a:off x="4297680" y="146304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4" name="Step connector"/>
          <p:cNvSpPr/>
          <p:nvPr/>
        </p:nvSpPr>
        <p:spPr>
          <a:xfrm>
            <a:off x="5212080" y="1856232"/>
            <a:ext cx="2606040" cy="0"/>
          </a:xfrm>
          <a:prstGeom prst="line">
            <a:avLst/>
          </a:prstGeom>
          <a:noFill/>
          <a:ln w="25400">
            <a:solidFill>
              <a:schemeClr val="accent3"/>
            </a:solidFill>
            <a:prstDash val="dash"/>
          </a:ln>
        </p:spPr>
      </p:sp>
      <p:sp>
        <p:nvSpPr>
          <p:cNvPr id="15" name="Card"/>
          <p:cNvSpPr/>
          <p:nvPr/>
        </p:nvSpPr>
        <p:spPr>
          <a:xfrm>
            <a:off x="3383280" y="2468880"/>
            <a:ext cx="2651760" cy="1828800"/>
          </a:xfrm>
          <a:prstGeom prst="roundRect">
            <a:avLst>
              <a:gd name="adj" fmla="val 1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6" name="Text 12"/>
          <p:cNvSpPr txBox="1"/>
          <p:nvPr/>
        </p:nvSpPr>
        <p:spPr>
          <a:xfrm>
            <a:off x="3566160" y="2560320"/>
            <a:ext cx="2286000" cy="457200"/>
          </a:xfrm>
          <a:prstGeom prst="rect">
            <a:avLst/>
          </a:prstGeom>
          <a:noFill/>
          <a:ln/>
        </p:spPr>
        <p:txBody>
          <a:bodyPr wrap="square" lIns="0" tIns="0" rIns="0" bIns="0" rtlCol="0" anchor="ctr"/>
          <a:lstStyle/>
          <a:p>
            <a:pPr algn="ctr" indent="0" marL="0">
              <a:buNone/>
            </a:pPr>
            <a:r>
              <a:rPr lang="en-US" sz="1800" b="1" dirty="0">
                <a:solidFill>
                  <a:schemeClr val="tx2"/>
                </a:solidFill>
              </a:rPr>
              <a:t>증거 남기기</a:t>
            </a:r>
            <a:endParaRPr lang="en-US" sz="1800" dirty="0"/>
          </a:p>
        </p:txBody>
      </p:sp>
      <p:sp>
        <p:nvSpPr>
          <p:cNvPr id="17" name="Text 13"/>
          <p:cNvSpPr txBox="1"/>
          <p:nvPr/>
        </p:nvSpPr>
        <p:spPr>
          <a:xfrm>
            <a:off x="3611880" y="3063240"/>
            <a:ext cx="2194560" cy="1143000"/>
          </a:xfrm>
          <a:prstGeom prst="rect">
            <a:avLst/>
          </a:prstGeom>
          <a:noFill/>
          <a:ln/>
        </p:spPr>
        <p:txBody>
          <a:bodyPr wrap="square" lIns="0" tIns="0" rIns="0" bIns="0" rtlCol="0" anchor="t"/>
          <a:lstStyle/>
          <a:p>
            <a:pPr indent="0" marL="0">
              <a:buNone/>
            </a:pPr>
            <a:r>
              <a:rPr lang="en-US" sz="1400" dirty="0">
                <a:solidFill>
                  <a:schemeClr val="tx1"/>
                </a:solidFill>
              </a:rPr>
              <a:t>날짜가 보이게 캡처, 상처 사진·진단서, 날짜별 기록</a:t>
            </a:r>
            <a:endParaRPr lang="en-US" sz="1400" dirty="0"/>
          </a:p>
        </p:txBody>
      </p:sp>
      <p:sp>
        <p:nvSpPr>
          <p:cNvPr id="18" name="Step circle"/>
          <p:cNvSpPr/>
          <p:nvPr/>
        </p:nvSpPr>
        <p:spPr>
          <a:xfrm>
            <a:off x="7132320" y="1463040"/>
            <a:ext cx="777240" cy="777240"/>
          </a:xfrm>
          <a:prstGeom prst="ellipse">
            <a:avLst/>
          </a:prstGeom>
          <a:solidFill>
            <a:schemeClr val="accent1"/>
          </a:solidFill>
          <a:ln/>
        </p:spPr>
      </p:sp>
      <p:sp>
        <p:nvSpPr>
          <p:cNvPr id="19" name="Text 15"/>
          <p:cNvSpPr txBox="1"/>
          <p:nvPr/>
        </p:nvSpPr>
        <p:spPr>
          <a:xfrm>
            <a:off x="7132320" y="146304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20" name="Step connector"/>
          <p:cNvSpPr/>
          <p:nvPr/>
        </p:nvSpPr>
        <p:spPr>
          <a:xfrm>
            <a:off x="8046720" y="1856232"/>
            <a:ext cx="2606040" cy="0"/>
          </a:xfrm>
          <a:prstGeom prst="line">
            <a:avLst/>
          </a:prstGeom>
          <a:noFill/>
          <a:ln w="25400">
            <a:solidFill>
              <a:schemeClr val="accent3"/>
            </a:solidFill>
            <a:prstDash val="dash"/>
          </a:ln>
        </p:spPr>
      </p:sp>
      <p:sp>
        <p:nvSpPr>
          <p:cNvPr id="21" name="Card"/>
          <p:cNvSpPr/>
          <p:nvPr/>
        </p:nvSpPr>
        <p:spPr>
          <a:xfrm>
            <a:off x="6217920" y="2468880"/>
            <a:ext cx="2651760" cy="1828800"/>
          </a:xfrm>
          <a:prstGeom prst="roundRect">
            <a:avLst>
              <a:gd name="adj" fmla="val 1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Text 18"/>
          <p:cNvSpPr txBox="1"/>
          <p:nvPr/>
        </p:nvSpPr>
        <p:spPr>
          <a:xfrm>
            <a:off x="6400800" y="2560320"/>
            <a:ext cx="2286000" cy="457200"/>
          </a:xfrm>
          <a:prstGeom prst="rect">
            <a:avLst/>
          </a:prstGeom>
          <a:noFill/>
          <a:ln/>
        </p:spPr>
        <p:txBody>
          <a:bodyPr wrap="square" lIns="0" tIns="0" rIns="0" bIns="0" rtlCol="0" anchor="ctr"/>
          <a:lstStyle/>
          <a:p>
            <a:pPr algn="ctr" indent="0" marL="0">
              <a:buNone/>
            </a:pPr>
            <a:r>
              <a:rPr lang="en-US" sz="1800" b="1" dirty="0">
                <a:solidFill>
                  <a:schemeClr val="tx2"/>
                </a:solidFill>
              </a:rPr>
              <a:t>주변에 알리기</a:t>
            </a:r>
            <a:endParaRPr lang="en-US" sz="1800" dirty="0"/>
          </a:p>
        </p:txBody>
      </p:sp>
      <p:sp>
        <p:nvSpPr>
          <p:cNvPr id="23" name="Text 19"/>
          <p:cNvSpPr txBox="1"/>
          <p:nvPr/>
        </p:nvSpPr>
        <p:spPr>
          <a:xfrm>
            <a:off x="6446520" y="3063240"/>
            <a:ext cx="2194560" cy="1143000"/>
          </a:xfrm>
          <a:prstGeom prst="rect">
            <a:avLst/>
          </a:prstGeom>
          <a:noFill/>
          <a:ln/>
        </p:spPr>
        <p:txBody>
          <a:bodyPr wrap="square" lIns="0" tIns="0" rIns="0" bIns="0" rtlCol="0" anchor="t"/>
          <a:lstStyle/>
          <a:p>
            <a:pPr indent="0" marL="0">
              <a:buNone/>
            </a:pPr>
            <a:r>
              <a:rPr lang="en-US" sz="1400" dirty="0">
                <a:solidFill>
                  <a:schemeClr val="tx1"/>
                </a:solidFill>
              </a:rPr>
              <a:t>보호자·담임·상담 선생님 등 믿을 수 있는 어른에게</a:t>
            </a:r>
            <a:endParaRPr lang="en-US" sz="1400" dirty="0"/>
          </a:p>
        </p:txBody>
      </p:sp>
      <p:sp>
        <p:nvSpPr>
          <p:cNvPr id="24" name="Step circle"/>
          <p:cNvSpPr/>
          <p:nvPr/>
        </p:nvSpPr>
        <p:spPr>
          <a:xfrm>
            <a:off x="9966960" y="1463040"/>
            <a:ext cx="777240" cy="777240"/>
          </a:xfrm>
          <a:prstGeom prst="ellipse">
            <a:avLst/>
          </a:prstGeom>
          <a:solidFill>
            <a:schemeClr val="accent1"/>
          </a:solidFill>
          <a:ln/>
        </p:spPr>
      </p:sp>
      <p:sp>
        <p:nvSpPr>
          <p:cNvPr id="25" name="Text 21"/>
          <p:cNvSpPr txBox="1"/>
          <p:nvPr/>
        </p:nvSpPr>
        <p:spPr>
          <a:xfrm>
            <a:off x="9966960" y="1463040"/>
            <a:ext cx="777240" cy="77724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6" name="Card"/>
          <p:cNvSpPr/>
          <p:nvPr/>
        </p:nvSpPr>
        <p:spPr>
          <a:xfrm>
            <a:off x="9052560" y="2468880"/>
            <a:ext cx="2651760" cy="1828800"/>
          </a:xfrm>
          <a:prstGeom prst="roundRect">
            <a:avLst>
              <a:gd name="adj" fmla="val 1000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7" name="Text 23"/>
          <p:cNvSpPr txBox="1"/>
          <p:nvPr/>
        </p:nvSpPr>
        <p:spPr>
          <a:xfrm>
            <a:off x="9235440" y="2560320"/>
            <a:ext cx="2286000" cy="457200"/>
          </a:xfrm>
          <a:prstGeom prst="rect">
            <a:avLst/>
          </a:prstGeom>
          <a:noFill/>
          <a:ln/>
        </p:spPr>
        <p:txBody>
          <a:bodyPr wrap="square" lIns="0" tIns="0" rIns="0" bIns="0" rtlCol="0" anchor="ctr"/>
          <a:lstStyle/>
          <a:p>
            <a:pPr algn="ctr" indent="0" marL="0">
              <a:buNone/>
            </a:pPr>
            <a:r>
              <a:rPr lang="en-US" sz="1800" b="1" dirty="0">
                <a:solidFill>
                  <a:schemeClr val="tx2"/>
                </a:solidFill>
              </a:rPr>
              <a:t>신고·상담</a:t>
            </a:r>
            <a:endParaRPr lang="en-US" sz="1800" dirty="0"/>
          </a:p>
        </p:txBody>
      </p:sp>
      <p:sp>
        <p:nvSpPr>
          <p:cNvPr id="28" name="Text 24"/>
          <p:cNvSpPr txBox="1"/>
          <p:nvPr/>
        </p:nvSpPr>
        <p:spPr>
          <a:xfrm>
            <a:off x="9281160" y="3063240"/>
            <a:ext cx="2194560" cy="1143000"/>
          </a:xfrm>
          <a:prstGeom prst="rect">
            <a:avLst/>
          </a:prstGeom>
          <a:noFill/>
          <a:ln/>
        </p:spPr>
        <p:txBody>
          <a:bodyPr wrap="square" lIns="0" tIns="0" rIns="0" bIns="0" rtlCol="0" anchor="t"/>
          <a:lstStyle/>
          <a:p>
            <a:pPr indent="0" marL="0">
              <a:buNone/>
            </a:pPr>
            <a:r>
              <a:rPr lang="en-US" sz="1400" dirty="0">
                <a:solidFill>
                  <a:schemeClr val="tx1"/>
                </a:solidFill>
              </a:rPr>
              <a:t>112 신고, 117·1366 상담으로 보호조치 요청</a:t>
            </a:r>
            <a:endParaRPr lang="en-US" sz="1400" dirty="0"/>
          </a:p>
        </p:txBody>
      </p:sp>
      <p:sp>
        <p:nvSpPr>
          <p:cNvPr id="29" name="Card"/>
          <p:cNvSpPr/>
          <p:nvPr/>
        </p:nvSpPr>
        <p:spPr>
          <a:xfrm>
            <a:off x="548640" y="4526280"/>
            <a:ext cx="11064240" cy="1051560"/>
          </a:xfrm>
          <a:prstGeom prst="roundRect">
            <a:avLst>
              <a:gd name="adj" fmla="val 17391"/>
            </a:avLst>
          </a:prstGeom>
          <a:solidFill>
            <a:schemeClr val="tx2"/>
          </a:solidFill>
          <a:ln/>
          <a:effectLst>
            <a:outerShdw sx="100000" sy="100000" kx="0" ky="0" algn="bl" rotWithShape="0" blurRad="101600" dist="25400" dir="5400000">
              <a:srgbClr val="4A1D3F">
                <a:alpha val="28000"/>
              </a:srgbClr>
            </a:outerShdw>
          </a:effectLst>
        </p:spPr>
      </p:sp>
      <p:sp>
        <p:nvSpPr>
          <p:cNvPr id="30" name="Text 26"/>
          <p:cNvSpPr txBox="1"/>
          <p:nvPr/>
        </p:nvSpPr>
        <p:spPr>
          <a:xfrm>
            <a:off x="822960" y="4526280"/>
            <a:ext cx="1828800" cy="1051560"/>
          </a:xfrm>
          <a:prstGeom prst="rect">
            <a:avLst/>
          </a:prstGeom>
          <a:noFill/>
          <a:ln/>
        </p:spPr>
        <p:txBody>
          <a:bodyPr wrap="square" lIns="0" tIns="0" rIns="0" bIns="0" rtlCol="0" anchor="ctr"/>
          <a:lstStyle/>
          <a:p>
            <a:pPr indent="0" marL="0">
              <a:buNone/>
            </a:pPr>
            <a:r>
              <a:rPr lang="en-US" sz="1600" b="1" dirty="0">
                <a:solidFill>
                  <a:schemeClr val="accent1"/>
                </a:solidFill>
              </a:rPr>
              <a:t>증거 보존 팁</a:t>
            </a:r>
            <a:endParaRPr lang="en-US" sz="1600" dirty="0"/>
          </a:p>
        </p:txBody>
      </p:sp>
      <p:sp>
        <p:nvSpPr>
          <p:cNvPr id="31" name="Text 27"/>
          <p:cNvSpPr txBox="1"/>
          <p:nvPr/>
        </p:nvSpPr>
        <p:spPr>
          <a:xfrm>
            <a:off x="2651760" y="4526280"/>
            <a:ext cx="8778240" cy="1051560"/>
          </a:xfrm>
          <a:prstGeom prst="rect">
            <a:avLst/>
          </a:prstGeom>
          <a:noFill/>
          <a:ln/>
        </p:spPr>
        <p:txBody>
          <a:bodyPr wrap="square" lIns="0" tIns="0" rIns="0" bIns="0" rtlCol="0" anchor="ctr"/>
          <a:lstStyle/>
          <a:p>
            <a:pPr indent="0" marL="0">
              <a:buNone/>
            </a:pPr>
            <a:r>
              <a:rPr lang="en-US" sz="1400" dirty="0">
                <a:solidFill>
                  <a:schemeClr val="bg1"/>
                </a:solidFill>
              </a:rPr>
              <a:t>대화방은 나가지 말고 캡처 · 통화 녹음은 내가 참여한 대화라면 가능 · 원본 파일은 지우지 말고 클라우드에도 백업 · 디지털 성범죄는 1366·디성센터에 삭제 지원 요청</a:t>
            </a:r>
            <a:endParaRPr lang="en-US" sz="1400" dirty="0"/>
          </a:p>
        </p:txBody>
      </p:sp>
      <p:sp>
        <p:nvSpPr>
          <p:cNvPr id="32" name="Tagline"/>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500" b="1" i="1" dirty="0">
                <a:solidFill>
                  <a:schemeClr val="accent1"/>
                </a:solidFill>
              </a:rPr>
              <a:t>“내 잘못이 아니다” — 폭력의 책임은 언제나 가해자에게 있습니다</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친구가 피해를 겪고 있다면: 방관자 개입 5D</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4. 대처·예방·신고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2103120" cy="3063240"/>
          </a:xfrm>
          <a:prstGeom prst="roundRect">
            <a:avLst>
              <a:gd name="adj" fmla="val 8696"/>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Text 3"/>
          <p:cNvSpPr txBox="1"/>
          <p:nvPr/>
        </p:nvSpPr>
        <p:spPr>
          <a:xfrm>
            <a:off x="731520" y="1554480"/>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Distract</a:t>
            </a:r>
            <a:endParaRPr lang="en-US" sz="1300" dirty="0"/>
          </a:p>
        </p:txBody>
      </p:sp>
      <p:sp>
        <p:nvSpPr>
          <p:cNvPr id="8" name="Text 4"/>
          <p:cNvSpPr txBox="1"/>
          <p:nvPr/>
        </p:nvSpPr>
        <p:spPr>
          <a:xfrm>
            <a:off x="731520" y="1920240"/>
            <a:ext cx="1737360" cy="457200"/>
          </a:xfrm>
          <a:prstGeom prst="rect">
            <a:avLst/>
          </a:prstGeom>
          <a:noFill/>
          <a:ln/>
        </p:spPr>
        <p:txBody>
          <a:bodyPr wrap="square" lIns="0" tIns="0" rIns="0" bIns="0" rtlCol="0" anchor="ctr"/>
          <a:lstStyle/>
          <a:p>
            <a:pPr indent="0" marL="0">
              <a:buNone/>
            </a:pPr>
            <a:r>
              <a:rPr lang="en-US" sz="1700" b="1" dirty="0">
                <a:solidFill>
                  <a:schemeClr val="tx2"/>
                </a:solidFill>
              </a:rPr>
              <a:t>주의 돌리기</a:t>
            </a:r>
            <a:endParaRPr lang="en-US" sz="1700" dirty="0"/>
          </a:p>
        </p:txBody>
      </p:sp>
      <p:sp>
        <p:nvSpPr>
          <p:cNvPr id="9" name="Text 5"/>
          <p:cNvSpPr txBox="1"/>
          <p:nvPr/>
        </p:nvSpPr>
        <p:spPr>
          <a:xfrm>
            <a:off x="731520" y="2468880"/>
            <a:ext cx="1737360" cy="1188720"/>
          </a:xfrm>
          <a:prstGeom prst="rect">
            <a:avLst/>
          </a:prstGeom>
          <a:noFill/>
          <a:ln/>
        </p:spPr>
        <p:txBody>
          <a:bodyPr wrap="square" lIns="0" tIns="0" rIns="0" bIns="0" rtlCol="0" anchor="t"/>
          <a:lstStyle/>
          <a:p>
            <a:pPr indent="0" marL="0">
              <a:buNone/>
            </a:pPr>
            <a:r>
              <a:rPr lang="en-US" sz="1300" dirty="0">
                <a:solidFill>
                  <a:schemeClr val="tx1"/>
                </a:solidFill>
              </a:rPr>
              <a:t>“선생님이 찾으셔” 하며 자연스럽게 상황을 끊기</a:t>
            </a:r>
            <a:endParaRPr lang="en-US" sz="1300" dirty="0"/>
          </a:p>
        </p:txBody>
      </p:sp>
      <p:pic>
        <p:nvPicPr>
          <p:cNvPr id="10" name="Illustration" descr="preencoded.png">    </p:cNvPr>
          <p:cNvPicPr>
            <a:picLocks noChangeAspect="1"/>
          </p:cNvPicPr>
          <p:nvPr/>
        </p:nvPicPr>
        <p:blipFill>
          <a:blip r:embed="rId2"/>
          <a:stretch>
            <a:fillRect/>
          </a:stretch>
        </p:blipFill>
        <p:spPr>
          <a:xfrm>
            <a:off x="1280160" y="3703320"/>
            <a:ext cx="640080" cy="640080"/>
          </a:xfrm>
          <a:prstGeom prst="rect">
            <a:avLst/>
          </a:prstGeom>
        </p:spPr>
      </p:pic>
      <p:sp>
        <p:nvSpPr>
          <p:cNvPr id="11" name="Card"/>
          <p:cNvSpPr/>
          <p:nvPr/>
        </p:nvSpPr>
        <p:spPr>
          <a:xfrm>
            <a:off x="2788920" y="1417320"/>
            <a:ext cx="2103120" cy="3063240"/>
          </a:xfrm>
          <a:prstGeom prst="roundRect">
            <a:avLst>
              <a:gd name="adj" fmla="val 8696"/>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2" name="Text 7"/>
          <p:cNvSpPr txBox="1"/>
          <p:nvPr/>
        </p:nvSpPr>
        <p:spPr>
          <a:xfrm>
            <a:off x="2971800" y="1554480"/>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Delegate</a:t>
            </a:r>
            <a:endParaRPr lang="en-US" sz="1300" dirty="0"/>
          </a:p>
        </p:txBody>
      </p:sp>
      <p:sp>
        <p:nvSpPr>
          <p:cNvPr id="13" name="Text 8"/>
          <p:cNvSpPr txBox="1"/>
          <p:nvPr/>
        </p:nvSpPr>
        <p:spPr>
          <a:xfrm>
            <a:off x="2971800" y="1920240"/>
            <a:ext cx="1737360" cy="457200"/>
          </a:xfrm>
          <a:prstGeom prst="rect">
            <a:avLst/>
          </a:prstGeom>
          <a:noFill/>
          <a:ln/>
        </p:spPr>
        <p:txBody>
          <a:bodyPr wrap="square" lIns="0" tIns="0" rIns="0" bIns="0" rtlCol="0" anchor="ctr"/>
          <a:lstStyle/>
          <a:p>
            <a:pPr indent="0" marL="0">
              <a:buNone/>
            </a:pPr>
            <a:r>
              <a:rPr lang="en-US" sz="1700" b="1" dirty="0">
                <a:solidFill>
                  <a:schemeClr val="tx2"/>
                </a:solidFill>
              </a:rPr>
              <a:t>도움 요청</a:t>
            </a:r>
            <a:endParaRPr lang="en-US" sz="1700" dirty="0"/>
          </a:p>
        </p:txBody>
      </p:sp>
      <p:sp>
        <p:nvSpPr>
          <p:cNvPr id="14" name="Text 9"/>
          <p:cNvSpPr txBox="1"/>
          <p:nvPr/>
        </p:nvSpPr>
        <p:spPr>
          <a:xfrm>
            <a:off x="2971800" y="2468880"/>
            <a:ext cx="1737360" cy="1188720"/>
          </a:xfrm>
          <a:prstGeom prst="rect">
            <a:avLst/>
          </a:prstGeom>
          <a:noFill/>
          <a:ln/>
        </p:spPr>
        <p:txBody>
          <a:bodyPr wrap="square" lIns="0" tIns="0" rIns="0" bIns="0" rtlCol="0" anchor="t"/>
          <a:lstStyle/>
          <a:p>
            <a:pPr indent="0" marL="0">
              <a:buNone/>
            </a:pPr>
            <a:r>
              <a:rPr lang="en-US" sz="1300" dirty="0">
                <a:solidFill>
                  <a:schemeClr val="tx1"/>
                </a:solidFill>
              </a:rPr>
              <a:t>선생님·보호자·117에 대신 알리기</a:t>
            </a:r>
            <a:endParaRPr lang="en-US" sz="1300" dirty="0"/>
          </a:p>
        </p:txBody>
      </p:sp>
      <p:pic>
        <p:nvPicPr>
          <p:cNvPr id="15" name="Illustration" descr="preencoded.png">    </p:cNvPr>
          <p:cNvPicPr>
            <a:picLocks noChangeAspect="1"/>
          </p:cNvPicPr>
          <p:nvPr/>
        </p:nvPicPr>
        <p:blipFill>
          <a:blip r:embed="rId3"/>
          <a:stretch>
            <a:fillRect/>
          </a:stretch>
        </p:blipFill>
        <p:spPr>
          <a:xfrm>
            <a:off x="3520440" y="3703320"/>
            <a:ext cx="640080" cy="640080"/>
          </a:xfrm>
          <a:prstGeom prst="rect">
            <a:avLst/>
          </a:prstGeom>
        </p:spPr>
      </p:pic>
      <p:sp>
        <p:nvSpPr>
          <p:cNvPr id="16" name="Card"/>
          <p:cNvSpPr/>
          <p:nvPr/>
        </p:nvSpPr>
        <p:spPr>
          <a:xfrm>
            <a:off x="5029200" y="1417320"/>
            <a:ext cx="2103120" cy="3063240"/>
          </a:xfrm>
          <a:prstGeom prst="roundRect">
            <a:avLst>
              <a:gd name="adj" fmla="val 8696"/>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7" name="Text 11"/>
          <p:cNvSpPr txBox="1"/>
          <p:nvPr/>
        </p:nvSpPr>
        <p:spPr>
          <a:xfrm>
            <a:off x="5212080" y="1554480"/>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Document</a:t>
            </a:r>
            <a:endParaRPr lang="en-US" sz="1300" dirty="0"/>
          </a:p>
        </p:txBody>
      </p:sp>
      <p:sp>
        <p:nvSpPr>
          <p:cNvPr id="18" name="Text 12"/>
          <p:cNvSpPr txBox="1"/>
          <p:nvPr/>
        </p:nvSpPr>
        <p:spPr>
          <a:xfrm>
            <a:off x="5212080" y="1920240"/>
            <a:ext cx="1737360" cy="457200"/>
          </a:xfrm>
          <a:prstGeom prst="rect">
            <a:avLst/>
          </a:prstGeom>
          <a:noFill/>
          <a:ln/>
        </p:spPr>
        <p:txBody>
          <a:bodyPr wrap="square" lIns="0" tIns="0" rIns="0" bIns="0" rtlCol="0" anchor="ctr"/>
          <a:lstStyle/>
          <a:p>
            <a:pPr indent="0" marL="0">
              <a:buNone/>
            </a:pPr>
            <a:r>
              <a:rPr lang="en-US" sz="1700" b="1" dirty="0">
                <a:solidFill>
                  <a:schemeClr val="tx2"/>
                </a:solidFill>
              </a:rPr>
              <a:t>기록하기</a:t>
            </a:r>
            <a:endParaRPr lang="en-US" sz="1700" dirty="0"/>
          </a:p>
        </p:txBody>
      </p:sp>
      <p:sp>
        <p:nvSpPr>
          <p:cNvPr id="19" name="Text 13"/>
          <p:cNvSpPr txBox="1"/>
          <p:nvPr/>
        </p:nvSpPr>
        <p:spPr>
          <a:xfrm>
            <a:off x="5212080" y="2468880"/>
            <a:ext cx="1737360" cy="1188720"/>
          </a:xfrm>
          <a:prstGeom prst="rect">
            <a:avLst/>
          </a:prstGeom>
          <a:noFill/>
          <a:ln/>
        </p:spPr>
        <p:txBody>
          <a:bodyPr wrap="square" lIns="0" tIns="0" rIns="0" bIns="0" rtlCol="0" anchor="t"/>
          <a:lstStyle/>
          <a:p>
            <a:pPr indent="0" marL="0">
              <a:buNone/>
            </a:pPr>
            <a:r>
              <a:rPr lang="en-US" sz="1300" dirty="0">
                <a:solidFill>
                  <a:schemeClr val="tx1"/>
                </a:solidFill>
              </a:rPr>
              <a:t>안전한 거리에서 날짜·내용 기록 (피해자 동의 없이 퍼뜨리지 않기)</a:t>
            </a:r>
            <a:endParaRPr lang="en-US" sz="1300" dirty="0"/>
          </a:p>
        </p:txBody>
      </p:sp>
      <p:pic>
        <p:nvPicPr>
          <p:cNvPr id="20" name="Illustration" descr="preencoded.png">    </p:cNvPr>
          <p:cNvPicPr>
            <a:picLocks noChangeAspect="1"/>
          </p:cNvPicPr>
          <p:nvPr/>
        </p:nvPicPr>
        <p:blipFill>
          <a:blip r:embed="rId4"/>
          <a:stretch>
            <a:fillRect/>
          </a:stretch>
        </p:blipFill>
        <p:spPr>
          <a:xfrm>
            <a:off x="5760720" y="3703320"/>
            <a:ext cx="640080" cy="640080"/>
          </a:xfrm>
          <a:prstGeom prst="rect">
            <a:avLst/>
          </a:prstGeom>
        </p:spPr>
      </p:pic>
      <p:sp>
        <p:nvSpPr>
          <p:cNvPr id="21" name="Card"/>
          <p:cNvSpPr/>
          <p:nvPr/>
        </p:nvSpPr>
        <p:spPr>
          <a:xfrm>
            <a:off x="7269480" y="1417320"/>
            <a:ext cx="2103120" cy="3063240"/>
          </a:xfrm>
          <a:prstGeom prst="roundRect">
            <a:avLst>
              <a:gd name="adj" fmla="val 8696"/>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Text 15"/>
          <p:cNvSpPr txBox="1"/>
          <p:nvPr/>
        </p:nvSpPr>
        <p:spPr>
          <a:xfrm>
            <a:off x="7452360" y="1554480"/>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Delay</a:t>
            </a:r>
            <a:endParaRPr lang="en-US" sz="1300" dirty="0"/>
          </a:p>
        </p:txBody>
      </p:sp>
      <p:sp>
        <p:nvSpPr>
          <p:cNvPr id="23" name="Text 16"/>
          <p:cNvSpPr txBox="1"/>
          <p:nvPr/>
        </p:nvSpPr>
        <p:spPr>
          <a:xfrm>
            <a:off x="7452360" y="1920240"/>
            <a:ext cx="1737360" cy="457200"/>
          </a:xfrm>
          <a:prstGeom prst="rect">
            <a:avLst/>
          </a:prstGeom>
          <a:noFill/>
          <a:ln/>
        </p:spPr>
        <p:txBody>
          <a:bodyPr wrap="square" lIns="0" tIns="0" rIns="0" bIns="0" rtlCol="0" anchor="ctr"/>
          <a:lstStyle/>
          <a:p>
            <a:pPr indent="0" marL="0">
              <a:buNone/>
            </a:pPr>
            <a:r>
              <a:rPr lang="en-US" sz="1700" b="1" dirty="0">
                <a:solidFill>
                  <a:schemeClr val="tx2"/>
                </a:solidFill>
              </a:rPr>
              <a:t>나중에 챙기기</a:t>
            </a:r>
            <a:endParaRPr lang="en-US" sz="1700" dirty="0"/>
          </a:p>
        </p:txBody>
      </p:sp>
      <p:sp>
        <p:nvSpPr>
          <p:cNvPr id="24" name="Text 17"/>
          <p:cNvSpPr txBox="1"/>
          <p:nvPr/>
        </p:nvSpPr>
        <p:spPr>
          <a:xfrm>
            <a:off x="7452360" y="2468880"/>
            <a:ext cx="1737360" cy="1188720"/>
          </a:xfrm>
          <a:prstGeom prst="rect">
            <a:avLst/>
          </a:prstGeom>
          <a:noFill/>
          <a:ln/>
        </p:spPr>
        <p:txBody>
          <a:bodyPr wrap="square" lIns="0" tIns="0" rIns="0" bIns="0" rtlCol="0" anchor="t"/>
          <a:lstStyle/>
          <a:p>
            <a:pPr indent="0" marL="0">
              <a:buNone/>
            </a:pPr>
            <a:r>
              <a:rPr lang="en-US" sz="1300" dirty="0">
                <a:solidFill>
                  <a:schemeClr val="tx1"/>
                </a:solidFill>
              </a:rPr>
              <a:t>“괜찮아? 말해 줘서 고마워” 하고 곁에 있기</a:t>
            </a:r>
            <a:endParaRPr lang="en-US" sz="1300" dirty="0"/>
          </a:p>
        </p:txBody>
      </p:sp>
      <p:pic>
        <p:nvPicPr>
          <p:cNvPr id="25" name="Illustration" descr="preencoded.png">    </p:cNvPr>
          <p:cNvPicPr>
            <a:picLocks noChangeAspect="1"/>
          </p:cNvPicPr>
          <p:nvPr/>
        </p:nvPicPr>
        <p:blipFill>
          <a:blip r:embed="rId5"/>
          <a:stretch>
            <a:fillRect/>
          </a:stretch>
        </p:blipFill>
        <p:spPr>
          <a:xfrm>
            <a:off x="8001000" y="3703320"/>
            <a:ext cx="640080" cy="640080"/>
          </a:xfrm>
          <a:prstGeom prst="rect">
            <a:avLst/>
          </a:prstGeom>
        </p:spPr>
      </p:pic>
      <p:sp>
        <p:nvSpPr>
          <p:cNvPr id="26" name="Card"/>
          <p:cNvSpPr/>
          <p:nvPr/>
        </p:nvSpPr>
        <p:spPr>
          <a:xfrm>
            <a:off x="9509760" y="1417320"/>
            <a:ext cx="2103120" cy="3063240"/>
          </a:xfrm>
          <a:prstGeom prst="roundRect">
            <a:avLst>
              <a:gd name="adj" fmla="val 8696"/>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7" name="Text 19"/>
          <p:cNvSpPr txBox="1"/>
          <p:nvPr/>
        </p:nvSpPr>
        <p:spPr>
          <a:xfrm>
            <a:off x="9692640" y="1554480"/>
            <a:ext cx="1737360" cy="365760"/>
          </a:xfrm>
          <a:prstGeom prst="rect">
            <a:avLst/>
          </a:prstGeom>
          <a:noFill/>
          <a:ln/>
        </p:spPr>
        <p:txBody>
          <a:bodyPr wrap="square" lIns="0" tIns="0" rIns="0" bIns="0" rtlCol="0" anchor="ctr"/>
          <a:lstStyle/>
          <a:p>
            <a:pPr indent="0" marL="0">
              <a:buNone/>
            </a:pPr>
            <a:r>
              <a:rPr lang="en-US" sz="1300" b="1" dirty="0">
                <a:solidFill>
                  <a:schemeClr val="accent1"/>
                </a:solidFill>
              </a:rPr>
              <a:t>Direct</a:t>
            </a:r>
            <a:endParaRPr lang="en-US" sz="1300" dirty="0"/>
          </a:p>
        </p:txBody>
      </p:sp>
      <p:sp>
        <p:nvSpPr>
          <p:cNvPr id="28" name="Text 20"/>
          <p:cNvSpPr txBox="1"/>
          <p:nvPr/>
        </p:nvSpPr>
        <p:spPr>
          <a:xfrm>
            <a:off x="9692640" y="1920240"/>
            <a:ext cx="1737360" cy="457200"/>
          </a:xfrm>
          <a:prstGeom prst="rect">
            <a:avLst/>
          </a:prstGeom>
          <a:noFill/>
          <a:ln/>
        </p:spPr>
        <p:txBody>
          <a:bodyPr wrap="square" lIns="0" tIns="0" rIns="0" bIns="0" rtlCol="0" anchor="ctr"/>
          <a:lstStyle/>
          <a:p>
            <a:pPr indent="0" marL="0">
              <a:buNone/>
            </a:pPr>
            <a:r>
              <a:rPr lang="en-US" sz="1700" b="1" dirty="0">
                <a:solidFill>
                  <a:schemeClr val="tx2"/>
                </a:solidFill>
              </a:rPr>
              <a:t>직접 말하기</a:t>
            </a:r>
            <a:endParaRPr lang="en-US" sz="1700" dirty="0"/>
          </a:p>
        </p:txBody>
      </p:sp>
      <p:sp>
        <p:nvSpPr>
          <p:cNvPr id="29" name="Text 21"/>
          <p:cNvSpPr txBox="1"/>
          <p:nvPr/>
        </p:nvSpPr>
        <p:spPr>
          <a:xfrm>
            <a:off x="9692640" y="2468880"/>
            <a:ext cx="1737360" cy="1188720"/>
          </a:xfrm>
          <a:prstGeom prst="rect">
            <a:avLst/>
          </a:prstGeom>
          <a:noFill/>
          <a:ln/>
        </p:spPr>
        <p:txBody>
          <a:bodyPr wrap="square" lIns="0" tIns="0" rIns="0" bIns="0" rtlCol="0" anchor="t"/>
          <a:lstStyle/>
          <a:p>
            <a:pPr indent="0" marL="0">
              <a:buNone/>
            </a:pPr>
            <a:r>
              <a:rPr lang="en-US" sz="1300" dirty="0">
                <a:solidFill>
                  <a:schemeClr val="tx1"/>
                </a:solidFill>
              </a:rPr>
              <a:t>안전할 때만 “그만해”라고 분명히</a:t>
            </a:r>
            <a:endParaRPr lang="en-US" sz="1300" dirty="0"/>
          </a:p>
        </p:txBody>
      </p:sp>
      <p:pic>
        <p:nvPicPr>
          <p:cNvPr id="30" name="Illustration" descr="preencoded.png">    </p:cNvPr>
          <p:cNvPicPr>
            <a:picLocks noChangeAspect="1"/>
          </p:cNvPicPr>
          <p:nvPr/>
        </p:nvPicPr>
        <p:blipFill>
          <a:blip r:embed="rId6"/>
          <a:stretch>
            <a:fillRect/>
          </a:stretch>
        </p:blipFill>
        <p:spPr>
          <a:xfrm>
            <a:off x="10241280" y="3703320"/>
            <a:ext cx="640080" cy="640080"/>
          </a:xfrm>
          <a:prstGeom prst="rect">
            <a:avLst/>
          </a:prstGeom>
        </p:spPr>
      </p:pic>
      <p:sp>
        <p:nvSpPr>
          <p:cNvPr id="31" name="Card"/>
          <p:cNvSpPr/>
          <p:nvPr/>
        </p:nvSpPr>
        <p:spPr>
          <a:xfrm>
            <a:off x="548640" y="4663440"/>
            <a:ext cx="11064240" cy="1280160"/>
          </a:xfrm>
          <a:prstGeom prst="roundRect">
            <a:avLst>
              <a:gd name="adj" fmla="val 14286"/>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32" name="Text 23"/>
          <p:cNvSpPr txBox="1"/>
          <p:nvPr/>
        </p:nvSpPr>
        <p:spPr>
          <a:xfrm>
            <a:off x="822960" y="4754880"/>
            <a:ext cx="2743200" cy="411480"/>
          </a:xfrm>
          <a:prstGeom prst="rect">
            <a:avLst/>
          </a:prstGeom>
          <a:noFill/>
          <a:ln/>
        </p:spPr>
        <p:txBody>
          <a:bodyPr wrap="square" lIns="0" tIns="0" rIns="0" bIns="0" rtlCol="0" anchor="ctr"/>
          <a:lstStyle/>
          <a:p>
            <a:pPr indent="0" marL="0">
              <a:buNone/>
            </a:pPr>
            <a:r>
              <a:rPr lang="en-US" sz="1600" b="1" dirty="0">
                <a:solidFill>
                  <a:schemeClr val="accent1"/>
                </a:solidFill>
              </a:rPr>
              <a:t>2차 피해가 되는 말</a:t>
            </a:r>
            <a:endParaRPr lang="en-US" sz="1600" dirty="0"/>
          </a:p>
        </p:txBody>
      </p:sp>
      <p:sp>
        <p:nvSpPr>
          <p:cNvPr id="33" name="Text 24"/>
          <p:cNvSpPr txBox="1"/>
          <p:nvPr/>
        </p:nvSpPr>
        <p:spPr>
          <a:xfrm>
            <a:off x="822960" y="5166360"/>
            <a:ext cx="10607040" cy="731520"/>
          </a:xfrm>
          <a:prstGeom prst="rect">
            <a:avLst/>
          </a:prstGeom>
          <a:noFill/>
          <a:ln/>
        </p:spPr>
        <p:txBody>
          <a:bodyPr wrap="square" lIns="0" tIns="0" rIns="0" bIns="0" rtlCol="0" anchor="t"/>
          <a:lstStyle/>
          <a:p>
            <a:pPr indent="0" marL="0">
              <a:buNone/>
            </a:pPr>
            <a:r>
              <a:rPr lang="en-US" sz="1400" dirty="0">
                <a:solidFill>
                  <a:schemeClr val="tx1"/>
                </a:solidFill>
              </a:rPr>
              <a:t>“왜 아직도 안 헤어졌어?”   “네가 먼저 뭐라고 했겠지”   “그 정도는 다들 해”   단톡방에 소문내기   가해자에게 직접 따지러 가기</a:t>
            </a:r>
            <a:endParaRPr lang="en-US" sz="1400" dirty="0"/>
          </a:p>
        </p:txBody>
      </p:sp>
      <p:sp>
        <p:nvSpPr>
          <p:cNvPr id="34"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Right To Be(구 Hollaback!) 5D 방관자 개입 모델 · 여성폭력방지기본법 제3조(2차 피해 정의)</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신고하면 어떻게 될까? 절차와 보호조치</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4. 대처·예방·신고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Flow step"/>
          <p:cNvSpPr/>
          <p:nvPr/>
        </p:nvSpPr>
        <p:spPr>
          <a:xfrm>
            <a:off x="548640" y="1417320"/>
            <a:ext cx="2560320" cy="1600200"/>
          </a:xfrm>
          <a:prstGeom prst="roundRect">
            <a:avLst>
              <a:gd name="adj" fmla="val 6857"/>
            </a:avLst>
          </a:prstGeom>
          <a:solidFill>
            <a:schemeClr val="tx2"/>
          </a:solidFill>
          <a:ln/>
        </p:spPr>
      </p:sp>
      <p:sp>
        <p:nvSpPr>
          <p:cNvPr id="7" name="Text 3"/>
          <p:cNvSpPr txBox="1"/>
          <p:nvPr/>
        </p:nvSpPr>
        <p:spPr>
          <a:xfrm>
            <a:off x="731520" y="150876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알리기</a:t>
            </a:r>
            <a:endParaRPr lang="en-US" sz="1800" dirty="0"/>
          </a:p>
        </p:txBody>
      </p:sp>
      <p:sp>
        <p:nvSpPr>
          <p:cNvPr id="8" name="Text 4"/>
          <p:cNvSpPr txBox="1"/>
          <p:nvPr/>
        </p:nvSpPr>
        <p:spPr>
          <a:xfrm>
            <a:off x="731520" y="2011680"/>
            <a:ext cx="2194560" cy="914400"/>
          </a:xfrm>
          <a:prstGeom prst="rect">
            <a:avLst/>
          </a:prstGeom>
          <a:noFill/>
          <a:ln/>
        </p:spPr>
        <p:txBody>
          <a:bodyPr wrap="square" lIns="0" tIns="0" rIns="0" bIns="0" rtlCol="0" anchor="t"/>
          <a:lstStyle/>
          <a:p>
            <a:pPr indent="0" marL="0">
              <a:buNone/>
            </a:pPr>
            <a:r>
              <a:rPr lang="en-US" sz="1300" dirty="0">
                <a:solidFill>
                  <a:schemeClr val="bg1"/>
                </a:solidFill>
              </a:rPr>
              <a:t>담임·상담교사·보호자</a:t>
            </a:r>
            <a:endParaRPr lang="en-US" sz="1300" dirty="0"/>
          </a:p>
          <a:p>
            <a:pPr indent="0" marL="0">
              <a:buNone/>
            </a:pPr>
            <a:r>
              <a:rPr lang="en-US" sz="1300" dirty="0">
                <a:solidFill>
                  <a:schemeClr val="bg1"/>
                </a:solidFill>
              </a:rPr>
              <a:t>학교전담경찰관(SPO)</a:t>
            </a:r>
            <a:endParaRPr lang="en-US" sz="1300" dirty="0"/>
          </a:p>
        </p:txBody>
      </p:sp>
      <p:sp>
        <p:nvSpPr>
          <p:cNvPr id="9" name="Flow arrow"/>
          <p:cNvSpPr/>
          <p:nvPr/>
        </p:nvSpPr>
        <p:spPr>
          <a:xfrm>
            <a:off x="3136392" y="2212848"/>
            <a:ext cx="219456" cy="0"/>
          </a:xfrm>
          <a:prstGeom prst="line">
            <a:avLst/>
          </a:prstGeom>
          <a:noFill/>
          <a:ln w="31750">
            <a:solidFill>
              <a:schemeClr val="accent1"/>
            </a:solidFill>
            <a:prstDash val="solid"/>
            <a:tailEnd type="triangle"/>
          </a:ln>
        </p:spPr>
      </p:sp>
      <p:sp>
        <p:nvSpPr>
          <p:cNvPr id="10" name="Flow step"/>
          <p:cNvSpPr/>
          <p:nvPr/>
        </p:nvSpPr>
        <p:spPr>
          <a:xfrm>
            <a:off x="3383280" y="1417320"/>
            <a:ext cx="2560320" cy="1600200"/>
          </a:xfrm>
          <a:prstGeom prst="roundRect">
            <a:avLst>
              <a:gd name="adj" fmla="val 6857"/>
            </a:avLst>
          </a:prstGeom>
          <a:solidFill>
            <a:schemeClr val="tx2"/>
          </a:solidFill>
          <a:ln/>
        </p:spPr>
      </p:sp>
      <p:sp>
        <p:nvSpPr>
          <p:cNvPr id="11" name="Text 7"/>
          <p:cNvSpPr txBox="1"/>
          <p:nvPr/>
        </p:nvSpPr>
        <p:spPr>
          <a:xfrm>
            <a:off x="3566160" y="150876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신고</a:t>
            </a:r>
            <a:endParaRPr lang="en-US" sz="1800" dirty="0"/>
          </a:p>
        </p:txBody>
      </p:sp>
      <p:sp>
        <p:nvSpPr>
          <p:cNvPr id="12" name="Text 8"/>
          <p:cNvSpPr txBox="1"/>
          <p:nvPr/>
        </p:nvSpPr>
        <p:spPr>
          <a:xfrm>
            <a:off x="3566160" y="2011680"/>
            <a:ext cx="2194560" cy="914400"/>
          </a:xfrm>
          <a:prstGeom prst="rect">
            <a:avLst/>
          </a:prstGeom>
          <a:noFill/>
          <a:ln/>
        </p:spPr>
        <p:txBody>
          <a:bodyPr wrap="square" lIns="0" tIns="0" rIns="0" bIns="0" rtlCol="0" anchor="t"/>
          <a:lstStyle/>
          <a:p>
            <a:pPr indent="0" marL="0">
              <a:buNone/>
            </a:pPr>
            <a:r>
              <a:rPr lang="en-US" sz="1300" dirty="0">
                <a:solidFill>
                  <a:schemeClr val="bg1"/>
                </a:solidFill>
              </a:rPr>
              <a:t>112(긴급)</a:t>
            </a:r>
            <a:endParaRPr lang="en-US" sz="1300" dirty="0"/>
          </a:p>
          <a:p>
            <a:pPr indent="0" marL="0">
              <a:buNone/>
            </a:pPr>
            <a:r>
              <a:rPr lang="en-US" sz="1300" dirty="0">
                <a:solidFill>
                  <a:schemeClr val="bg1"/>
                </a:solidFill>
              </a:rPr>
              <a:t>117(학교폭력)</a:t>
            </a:r>
            <a:endParaRPr lang="en-US" sz="1300" dirty="0"/>
          </a:p>
        </p:txBody>
      </p:sp>
      <p:sp>
        <p:nvSpPr>
          <p:cNvPr id="13" name="Flow arrow"/>
          <p:cNvSpPr/>
          <p:nvPr/>
        </p:nvSpPr>
        <p:spPr>
          <a:xfrm>
            <a:off x="5971032" y="2212848"/>
            <a:ext cx="219456" cy="0"/>
          </a:xfrm>
          <a:prstGeom prst="line">
            <a:avLst/>
          </a:prstGeom>
          <a:noFill/>
          <a:ln w="31750">
            <a:solidFill>
              <a:schemeClr val="accent1"/>
            </a:solidFill>
            <a:prstDash val="solid"/>
            <a:tailEnd type="triangle"/>
          </a:ln>
        </p:spPr>
      </p:sp>
      <p:sp>
        <p:nvSpPr>
          <p:cNvPr id="14" name="Flow step"/>
          <p:cNvSpPr/>
          <p:nvPr/>
        </p:nvSpPr>
        <p:spPr>
          <a:xfrm>
            <a:off x="6217920" y="1417320"/>
            <a:ext cx="2560320" cy="1600200"/>
          </a:xfrm>
          <a:prstGeom prst="roundRect">
            <a:avLst>
              <a:gd name="adj" fmla="val 6857"/>
            </a:avLst>
          </a:prstGeom>
          <a:solidFill>
            <a:schemeClr val="tx2"/>
          </a:solidFill>
          <a:ln/>
        </p:spPr>
      </p:sp>
      <p:sp>
        <p:nvSpPr>
          <p:cNvPr id="15" name="Text 11"/>
          <p:cNvSpPr txBox="1"/>
          <p:nvPr/>
        </p:nvSpPr>
        <p:spPr>
          <a:xfrm>
            <a:off x="6400800" y="150876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조사·심의</a:t>
            </a:r>
            <a:endParaRPr lang="en-US" sz="1800" dirty="0"/>
          </a:p>
        </p:txBody>
      </p:sp>
      <p:sp>
        <p:nvSpPr>
          <p:cNvPr id="16" name="Text 12"/>
          <p:cNvSpPr txBox="1"/>
          <p:nvPr/>
        </p:nvSpPr>
        <p:spPr>
          <a:xfrm>
            <a:off x="6400800" y="2011680"/>
            <a:ext cx="2194560" cy="914400"/>
          </a:xfrm>
          <a:prstGeom prst="rect">
            <a:avLst/>
          </a:prstGeom>
          <a:noFill/>
          <a:ln/>
        </p:spPr>
        <p:txBody>
          <a:bodyPr wrap="square" lIns="0" tIns="0" rIns="0" bIns="0" rtlCol="0" anchor="t"/>
          <a:lstStyle/>
          <a:p>
            <a:pPr indent="0" marL="0">
              <a:buNone/>
            </a:pPr>
            <a:r>
              <a:rPr lang="en-US" sz="1300" dirty="0">
                <a:solidFill>
                  <a:schemeClr val="bg1"/>
                </a:solidFill>
              </a:rPr>
              <a:t>경찰 수사</a:t>
            </a:r>
            <a:endParaRPr lang="en-US" sz="1300" dirty="0"/>
          </a:p>
          <a:p>
            <a:pPr indent="0" marL="0">
              <a:buNone/>
            </a:pPr>
            <a:r>
              <a:rPr lang="en-US" sz="1300" dirty="0">
                <a:solidFill>
                  <a:schemeClr val="bg1"/>
                </a:solidFill>
              </a:rPr>
              <a:t>교육지원청 학교폭력대책심의위원회</a:t>
            </a:r>
            <a:endParaRPr lang="en-US" sz="1300" dirty="0"/>
          </a:p>
        </p:txBody>
      </p:sp>
      <p:sp>
        <p:nvSpPr>
          <p:cNvPr id="17" name="Flow arrow"/>
          <p:cNvSpPr/>
          <p:nvPr/>
        </p:nvSpPr>
        <p:spPr>
          <a:xfrm>
            <a:off x="8805672" y="2212848"/>
            <a:ext cx="219456" cy="0"/>
          </a:xfrm>
          <a:prstGeom prst="line">
            <a:avLst/>
          </a:prstGeom>
          <a:noFill/>
          <a:ln w="31750">
            <a:solidFill>
              <a:schemeClr val="accent1"/>
            </a:solidFill>
            <a:prstDash val="solid"/>
            <a:tailEnd type="triangle"/>
          </a:ln>
        </p:spPr>
      </p:sp>
      <p:sp>
        <p:nvSpPr>
          <p:cNvPr id="18" name="Flow step"/>
          <p:cNvSpPr/>
          <p:nvPr/>
        </p:nvSpPr>
        <p:spPr>
          <a:xfrm>
            <a:off x="9052560" y="1417320"/>
            <a:ext cx="2560320" cy="1600200"/>
          </a:xfrm>
          <a:prstGeom prst="roundRect">
            <a:avLst>
              <a:gd name="adj" fmla="val 6857"/>
            </a:avLst>
          </a:prstGeom>
          <a:solidFill>
            <a:schemeClr val="accent1"/>
          </a:solidFill>
          <a:ln/>
        </p:spPr>
      </p:sp>
      <p:sp>
        <p:nvSpPr>
          <p:cNvPr id="19" name="Text 15"/>
          <p:cNvSpPr txBox="1"/>
          <p:nvPr/>
        </p:nvSpPr>
        <p:spPr>
          <a:xfrm>
            <a:off x="9235440" y="1508760"/>
            <a:ext cx="2194560" cy="457200"/>
          </a:xfrm>
          <a:prstGeom prst="rect">
            <a:avLst/>
          </a:prstGeom>
          <a:noFill/>
          <a:ln/>
        </p:spPr>
        <p:txBody>
          <a:bodyPr wrap="square" lIns="0" tIns="0" rIns="0" bIns="0" rtlCol="0" anchor="ctr"/>
          <a:lstStyle/>
          <a:p>
            <a:pPr indent="0" marL="0">
              <a:buNone/>
            </a:pPr>
            <a:r>
              <a:rPr lang="en-US" sz="1800" b="1" dirty="0">
                <a:solidFill>
                  <a:schemeClr val="bg1"/>
                </a:solidFill>
              </a:rPr>
              <a:t>보호·지원</a:t>
            </a:r>
            <a:endParaRPr lang="en-US" sz="1800" dirty="0"/>
          </a:p>
        </p:txBody>
      </p:sp>
      <p:sp>
        <p:nvSpPr>
          <p:cNvPr id="20" name="Text 16"/>
          <p:cNvSpPr txBox="1"/>
          <p:nvPr/>
        </p:nvSpPr>
        <p:spPr>
          <a:xfrm>
            <a:off x="9235440" y="2011680"/>
            <a:ext cx="2194560" cy="914400"/>
          </a:xfrm>
          <a:prstGeom prst="rect">
            <a:avLst/>
          </a:prstGeom>
          <a:noFill/>
          <a:ln/>
        </p:spPr>
        <p:txBody>
          <a:bodyPr wrap="square" lIns="0" tIns="0" rIns="0" bIns="0" rtlCol="0" anchor="t"/>
          <a:lstStyle/>
          <a:p>
            <a:pPr indent="0" marL="0">
              <a:buNone/>
            </a:pPr>
            <a:r>
              <a:rPr lang="en-US" sz="1300" dirty="0">
                <a:solidFill>
                  <a:schemeClr val="bg1"/>
                </a:solidFill>
              </a:rPr>
              <a:t>접근금지 등 보호조치</a:t>
            </a:r>
            <a:endParaRPr lang="en-US" sz="1300" dirty="0"/>
          </a:p>
          <a:p>
            <a:pPr indent="0" marL="0">
              <a:buNone/>
            </a:pPr>
            <a:r>
              <a:rPr lang="en-US" sz="1300" dirty="0">
                <a:solidFill>
                  <a:schemeClr val="bg1"/>
                </a:solidFill>
              </a:rPr>
              <a:t>상담·의료·법률 지원</a:t>
            </a:r>
            <a:endParaRPr lang="en-US" sz="1300" dirty="0"/>
          </a:p>
        </p:txBody>
      </p:sp>
      <p:sp>
        <p:nvSpPr>
          <p:cNvPr id="21" name="Card"/>
          <p:cNvSpPr/>
          <p:nvPr/>
        </p:nvSpPr>
        <p:spPr>
          <a:xfrm>
            <a:off x="548640" y="3246120"/>
            <a:ext cx="5394960" cy="2697480"/>
          </a:xfrm>
          <a:prstGeom prst="roundRect">
            <a:avLst>
              <a:gd name="adj" fmla="val 678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Text 18"/>
          <p:cNvSpPr txBox="1"/>
          <p:nvPr/>
        </p:nvSpPr>
        <p:spPr>
          <a:xfrm>
            <a:off x="822960" y="3383280"/>
            <a:ext cx="4846320" cy="411480"/>
          </a:xfrm>
          <a:prstGeom prst="rect">
            <a:avLst/>
          </a:prstGeom>
          <a:noFill/>
          <a:ln/>
        </p:spPr>
        <p:txBody>
          <a:bodyPr wrap="square" lIns="0" tIns="0" rIns="0" bIns="0" rtlCol="0" anchor="ctr"/>
          <a:lstStyle/>
          <a:p>
            <a:pPr indent="0" marL="0">
              <a:buNone/>
            </a:pPr>
            <a:r>
              <a:rPr lang="en-US" sz="1700" b="1" dirty="0">
                <a:solidFill>
                  <a:schemeClr val="tx2"/>
                </a:solidFill>
              </a:rPr>
              <a:t>학교 안에서</a:t>
            </a:r>
            <a:endParaRPr lang="en-US" sz="1700" dirty="0"/>
          </a:p>
        </p:txBody>
      </p:sp>
      <p:sp>
        <p:nvSpPr>
          <p:cNvPr id="23" name="Text 19"/>
          <p:cNvSpPr txBox="1"/>
          <p:nvPr/>
        </p:nvSpPr>
        <p:spPr>
          <a:xfrm>
            <a:off x="822960" y="3840480"/>
            <a:ext cx="4937760" cy="201168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학생 간 폭력·성폭력·사이버폭력은 학교폭력</a:t>
            </a:r>
            <a:endParaRPr lang="en-US" sz="1400" dirty="0"/>
          </a:p>
          <a:p>
            <a:pPr marL="342900" indent="-342900">
              <a:spcAft>
                <a:spcPts val="800"/>
              </a:spcAft>
              <a:buSzPct val="100000"/>
              <a:buChar char="•"/>
            </a:pPr>
            <a:r>
              <a:rPr lang="en-US" sz="1400" dirty="0">
                <a:solidFill>
                  <a:schemeClr val="tx1"/>
                </a:solidFill>
              </a:rPr>
              <a:t>피해 학생 보호조치: 심리상담, 일시보호, 학급 교체 등</a:t>
            </a:r>
            <a:endParaRPr lang="en-US" sz="1400" dirty="0"/>
          </a:p>
          <a:p>
            <a:pPr marL="342900" indent="-342900">
              <a:spcAft>
                <a:spcPts val="800"/>
              </a:spcAft>
              <a:buSzPct val="100000"/>
              <a:buChar char="•"/>
            </a:pPr>
            <a:r>
              <a:rPr lang="en-US" sz="1400" dirty="0">
                <a:solidFill>
                  <a:schemeClr val="tx1"/>
                </a:solidFill>
              </a:rPr>
              <a:t>신고한 학생의 비밀은 보호됩니다</a:t>
            </a:r>
            <a:endParaRPr lang="en-US" sz="1400" dirty="0"/>
          </a:p>
        </p:txBody>
      </p:sp>
      <p:sp>
        <p:nvSpPr>
          <p:cNvPr id="24" name="Card"/>
          <p:cNvSpPr/>
          <p:nvPr/>
        </p:nvSpPr>
        <p:spPr>
          <a:xfrm>
            <a:off x="6217920" y="3246120"/>
            <a:ext cx="5394960" cy="2697480"/>
          </a:xfrm>
          <a:prstGeom prst="roundRect">
            <a:avLst>
              <a:gd name="adj" fmla="val 6780"/>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5" name="Text 21"/>
          <p:cNvSpPr txBox="1"/>
          <p:nvPr/>
        </p:nvSpPr>
        <p:spPr>
          <a:xfrm>
            <a:off x="6492240" y="3383280"/>
            <a:ext cx="4846320" cy="411480"/>
          </a:xfrm>
          <a:prstGeom prst="rect">
            <a:avLst/>
          </a:prstGeom>
          <a:noFill/>
          <a:ln/>
        </p:spPr>
        <p:txBody>
          <a:bodyPr wrap="square" lIns="0" tIns="0" rIns="0" bIns="0" rtlCol="0" anchor="ctr"/>
          <a:lstStyle/>
          <a:p>
            <a:pPr indent="0" marL="0">
              <a:buNone/>
            </a:pPr>
            <a:r>
              <a:rPr lang="en-US" sz="1700" b="1" dirty="0">
                <a:solidFill>
                  <a:schemeClr val="tx2"/>
                </a:solidFill>
              </a:rPr>
              <a:t>법적 보호조치 (스토킹처벌법)</a:t>
            </a:r>
            <a:endParaRPr lang="en-US" sz="1700" dirty="0"/>
          </a:p>
        </p:txBody>
      </p:sp>
      <p:sp>
        <p:nvSpPr>
          <p:cNvPr id="26" name="Text 22"/>
          <p:cNvSpPr txBox="1"/>
          <p:nvPr/>
        </p:nvSpPr>
        <p:spPr>
          <a:xfrm>
            <a:off x="6492240" y="3840480"/>
            <a:ext cx="4937760" cy="2011680"/>
          </a:xfrm>
          <a:prstGeom prst="rect">
            <a:avLst/>
          </a:prstGeom>
          <a:noFill/>
          <a:ln/>
        </p:spPr>
        <p:txBody>
          <a:bodyPr wrap="square" rtlCol="0" anchor="t"/>
          <a:lstStyle/>
          <a:p>
            <a:pPr marL="342900" indent="-342900">
              <a:spcAft>
                <a:spcPts val="800"/>
              </a:spcAft>
              <a:buSzPct val="100000"/>
              <a:buChar char="•"/>
            </a:pPr>
            <a:r>
              <a:rPr lang="en-US" sz="1400" dirty="0">
                <a:solidFill>
                  <a:schemeClr val="tx1"/>
                </a:solidFill>
              </a:rPr>
              <a:t>긴급응급조치: 경찰이 즉시 접근금지</a:t>
            </a:r>
            <a:endParaRPr lang="en-US" sz="1400" dirty="0"/>
          </a:p>
          <a:p>
            <a:pPr marL="342900" indent="-342900">
              <a:spcAft>
                <a:spcPts val="800"/>
              </a:spcAft>
              <a:buSzPct val="100000"/>
              <a:buChar char="•"/>
            </a:pPr>
            <a:r>
              <a:rPr lang="en-US" sz="1400" dirty="0">
                <a:solidFill>
                  <a:schemeClr val="tx1"/>
                </a:solidFill>
              </a:rPr>
              <a:t>잠정조치: 100m 접근금지, 연락 금지, 전자발찌, 유치</a:t>
            </a:r>
            <a:endParaRPr lang="en-US" sz="1400" dirty="0"/>
          </a:p>
          <a:p>
            <a:pPr marL="342900" indent="-342900">
              <a:spcAft>
                <a:spcPts val="800"/>
              </a:spcAft>
              <a:buSzPct val="100000"/>
              <a:buChar char="•"/>
            </a:pPr>
            <a:r>
              <a:rPr lang="en-US" sz="1400" dirty="0">
                <a:solidFill>
                  <a:schemeClr val="tx1"/>
                </a:solidFill>
              </a:rPr>
              <a:t>스마트워치·CCTV·임시숙소 등 안전조치</a:t>
            </a:r>
            <a:endParaRPr lang="en-US" sz="1400" dirty="0"/>
          </a:p>
        </p:txBody>
      </p:sp>
      <p:sp>
        <p:nvSpPr>
          <p:cNvPr id="27"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학교폭력예방법 제2조·제16조 · 스토킹처벌법 제4조·제9조 · 경찰청 안전조치 현황(박정현 의원실)</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도움이 필요할 때 연락하세요</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4. 대처·예방·신고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3474720" cy="2057400"/>
          </a:xfrm>
          <a:prstGeom prst="roundRect">
            <a:avLst>
              <a:gd name="adj" fmla="val 8889"/>
            </a:avLst>
          </a:prstGeom>
          <a:solidFill>
            <a:schemeClr val="accent1"/>
          </a:solidFill>
          <a:ln/>
          <a:effectLst>
            <a:outerShdw sx="100000" sy="100000" kx="0" ky="0" algn="bl" rotWithShape="0" blurRad="101600" dist="25400" dir="5400000">
              <a:srgbClr val="4A1D3F">
                <a:alpha val="28000"/>
              </a:srgbClr>
            </a:outerShdw>
          </a:effectLst>
        </p:spPr>
      </p:sp>
      <p:sp>
        <p:nvSpPr>
          <p:cNvPr id="7" name="Text 3"/>
          <p:cNvSpPr txBox="1"/>
          <p:nvPr/>
        </p:nvSpPr>
        <p:spPr>
          <a:xfrm>
            <a:off x="822960" y="1600200"/>
            <a:ext cx="2926080" cy="822960"/>
          </a:xfrm>
          <a:prstGeom prst="rect">
            <a:avLst/>
          </a:prstGeom>
          <a:noFill/>
          <a:ln/>
        </p:spPr>
        <p:txBody>
          <a:bodyPr wrap="square" lIns="0" tIns="0" rIns="0" bIns="0" rtlCol="0" anchor="ctr"/>
          <a:lstStyle/>
          <a:p>
            <a:pPr indent="0" marL="0">
              <a:buNone/>
            </a:pPr>
            <a:r>
              <a:rPr lang="en-US" sz="4000" b="1" dirty="0">
                <a:solidFill>
                  <a:schemeClr val="bg1"/>
                </a:solidFill>
              </a:rPr>
              <a:t>112</a:t>
            </a:r>
            <a:endParaRPr lang="en-US" sz="4000" dirty="0"/>
          </a:p>
        </p:txBody>
      </p:sp>
      <p:sp>
        <p:nvSpPr>
          <p:cNvPr id="8" name="Text 4"/>
          <p:cNvSpPr txBox="1"/>
          <p:nvPr/>
        </p:nvSpPr>
        <p:spPr>
          <a:xfrm>
            <a:off x="822960" y="2423160"/>
            <a:ext cx="2926080" cy="411480"/>
          </a:xfrm>
          <a:prstGeom prst="rect">
            <a:avLst/>
          </a:prstGeom>
          <a:noFill/>
          <a:ln/>
        </p:spPr>
        <p:txBody>
          <a:bodyPr wrap="square" lIns="0" tIns="0" rIns="0" bIns="0" rtlCol="0" anchor="ctr"/>
          <a:lstStyle/>
          <a:p>
            <a:pPr indent="0" marL="0">
              <a:buNone/>
            </a:pPr>
            <a:r>
              <a:rPr lang="en-US" sz="1600" b="1" dirty="0">
                <a:solidFill>
                  <a:schemeClr val="bg1"/>
                </a:solidFill>
              </a:rPr>
              <a:t>경찰 긴급 신고</a:t>
            </a:r>
            <a:endParaRPr lang="en-US" sz="1600" dirty="0"/>
          </a:p>
        </p:txBody>
      </p:sp>
      <p:sp>
        <p:nvSpPr>
          <p:cNvPr id="9" name="Text 5"/>
          <p:cNvSpPr txBox="1"/>
          <p:nvPr/>
        </p:nvSpPr>
        <p:spPr>
          <a:xfrm>
            <a:off x="822960" y="2834640"/>
            <a:ext cx="2926080" cy="457200"/>
          </a:xfrm>
          <a:prstGeom prst="rect">
            <a:avLst/>
          </a:prstGeom>
          <a:noFill/>
          <a:ln/>
        </p:spPr>
        <p:txBody>
          <a:bodyPr wrap="square" lIns="0" tIns="0" rIns="0" bIns="0" rtlCol="0" anchor="ctr"/>
          <a:lstStyle/>
          <a:p>
            <a:pPr indent="0" marL="0">
              <a:buNone/>
            </a:pPr>
            <a:r>
              <a:rPr lang="en-US" sz="1400" dirty="0">
                <a:solidFill>
                  <a:schemeClr val="bg1"/>
                </a:solidFill>
              </a:rPr>
              <a:t>말하기 어려우면 문자 112</a:t>
            </a:r>
            <a:endParaRPr lang="en-US" sz="1400" dirty="0"/>
          </a:p>
        </p:txBody>
      </p:sp>
      <p:pic>
        <p:nvPicPr>
          <p:cNvPr id="10" name="Illustration" descr="preencoded.png">    </p:cNvPr>
          <p:cNvPicPr>
            <a:picLocks noChangeAspect="1"/>
          </p:cNvPicPr>
          <p:nvPr/>
        </p:nvPicPr>
        <p:blipFill>
          <a:blip r:embed="rId2"/>
          <a:stretch>
            <a:fillRect/>
          </a:stretch>
        </p:blipFill>
        <p:spPr>
          <a:xfrm>
            <a:off x="3246120" y="1691640"/>
            <a:ext cx="548640" cy="548640"/>
          </a:xfrm>
          <a:prstGeom prst="rect">
            <a:avLst/>
          </a:prstGeom>
        </p:spPr>
      </p:pic>
      <p:sp>
        <p:nvSpPr>
          <p:cNvPr id="11" name="Card"/>
          <p:cNvSpPr/>
          <p:nvPr/>
        </p:nvSpPr>
        <p:spPr>
          <a:xfrm>
            <a:off x="4297680" y="1417320"/>
            <a:ext cx="3474720" cy="2057400"/>
          </a:xfrm>
          <a:prstGeom prst="roundRect">
            <a:avLst>
              <a:gd name="adj" fmla="val 888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2" name="Text 7"/>
          <p:cNvSpPr txBox="1"/>
          <p:nvPr/>
        </p:nvSpPr>
        <p:spPr>
          <a:xfrm>
            <a:off x="4572000" y="1600200"/>
            <a:ext cx="2926080" cy="822960"/>
          </a:xfrm>
          <a:prstGeom prst="rect">
            <a:avLst/>
          </a:prstGeom>
          <a:noFill/>
          <a:ln/>
        </p:spPr>
        <p:txBody>
          <a:bodyPr wrap="square" lIns="0" tIns="0" rIns="0" bIns="0" rtlCol="0" anchor="ctr"/>
          <a:lstStyle/>
          <a:p>
            <a:pPr indent="0" marL="0">
              <a:buNone/>
            </a:pPr>
            <a:r>
              <a:rPr lang="en-US" sz="4000" b="1" dirty="0">
                <a:solidFill>
                  <a:schemeClr val="accent1"/>
                </a:solidFill>
              </a:rPr>
              <a:t>117</a:t>
            </a:r>
            <a:endParaRPr lang="en-US" sz="4000" dirty="0"/>
          </a:p>
        </p:txBody>
      </p:sp>
      <p:sp>
        <p:nvSpPr>
          <p:cNvPr id="13" name="Text 8"/>
          <p:cNvSpPr txBox="1"/>
          <p:nvPr/>
        </p:nvSpPr>
        <p:spPr>
          <a:xfrm>
            <a:off x="4572000" y="2423160"/>
            <a:ext cx="2926080" cy="411480"/>
          </a:xfrm>
          <a:prstGeom prst="rect">
            <a:avLst/>
          </a:prstGeom>
          <a:noFill/>
          <a:ln/>
        </p:spPr>
        <p:txBody>
          <a:bodyPr wrap="square" lIns="0" tIns="0" rIns="0" bIns="0" rtlCol="0" anchor="ctr"/>
          <a:lstStyle/>
          <a:p>
            <a:pPr indent="0" marL="0">
              <a:buNone/>
            </a:pPr>
            <a:r>
              <a:rPr lang="en-US" sz="1600" b="1" dirty="0">
                <a:solidFill>
                  <a:schemeClr val="tx2"/>
                </a:solidFill>
              </a:rPr>
              <a:t>학교폭력 신고·상담</a:t>
            </a:r>
            <a:endParaRPr lang="en-US" sz="1600" dirty="0"/>
          </a:p>
        </p:txBody>
      </p:sp>
      <p:sp>
        <p:nvSpPr>
          <p:cNvPr id="14" name="Text 9"/>
          <p:cNvSpPr txBox="1"/>
          <p:nvPr/>
        </p:nvSpPr>
        <p:spPr>
          <a:xfrm>
            <a:off x="4572000" y="2834640"/>
            <a:ext cx="2926080" cy="457200"/>
          </a:xfrm>
          <a:prstGeom prst="rect">
            <a:avLst/>
          </a:prstGeom>
          <a:noFill/>
          <a:ln/>
        </p:spPr>
        <p:txBody>
          <a:bodyPr wrap="square" lIns="0" tIns="0" rIns="0" bIns="0" rtlCol="0" anchor="ctr"/>
          <a:lstStyle/>
          <a:p>
            <a:pPr indent="0" marL="0">
              <a:buNone/>
            </a:pPr>
            <a:r>
              <a:rPr lang="en-US" sz="1400" dirty="0">
                <a:solidFill>
                  <a:schemeClr val="tx1"/>
                </a:solidFill>
              </a:rPr>
              <a:t>학생 간 폭력·성폭력, 문자 #0117</a:t>
            </a:r>
            <a:endParaRPr lang="en-US" sz="1400" dirty="0"/>
          </a:p>
        </p:txBody>
      </p:sp>
      <p:pic>
        <p:nvPicPr>
          <p:cNvPr id="15" name="Illustration" descr="preencoded.png">    </p:cNvPr>
          <p:cNvPicPr>
            <a:picLocks noChangeAspect="1"/>
          </p:cNvPicPr>
          <p:nvPr/>
        </p:nvPicPr>
        <p:blipFill>
          <a:blip r:embed="rId3"/>
          <a:stretch>
            <a:fillRect/>
          </a:stretch>
        </p:blipFill>
        <p:spPr>
          <a:xfrm>
            <a:off x="6995160" y="1691640"/>
            <a:ext cx="548640" cy="548640"/>
          </a:xfrm>
          <a:prstGeom prst="rect">
            <a:avLst/>
          </a:prstGeom>
        </p:spPr>
      </p:pic>
      <p:sp>
        <p:nvSpPr>
          <p:cNvPr id="16" name="Card"/>
          <p:cNvSpPr/>
          <p:nvPr/>
        </p:nvSpPr>
        <p:spPr>
          <a:xfrm>
            <a:off x="8046720" y="1417320"/>
            <a:ext cx="3474720" cy="2057400"/>
          </a:xfrm>
          <a:prstGeom prst="roundRect">
            <a:avLst>
              <a:gd name="adj" fmla="val 888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7" name="Text 11"/>
          <p:cNvSpPr txBox="1"/>
          <p:nvPr/>
        </p:nvSpPr>
        <p:spPr>
          <a:xfrm>
            <a:off x="8321040" y="1600200"/>
            <a:ext cx="2926080" cy="822960"/>
          </a:xfrm>
          <a:prstGeom prst="rect">
            <a:avLst/>
          </a:prstGeom>
          <a:noFill/>
          <a:ln/>
        </p:spPr>
        <p:txBody>
          <a:bodyPr wrap="square" lIns="0" tIns="0" rIns="0" bIns="0" rtlCol="0" anchor="ctr"/>
          <a:lstStyle/>
          <a:p>
            <a:pPr indent="0" marL="0">
              <a:buNone/>
            </a:pPr>
            <a:r>
              <a:rPr lang="en-US" sz="4000" b="1" dirty="0">
                <a:solidFill>
                  <a:schemeClr val="accent1"/>
                </a:solidFill>
              </a:rPr>
              <a:t>1388</a:t>
            </a:r>
            <a:endParaRPr lang="en-US" sz="4000" dirty="0"/>
          </a:p>
        </p:txBody>
      </p:sp>
      <p:sp>
        <p:nvSpPr>
          <p:cNvPr id="18" name="Text 12"/>
          <p:cNvSpPr txBox="1"/>
          <p:nvPr/>
        </p:nvSpPr>
        <p:spPr>
          <a:xfrm>
            <a:off x="8321040" y="2423160"/>
            <a:ext cx="2926080" cy="411480"/>
          </a:xfrm>
          <a:prstGeom prst="rect">
            <a:avLst/>
          </a:prstGeom>
          <a:noFill/>
          <a:ln/>
        </p:spPr>
        <p:txBody>
          <a:bodyPr wrap="square" lIns="0" tIns="0" rIns="0" bIns="0" rtlCol="0" anchor="ctr"/>
          <a:lstStyle/>
          <a:p>
            <a:pPr indent="0" marL="0">
              <a:buNone/>
            </a:pPr>
            <a:r>
              <a:rPr lang="en-US" sz="1600" b="1" dirty="0">
                <a:solidFill>
                  <a:schemeClr val="tx2"/>
                </a:solidFill>
              </a:rPr>
              <a:t>청소년상담전화</a:t>
            </a:r>
            <a:endParaRPr lang="en-US" sz="1600" dirty="0"/>
          </a:p>
        </p:txBody>
      </p:sp>
      <p:sp>
        <p:nvSpPr>
          <p:cNvPr id="19" name="Text 13"/>
          <p:cNvSpPr txBox="1"/>
          <p:nvPr/>
        </p:nvSpPr>
        <p:spPr>
          <a:xfrm>
            <a:off x="8321040" y="2834640"/>
            <a:ext cx="2926080" cy="457200"/>
          </a:xfrm>
          <a:prstGeom prst="rect">
            <a:avLst/>
          </a:prstGeom>
          <a:noFill/>
          <a:ln/>
        </p:spPr>
        <p:txBody>
          <a:bodyPr wrap="square" lIns="0" tIns="0" rIns="0" bIns="0" rtlCol="0" anchor="ctr"/>
          <a:lstStyle/>
          <a:p>
            <a:pPr indent="0" marL="0">
              <a:buNone/>
            </a:pPr>
            <a:r>
              <a:rPr lang="en-US" sz="1400" dirty="0">
                <a:solidFill>
                  <a:schemeClr val="tx1"/>
                </a:solidFill>
              </a:rPr>
              <a:t>고민·위기 상담, 카카오톡 상담</a:t>
            </a:r>
            <a:endParaRPr lang="en-US" sz="1400" dirty="0"/>
          </a:p>
        </p:txBody>
      </p:sp>
      <p:pic>
        <p:nvPicPr>
          <p:cNvPr id="20" name="Illustration" descr="preencoded.png">    </p:cNvPr>
          <p:cNvPicPr>
            <a:picLocks noChangeAspect="1"/>
          </p:cNvPicPr>
          <p:nvPr/>
        </p:nvPicPr>
        <p:blipFill>
          <a:blip r:embed="rId4"/>
          <a:stretch>
            <a:fillRect/>
          </a:stretch>
        </p:blipFill>
        <p:spPr>
          <a:xfrm>
            <a:off x="10744200" y="1691640"/>
            <a:ext cx="548640" cy="548640"/>
          </a:xfrm>
          <a:prstGeom prst="rect">
            <a:avLst/>
          </a:prstGeom>
        </p:spPr>
      </p:pic>
      <p:sp>
        <p:nvSpPr>
          <p:cNvPr id="21" name="Card"/>
          <p:cNvSpPr/>
          <p:nvPr/>
        </p:nvSpPr>
        <p:spPr>
          <a:xfrm>
            <a:off x="548640" y="3703320"/>
            <a:ext cx="3474720" cy="2057400"/>
          </a:xfrm>
          <a:prstGeom prst="roundRect">
            <a:avLst>
              <a:gd name="adj" fmla="val 888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Text 15"/>
          <p:cNvSpPr txBox="1"/>
          <p:nvPr/>
        </p:nvSpPr>
        <p:spPr>
          <a:xfrm>
            <a:off x="822960" y="3886200"/>
            <a:ext cx="2926080" cy="822960"/>
          </a:xfrm>
          <a:prstGeom prst="rect">
            <a:avLst/>
          </a:prstGeom>
          <a:noFill/>
          <a:ln/>
        </p:spPr>
        <p:txBody>
          <a:bodyPr wrap="square" lIns="0" tIns="0" rIns="0" bIns="0" rtlCol="0" anchor="ctr"/>
          <a:lstStyle/>
          <a:p>
            <a:pPr indent="0" marL="0">
              <a:buNone/>
            </a:pPr>
            <a:r>
              <a:rPr lang="en-US" sz="4000" b="1" dirty="0">
                <a:solidFill>
                  <a:schemeClr val="accent1"/>
                </a:solidFill>
              </a:rPr>
              <a:t>1366</a:t>
            </a:r>
            <a:endParaRPr lang="en-US" sz="4000" dirty="0"/>
          </a:p>
        </p:txBody>
      </p:sp>
      <p:sp>
        <p:nvSpPr>
          <p:cNvPr id="23" name="Text 16"/>
          <p:cNvSpPr txBox="1"/>
          <p:nvPr/>
        </p:nvSpPr>
        <p:spPr>
          <a:xfrm>
            <a:off x="822960" y="4709160"/>
            <a:ext cx="2926080" cy="411480"/>
          </a:xfrm>
          <a:prstGeom prst="rect">
            <a:avLst/>
          </a:prstGeom>
          <a:noFill/>
          <a:ln/>
        </p:spPr>
        <p:txBody>
          <a:bodyPr wrap="square" lIns="0" tIns="0" rIns="0" bIns="0" rtlCol="0" anchor="ctr"/>
          <a:lstStyle/>
          <a:p>
            <a:pPr indent="0" marL="0">
              <a:buNone/>
            </a:pPr>
            <a:r>
              <a:rPr lang="en-US" sz="1600" b="1" dirty="0">
                <a:solidFill>
                  <a:schemeClr val="tx2"/>
                </a:solidFill>
              </a:rPr>
              <a:t>여성긴급전화</a:t>
            </a:r>
            <a:endParaRPr lang="en-US" sz="1600" dirty="0"/>
          </a:p>
        </p:txBody>
      </p:sp>
      <p:sp>
        <p:nvSpPr>
          <p:cNvPr id="24" name="Text 17"/>
          <p:cNvSpPr txBox="1"/>
          <p:nvPr/>
        </p:nvSpPr>
        <p:spPr>
          <a:xfrm>
            <a:off x="822960" y="5120640"/>
            <a:ext cx="2926080" cy="457200"/>
          </a:xfrm>
          <a:prstGeom prst="rect">
            <a:avLst/>
          </a:prstGeom>
          <a:noFill/>
          <a:ln/>
        </p:spPr>
        <p:txBody>
          <a:bodyPr wrap="square" lIns="0" tIns="0" rIns="0" bIns="0" rtlCol="0" anchor="ctr"/>
          <a:lstStyle/>
          <a:p>
            <a:pPr indent="0" marL="0">
              <a:buNone/>
            </a:pPr>
            <a:r>
              <a:rPr lang="en-US" sz="1400" dirty="0">
                <a:solidFill>
                  <a:schemeClr val="tx1"/>
                </a:solidFill>
              </a:rPr>
              <a:t>24시간 상담·보호시설 연계</a:t>
            </a:r>
            <a:endParaRPr lang="en-US" sz="1400" dirty="0"/>
          </a:p>
        </p:txBody>
      </p:sp>
      <p:pic>
        <p:nvPicPr>
          <p:cNvPr id="25" name="Illustration" descr="preencoded.png">    </p:cNvPr>
          <p:cNvPicPr>
            <a:picLocks noChangeAspect="1"/>
          </p:cNvPicPr>
          <p:nvPr/>
        </p:nvPicPr>
        <p:blipFill>
          <a:blip r:embed="rId5"/>
          <a:stretch>
            <a:fillRect/>
          </a:stretch>
        </p:blipFill>
        <p:spPr>
          <a:xfrm>
            <a:off x="3246120" y="3977640"/>
            <a:ext cx="548640" cy="548640"/>
          </a:xfrm>
          <a:prstGeom prst="rect">
            <a:avLst/>
          </a:prstGeom>
        </p:spPr>
      </p:pic>
      <p:sp>
        <p:nvSpPr>
          <p:cNvPr id="26" name="Card"/>
          <p:cNvSpPr/>
          <p:nvPr/>
        </p:nvSpPr>
        <p:spPr>
          <a:xfrm>
            <a:off x="4297680" y="3703320"/>
            <a:ext cx="3474720" cy="2057400"/>
          </a:xfrm>
          <a:prstGeom prst="roundRect">
            <a:avLst>
              <a:gd name="adj" fmla="val 888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7" name="Text 19"/>
          <p:cNvSpPr txBox="1"/>
          <p:nvPr/>
        </p:nvSpPr>
        <p:spPr>
          <a:xfrm>
            <a:off x="4572000" y="3886200"/>
            <a:ext cx="2926080" cy="822960"/>
          </a:xfrm>
          <a:prstGeom prst="rect">
            <a:avLst/>
          </a:prstGeom>
          <a:noFill/>
          <a:ln/>
        </p:spPr>
        <p:txBody>
          <a:bodyPr wrap="square" lIns="0" tIns="0" rIns="0" bIns="0" rtlCol="0" anchor="ctr"/>
          <a:lstStyle/>
          <a:p>
            <a:pPr indent="0" marL="0">
              <a:buNone/>
            </a:pPr>
            <a:r>
              <a:rPr lang="en-US" sz="2800" b="1" dirty="0">
                <a:solidFill>
                  <a:schemeClr val="accent1"/>
                </a:solidFill>
              </a:rPr>
              <a:t>1899-3075</a:t>
            </a:r>
            <a:endParaRPr lang="en-US" sz="2800" dirty="0"/>
          </a:p>
        </p:txBody>
      </p:sp>
      <p:sp>
        <p:nvSpPr>
          <p:cNvPr id="28" name="Text 20"/>
          <p:cNvSpPr txBox="1"/>
          <p:nvPr/>
        </p:nvSpPr>
        <p:spPr>
          <a:xfrm>
            <a:off x="4572000" y="4709160"/>
            <a:ext cx="2926080" cy="411480"/>
          </a:xfrm>
          <a:prstGeom prst="rect">
            <a:avLst/>
          </a:prstGeom>
          <a:noFill/>
          <a:ln/>
        </p:spPr>
        <p:txBody>
          <a:bodyPr wrap="square" lIns="0" tIns="0" rIns="0" bIns="0" rtlCol="0" anchor="ctr"/>
          <a:lstStyle/>
          <a:p>
            <a:pPr indent="0" marL="0">
              <a:buNone/>
            </a:pPr>
            <a:r>
              <a:rPr lang="en-US" sz="1600" b="1" dirty="0">
                <a:solidFill>
                  <a:schemeClr val="tx2"/>
                </a:solidFill>
              </a:rPr>
              <a:t>해바라기센터</a:t>
            </a:r>
            <a:endParaRPr lang="en-US" sz="1600" dirty="0"/>
          </a:p>
        </p:txBody>
      </p:sp>
      <p:sp>
        <p:nvSpPr>
          <p:cNvPr id="29" name="Text 21"/>
          <p:cNvSpPr txBox="1"/>
          <p:nvPr/>
        </p:nvSpPr>
        <p:spPr>
          <a:xfrm>
            <a:off x="4572000" y="5120640"/>
            <a:ext cx="2926080" cy="457200"/>
          </a:xfrm>
          <a:prstGeom prst="rect">
            <a:avLst/>
          </a:prstGeom>
          <a:noFill/>
          <a:ln/>
        </p:spPr>
        <p:txBody>
          <a:bodyPr wrap="square" lIns="0" tIns="0" rIns="0" bIns="0" rtlCol="0" anchor="ctr"/>
          <a:lstStyle/>
          <a:p>
            <a:pPr indent="0" marL="0">
              <a:buNone/>
            </a:pPr>
            <a:r>
              <a:rPr lang="en-US" sz="1400" dirty="0">
                <a:solidFill>
                  <a:schemeClr val="tx1"/>
                </a:solidFill>
              </a:rPr>
              <a:t>의료·상담·수사·법률 통합 지원</a:t>
            </a:r>
            <a:endParaRPr lang="en-US" sz="1400" dirty="0"/>
          </a:p>
        </p:txBody>
      </p:sp>
      <p:pic>
        <p:nvPicPr>
          <p:cNvPr id="30" name="Illustration" descr="preencoded.png">    </p:cNvPr>
          <p:cNvPicPr>
            <a:picLocks noChangeAspect="1"/>
          </p:cNvPicPr>
          <p:nvPr/>
        </p:nvPicPr>
        <p:blipFill>
          <a:blip r:embed="rId6"/>
          <a:stretch>
            <a:fillRect/>
          </a:stretch>
        </p:blipFill>
        <p:spPr>
          <a:xfrm>
            <a:off x="6995160" y="3977640"/>
            <a:ext cx="548640" cy="548640"/>
          </a:xfrm>
          <a:prstGeom prst="rect">
            <a:avLst/>
          </a:prstGeom>
        </p:spPr>
      </p:pic>
      <p:sp>
        <p:nvSpPr>
          <p:cNvPr id="31" name="Card"/>
          <p:cNvSpPr/>
          <p:nvPr/>
        </p:nvSpPr>
        <p:spPr>
          <a:xfrm>
            <a:off x="8046720" y="3703320"/>
            <a:ext cx="3474720" cy="2057400"/>
          </a:xfrm>
          <a:prstGeom prst="roundRect">
            <a:avLst>
              <a:gd name="adj" fmla="val 888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32" name="Text 23"/>
          <p:cNvSpPr txBox="1"/>
          <p:nvPr/>
        </p:nvSpPr>
        <p:spPr>
          <a:xfrm>
            <a:off x="8321040" y="3886200"/>
            <a:ext cx="2926080" cy="822960"/>
          </a:xfrm>
          <a:prstGeom prst="rect">
            <a:avLst/>
          </a:prstGeom>
          <a:noFill/>
          <a:ln/>
        </p:spPr>
        <p:txBody>
          <a:bodyPr wrap="square" lIns="0" tIns="0" rIns="0" bIns="0" rtlCol="0" anchor="ctr"/>
          <a:lstStyle/>
          <a:p>
            <a:pPr indent="0" marL="0">
              <a:buNone/>
            </a:pPr>
            <a:r>
              <a:rPr lang="en-US" sz="2800" b="1" dirty="0">
                <a:solidFill>
                  <a:schemeClr val="accent1"/>
                </a:solidFill>
              </a:rPr>
              <a:t>02-735-8994</a:t>
            </a:r>
            <a:endParaRPr lang="en-US" sz="2800" dirty="0"/>
          </a:p>
        </p:txBody>
      </p:sp>
      <p:sp>
        <p:nvSpPr>
          <p:cNvPr id="33" name="Text 24"/>
          <p:cNvSpPr txBox="1"/>
          <p:nvPr/>
        </p:nvSpPr>
        <p:spPr>
          <a:xfrm>
            <a:off x="8321040" y="4709160"/>
            <a:ext cx="2926080" cy="411480"/>
          </a:xfrm>
          <a:prstGeom prst="rect">
            <a:avLst/>
          </a:prstGeom>
          <a:noFill/>
          <a:ln/>
        </p:spPr>
        <p:txBody>
          <a:bodyPr wrap="square" lIns="0" tIns="0" rIns="0" bIns="0" rtlCol="0" anchor="ctr"/>
          <a:lstStyle/>
          <a:p>
            <a:pPr indent="0" marL="0">
              <a:buNone/>
            </a:pPr>
            <a:r>
              <a:rPr lang="en-US" sz="1600" b="1" dirty="0">
                <a:solidFill>
                  <a:schemeClr val="tx2"/>
                </a:solidFill>
              </a:rPr>
              <a:t>디지털성범죄피해자지원센터</a:t>
            </a:r>
            <a:endParaRPr lang="en-US" sz="1600" dirty="0"/>
          </a:p>
        </p:txBody>
      </p:sp>
      <p:sp>
        <p:nvSpPr>
          <p:cNvPr id="34" name="Text 25"/>
          <p:cNvSpPr txBox="1"/>
          <p:nvPr/>
        </p:nvSpPr>
        <p:spPr>
          <a:xfrm>
            <a:off x="8321040" y="5120640"/>
            <a:ext cx="2926080" cy="457200"/>
          </a:xfrm>
          <a:prstGeom prst="rect">
            <a:avLst/>
          </a:prstGeom>
          <a:noFill/>
          <a:ln/>
        </p:spPr>
        <p:txBody>
          <a:bodyPr wrap="square" lIns="0" tIns="0" rIns="0" bIns="0" rtlCol="0" anchor="ctr"/>
          <a:lstStyle/>
          <a:p>
            <a:pPr indent="0" marL="0">
              <a:buNone/>
            </a:pPr>
            <a:r>
              <a:rPr lang="en-US" sz="1400" dirty="0">
                <a:solidFill>
                  <a:schemeClr val="tx1"/>
                </a:solidFill>
              </a:rPr>
              <a:t>불법촬영물·딥페이크 삭제 지원</a:t>
            </a:r>
            <a:endParaRPr lang="en-US" sz="1400" dirty="0"/>
          </a:p>
        </p:txBody>
      </p:sp>
      <p:pic>
        <p:nvPicPr>
          <p:cNvPr id="35" name="Illustration" descr="preencoded.png">    </p:cNvPr>
          <p:cNvPicPr>
            <a:picLocks noChangeAspect="1"/>
          </p:cNvPicPr>
          <p:nvPr/>
        </p:nvPicPr>
        <p:blipFill>
          <a:blip r:embed="rId7"/>
          <a:stretch>
            <a:fillRect/>
          </a:stretch>
        </p:blipFill>
        <p:spPr>
          <a:xfrm>
            <a:off x="10744200" y="3977640"/>
            <a:ext cx="548640" cy="548640"/>
          </a:xfrm>
          <a:prstGeom prst="rect">
            <a:avLst/>
          </a:prstGeom>
        </p:spPr>
      </p:pic>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법은 어디까지 와 있나: 처벌과 공백</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4. 대처·예방·신고</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6309360" cy="868680"/>
          </a:xfrm>
          <a:prstGeom prst="roundRect">
            <a:avLst>
              <a:gd name="adj" fmla="val 2105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Text 3"/>
          <p:cNvSpPr txBox="1"/>
          <p:nvPr/>
        </p:nvSpPr>
        <p:spPr>
          <a:xfrm>
            <a:off x="777240" y="1417320"/>
            <a:ext cx="1463040" cy="868680"/>
          </a:xfrm>
          <a:prstGeom prst="rect">
            <a:avLst/>
          </a:prstGeom>
          <a:noFill/>
          <a:ln/>
        </p:spPr>
        <p:txBody>
          <a:bodyPr wrap="square" lIns="0" tIns="0" rIns="0" bIns="0" rtlCol="0" anchor="ctr"/>
          <a:lstStyle/>
          <a:p>
            <a:pPr indent="0" marL="0">
              <a:buNone/>
            </a:pPr>
            <a:r>
              <a:rPr lang="en-US" sz="1600" b="1" dirty="0">
                <a:solidFill>
                  <a:schemeClr val="tx2"/>
                </a:solidFill>
              </a:rPr>
              <a:t>폭행 · 상해</a:t>
            </a:r>
            <a:endParaRPr lang="en-US" sz="1600" dirty="0"/>
          </a:p>
        </p:txBody>
      </p:sp>
      <p:sp>
        <p:nvSpPr>
          <p:cNvPr id="8" name="Law tag"/>
          <p:cNvSpPr/>
          <p:nvPr/>
        </p:nvSpPr>
        <p:spPr>
          <a:xfrm>
            <a:off x="2240280" y="1664208"/>
            <a:ext cx="1417320" cy="384048"/>
          </a:xfrm>
          <a:prstGeom prst="roundRect">
            <a:avLst>
              <a:gd name="adj" fmla="val 23810"/>
            </a:avLst>
          </a:prstGeom>
          <a:solidFill>
            <a:schemeClr val="accent1"/>
          </a:solidFill>
          <a:ln/>
        </p:spPr>
      </p:sp>
      <p:sp>
        <p:nvSpPr>
          <p:cNvPr id="9" name="Text 5"/>
          <p:cNvSpPr txBox="1"/>
          <p:nvPr/>
        </p:nvSpPr>
        <p:spPr>
          <a:xfrm>
            <a:off x="2240280" y="1664208"/>
            <a:ext cx="1417320" cy="384048"/>
          </a:xfrm>
          <a:prstGeom prst="rect">
            <a:avLst/>
          </a:prstGeom>
          <a:noFill/>
          <a:ln/>
        </p:spPr>
        <p:txBody>
          <a:bodyPr wrap="square" lIns="0" tIns="0" rIns="0" bIns="0" rtlCol="0" anchor="ctr"/>
          <a:lstStyle/>
          <a:p>
            <a:pPr algn="ctr" indent="0" marL="0">
              <a:buNone/>
            </a:pPr>
            <a:r>
              <a:rPr lang="en-US" sz="1200" b="1" dirty="0">
                <a:solidFill>
                  <a:schemeClr val="bg1"/>
                </a:solidFill>
              </a:rPr>
              <a:t>형법</a:t>
            </a:r>
            <a:endParaRPr lang="en-US" sz="1200" dirty="0"/>
          </a:p>
        </p:txBody>
      </p:sp>
      <p:sp>
        <p:nvSpPr>
          <p:cNvPr id="10" name="Text 6"/>
          <p:cNvSpPr txBox="1"/>
          <p:nvPr/>
        </p:nvSpPr>
        <p:spPr>
          <a:xfrm>
            <a:off x="3840480" y="1417320"/>
            <a:ext cx="2926080" cy="868680"/>
          </a:xfrm>
          <a:prstGeom prst="rect">
            <a:avLst/>
          </a:prstGeom>
          <a:noFill/>
          <a:ln/>
        </p:spPr>
        <p:txBody>
          <a:bodyPr wrap="square" lIns="0" tIns="0" rIns="0" bIns="0" rtlCol="0" anchor="ctr"/>
          <a:lstStyle/>
          <a:p>
            <a:pPr indent="0" marL="0">
              <a:buNone/>
            </a:pPr>
            <a:r>
              <a:rPr lang="en-US" sz="1300" dirty="0">
                <a:solidFill>
                  <a:schemeClr val="tx1"/>
                </a:solidFill>
              </a:rPr>
              <a:t>폭행 2년 이하 · 상해 7년 이하</a:t>
            </a:r>
            <a:endParaRPr lang="en-US" sz="1300" dirty="0"/>
          </a:p>
        </p:txBody>
      </p:sp>
      <p:sp>
        <p:nvSpPr>
          <p:cNvPr id="11" name="Card"/>
          <p:cNvSpPr/>
          <p:nvPr/>
        </p:nvSpPr>
        <p:spPr>
          <a:xfrm>
            <a:off x="548640" y="2404872"/>
            <a:ext cx="6309360" cy="868680"/>
          </a:xfrm>
          <a:prstGeom prst="roundRect">
            <a:avLst>
              <a:gd name="adj" fmla="val 2105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2" name="Text 8"/>
          <p:cNvSpPr txBox="1"/>
          <p:nvPr/>
        </p:nvSpPr>
        <p:spPr>
          <a:xfrm>
            <a:off x="777240" y="2404872"/>
            <a:ext cx="1463040" cy="868680"/>
          </a:xfrm>
          <a:prstGeom prst="rect">
            <a:avLst/>
          </a:prstGeom>
          <a:noFill/>
          <a:ln/>
        </p:spPr>
        <p:txBody>
          <a:bodyPr wrap="square" lIns="0" tIns="0" rIns="0" bIns="0" rtlCol="0" anchor="ctr"/>
          <a:lstStyle/>
          <a:p>
            <a:pPr indent="0" marL="0">
              <a:buNone/>
            </a:pPr>
            <a:r>
              <a:rPr lang="en-US" sz="1600" b="1" dirty="0">
                <a:solidFill>
                  <a:schemeClr val="tx2"/>
                </a:solidFill>
              </a:rPr>
              <a:t>협박</a:t>
            </a:r>
            <a:endParaRPr lang="en-US" sz="1600" dirty="0"/>
          </a:p>
        </p:txBody>
      </p:sp>
      <p:sp>
        <p:nvSpPr>
          <p:cNvPr id="13" name="Law tag"/>
          <p:cNvSpPr/>
          <p:nvPr/>
        </p:nvSpPr>
        <p:spPr>
          <a:xfrm>
            <a:off x="2240280" y="2651760"/>
            <a:ext cx="1417320" cy="384048"/>
          </a:xfrm>
          <a:prstGeom prst="roundRect">
            <a:avLst>
              <a:gd name="adj" fmla="val 23810"/>
            </a:avLst>
          </a:prstGeom>
          <a:solidFill>
            <a:schemeClr val="accent1"/>
          </a:solidFill>
          <a:ln/>
        </p:spPr>
      </p:sp>
      <p:sp>
        <p:nvSpPr>
          <p:cNvPr id="14" name="Text 10"/>
          <p:cNvSpPr txBox="1"/>
          <p:nvPr/>
        </p:nvSpPr>
        <p:spPr>
          <a:xfrm>
            <a:off x="2240280" y="2651760"/>
            <a:ext cx="1417320" cy="384048"/>
          </a:xfrm>
          <a:prstGeom prst="rect">
            <a:avLst/>
          </a:prstGeom>
          <a:noFill/>
          <a:ln/>
        </p:spPr>
        <p:txBody>
          <a:bodyPr wrap="square" lIns="0" tIns="0" rIns="0" bIns="0" rtlCol="0" anchor="ctr"/>
          <a:lstStyle/>
          <a:p>
            <a:pPr algn="ctr" indent="0" marL="0">
              <a:buNone/>
            </a:pPr>
            <a:r>
              <a:rPr lang="en-US" sz="1200" b="1" dirty="0">
                <a:solidFill>
                  <a:schemeClr val="bg1"/>
                </a:solidFill>
              </a:rPr>
              <a:t>형법</a:t>
            </a:r>
            <a:endParaRPr lang="en-US" sz="1200" dirty="0"/>
          </a:p>
        </p:txBody>
      </p:sp>
      <p:sp>
        <p:nvSpPr>
          <p:cNvPr id="15" name="Text 11"/>
          <p:cNvSpPr txBox="1"/>
          <p:nvPr/>
        </p:nvSpPr>
        <p:spPr>
          <a:xfrm>
            <a:off x="3840480" y="2404872"/>
            <a:ext cx="2926080" cy="868680"/>
          </a:xfrm>
          <a:prstGeom prst="rect">
            <a:avLst/>
          </a:prstGeom>
          <a:noFill/>
          <a:ln/>
        </p:spPr>
        <p:txBody>
          <a:bodyPr wrap="square" lIns="0" tIns="0" rIns="0" bIns="0" rtlCol="0" anchor="ctr"/>
          <a:lstStyle/>
          <a:p>
            <a:pPr indent="0" marL="0">
              <a:buNone/>
            </a:pPr>
            <a:r>
              <a:rPr lang="en-US" sz="1300" dirty="0">
                <a:solidFill>
                  <a:schemeClr val="tx1"/>
                </a:solidFill>
              </a:rPr>
              <a:t>3년 이하</a:t>
            </a:r>
            <a:endParaRPr lang="en-US" sz="1300" dirty="0"/>
          </a:p>
        </p:txBody>
      </p:sp>
      <p:sp>
        <p:nvSpPr>
          <p:cNvPr id="16" name="Card"/>
          <p:cNvSpPr/>
          <p:nvPr/>
        </p:nvSpPr>
        <p:spPr>
          <a:xfrm>
            <a:off x="548640" y="3392424"/>
            <a:ext cx="6309360" cy="868680"/>
          </a:xfrm>
          <a:prstGeom prst="roundRect">
            <a:avLst>
              <a:gd name="adj" fmla="val 2105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7" name="Text 13"/>
          <p:cNvSpPr txBox="1"/>
          <p:nvPr/>
        </p:nvSpPr>
        <p:spPr>
          <a:xfrm>
            <a:off x="777240" y="3392424"/>
            <a:ext cx="1463040" cy="868680"/>
          </a:xfrm>
          <a:prstGeom prst="rect">
            <a:avLst/>
          </a:prstGeom>
          <a:noFill/>
          <a:ln/>
        </p:spPr>
        <p:txBody>
          <a:bodyPr wrap="square" lIns="0" tIns="0" rIns="0" bIns="0" rtlCol="0" anchor="ctr"/>
          <a:lstStyle/>
          <a:p>
            <a:pPr indent="0" marL="0">
              <a:buNone/>
            </a:pPr>
            <a:r>
              <a:rPr lang="en-US" sz="1600" b="1" dirty="0">
                <a:solidFill>
                  <a:schemeClr val="tx2"/>
                </a:solidFill>
              </a:rPr>
              <a:t>스토킹</a:t>
            </a:r>
            <a:endParaRPr lang="en-US" sz="1600" dirty="0"/>
          </a:p>
        </p:txBody>
      </p:sp>
      <p:sp>
        <p:nvSpPr>
          <p:cNvPr id="18" name="Law tag"/>
          <p:cNvSpPr/>
          <p:nvPr/>
        </p:nvSpPr>
        <p:spPr>
          <a:xfrm>
            <a:off x="2240280" y="3639312"/>
            <a:ext cx="1417320" cy="384048"/>
          </a:xfrm>
          <a:prstGeom prst="roundRect">
            <a:avLst>
              <a:gd name="adj" fmla="val 23810"/>
            </a:avLst>
          </a:prstGeom>
          <a:solidFill>
            <a:schemeClr val="accent1"/>
          </a:solidFill>
          <a:ln/>
        </p:spPr>
      </p:sp>
      <p:sp>
        <p:nvSpPr>
          <p:cNvPr id="19" name="Text 15"/>
          <p:cNvSpPr txBox="1"/>
          <p:nvPr/>
        </p:nvSpPr>
        <p:spPr>
          <a:xfrm>
            <a:off x="2240280" y="3639312"/>
            <a:ext cx="1417320" cy="384048"/>
          </a:xfrm>
          <a:prstGeom prst="rect">
            <a:avLst/>
          </a:prstGeom>
          <a:noFill/>
          <a:ln/>
        </p:spPr>
        <p:txBody>
          <a:bodyPr wrap="square" lIns="0" tIns="0" rIns="0" bIns="0" rtlCol="0" anchor="ctr"/>
          <a:lstStyle/>
          <a:p>
            <a:pPr algn="ctr" indent="0" marL="0">
              <a:buNone/>
            </a:pPr>
            <a:r>
              <a:rPr lang="en-US" sz="1200" b="1" dirty="0">
                <a:solidFill>
                  <a:schemeClr val="bg1"/>
                </a:solidFill>
              </a:rPr>
              <a:t>스토킹처벌법</a:t>
            </a:r>
            <a:endParaRPr lang="en-US" sz="1200" dirty="0"/>
          </a:p>
        </p:txBody>
      </p:sp>
      <p:sp>
        <p:nvSpPr>
          <p:cNvPr id="20" name="Text 16"/>
          <p:cNvSpPr txBox="1"/>
          <p:nvPr/>
        </p:nvSpPr>
        <p:spPr>
          <a:xfrm>
            <a:off x="3840480" y="3392424"/>
            <a:ext cx="2926080" cy="868680"/>
          </a:xfrm>
          <a:prstGeom prst="rect">
            <a:avLst/>
          </a:prstGeom>
          <a:noFill/>
          <a:ln/>
        </p:spPr>
        <p:txBody>
          <a:bodyPr wrap="square" lIns="0" tIns="0" rIns="0" bIns="0" rtlCol="0" anchor="ctr"/>
          <a:lstStyle/>
          <a:p>
            <a:pPr indent="0" marL="0">
              <a:buNone/>
            </a:pPr>
            <a:r>
              <a:rPr lang="en-US" sz="1300" dirty="0">
                <a:solidFill>
                  <a:schemeClr val="tx1"/>
                </a:solidFill>
              </a:rPr>
              <a:t>3년 이하 (2023년부터 피해자 의사와 무관하게 처벌)</a:t>
            </a:r>
            <a:endParaRPr lang="en-US" sz="1300" dirty="0"/>
          </a:p>
        </p:txBody>
      </p:sp>
      <p:sp>
        <p:nvSpPr>
          <p:cNvPr id="21" name="Card"/>
          <p:cNvSpPr/>
          <p:nvPr/>
        </p:nvSpPr>
        <p:spPr>
          <a:xfrm>
            <a:off x="548640" y="4379976"/>
            <a:ext cx="6309360" cy="868680"/>
          </a:xfrm>
          <a:prstGeom prst="roundRect">
            <a:avLst>
              <a:gd name="adj" fmla="val 2105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Text 18"/>
          <p:cNvSpPr txBox="1"/>
          <p:nvPr/>
        </p:nvSpPr>
        <p:spPr>
          <a:xfrm>
            <a:off x="777240" y="4379976"/>
            <a:ext cx="1463040" cy="868680"/>
          </a:xfrm>
          <a:prstGeom prst="rect">
            <a:avLst/>
          </a:prstGeom>
          <a:noFill/>
          <a:ln/>
        </p:spPr>
        <p:txBody>
          <a:bodyPr wrap="square" lIns="0" tIns="0" rIns="0" bIns="0" rtlCol="0" anchor="ctr"/>
          <a:lstStyle/>
          <a:p>
            <a:pPr indent="0" marL="0">
              <a:buNone/>
            </a:pPr>
            <a:r>
              <a:rPr lang="en-US" sz="1600" b="1" dirty="0">
                <a:solidFill>
                  <a:schemeClr val="tx2"/>
                </a:solidFill>
              </a:rPr>
              <a:t>불법촬영</a:t>
            </a:r>
            <a:endParaRPr lang="en-US" sz="1600" dirty="0"/>
          </a:p>
        </p:txBody>
      </p:sp>
      <p:sp>
        <p:nvSpPr>
          <p:cNvPr id="23" name="Law tag"/>
          <p:cNvSpPr/>
          <p:nvPr/>
        </p:nvSpPr>
        <p:spPr>
          <a:xfrm>
            <a:off x="2240280" y="4626864"/>
            <a:ext cx="1417320" cy="384048"/>
          </a:xfrm>
          <a:prstGeom prst="roundRect">
            <a:avLst>
              <a:gd name="adj" fmla="val 23810"/>
            </a:avLst>
          </a:prstGeom>
          <a:solidFill>
            <a:schemeClr val="accent1"/>
          </a:solidFill>
          <a:ln/>
        </p:spPr>
      </p:sp>
      <p:sp>
        <p:nvSpPr>
          <p:cNvPr id="24" name="Text 20"/>
          <p:cNvSpPr txBox="1"/>
          <p:nvPr/>
        </p:nvSpPr>
        <p:spPr>
          <a:xfrm>
            <a:off x="2240280" y="4626864"/>
            <a:ext cx="1417320" cy="384048"/>
          </a:xfrm>
          <a:prstGeom prst="rect">
            <a:avLst/>
          </a:prstGeom>
          <a:noFill/>
          <a:ln/>
        </p:spPr>
        <p:txBody>
          <a:bodyPr wrap="square" lIns="0" tIns="0" rIns="0" bIns="0" rtlCol="0" anchor="ctr"/>
          <a:lstStyle/>
          <a:p>
            <a:pPr algn="ctr" indent="0" marL="0">
              <a:buNone/>
            </a:pPr>
            <a:r>
              <a:rPr lang="en-US" sz="1200" b="1" dirty="0">
                <a:solidFill>
                  <a:schemeClr val="bg1"/>
                </a:solidFill>
              </a:rPr>
              <a:t>성폭력처벌법</a:t>
            </a:r>
            <a:endParaRPr lang="en-US" sz="1200" dirty="0"/>
          </a:p>
        </p:txBody>
      </p:sp>
      <p:sp>
        <p:nvSpPr>
          <p:cNvPr id="25" name="Text 21"/>
          <p:cNvSpPr txBox="1"/>
          <p:nvPr/>
        </p:nvSpPr>
        <p:spPr>
          <a:xfrm>
            <a:off x="3840480" y="4379976"/>
            <a:ext cx="2926080" cy="868680"/>
          </a:xfrm>
          <a:prstGeom prst="rect">
            <a:avLst/>
          </a:prstGeom>
          <a:noFill/>
          <a:ln/>
        </p:spPr>
        <p:txBody>
          <a:bodyPr wrap="square" lIns="0" tIns="0" rIns="0" bIns="0" rtlCol="0" anchor="ctr"/>
          <a:lstStyle/>
          <a:p>
            <a:pPr indent="0" marL="0">
              <a:buNone/>
            </a:pPr>
            <a:r>
              <a:rPr lang="en-US" sz="1300" dirty="0">
                <a:solidFill>
                  <a:schemeClr val="tx1"/>
                </a:solidFill>
              </a:rPr>
              <a:t>7년 이하</a:t>
            </a:r>
            <a:endParaRPr lang="en-US" sz="1300" dirty="0"/>
          </a:p>
        </p:txBody>
      </p:sp>
      <p:sp>
        <p:nvSpPr>
          <p:cNvPr id="26" name="Text 22"/>
          <p:cNvSpPr txBox="1"/>
          <p:nvPr/>
        </p:nvSpPr>
        <p:spPr>
          <a:xfrm>
            <a:off x="548640" y="5440680"/>
            <a:ext cx="6309360" cy="274320"/>
          </a:xfrm>
          <a:prstGeom prst="rect">
            <a:avLst/>
          </a:prstGeom>
          <a:noFill/>
          <a:ln/>
        </p:spPr>
        <p:txBody>
          <a:bodyPr wrap="square" lIns="0" tIns="0" rIns="0" bIns="0" rtlCol="0" anchor="ctr"/>
          <a:lstStyle/>
          <a:p>
            <a:pPr indent="0" marL="0">
              <a:buNone/>
            </a:pPr>
            <a:r>
              <a:rPr lang="en-US" sz="1000" dirty="0">
                <a:solidFill>
                  <a:schemeClr val="accent6"/>
                </a:solidFill>
              </a:rPr>
              <a:t>※ 징역 기준 요약, 벌금형 생략</a:t>
            </a:r>
            <a:endParaRPr lang="en-US" sz="1000" dirty="0"/>
          </a:p>
        </p:txBody>
      </p:sp>
      <p:sp>
        <p:nvSpPr>
          <p:cNvPr id="27" name="Card"/>
          <p:cNvSpPr/>
          <p:nvPr/>
        </p:nvSpPr>
        <p:spPr>
          <a:xfrm>
            <a:off x="7132320" y="1417320"/>
            <a:ext cx="4480560" cy="4526280"/>
          </a:xfrm>
          <a:prstGeom prst="roundRect">
            <a:avLst>
              <a:gd name="adj" fmla="val 4082"/>
            </a:avLst>
          </a:prstGeom>
          <a:solidFill>
            <a:schemeClr val="tx2"/>
          </a:solidFill>
          <a:ln/>
          <a:effectLst>
            <a:outerShdw sx="100000" sy="100000" kx="0" ky="0" algn="bl" rotWithShape="0" blurRad="101600" dist="25400" dir="5400000">
              <a:srgbClr val="4A1D3F">
                <a:alpha val="28000"/>
              </a:srgbClr>
            </a:outerShdw>
          </a:effectLst>
        </p:spPr>
      </p:sp>
      <p:sp>
        <p:nvSpPr>
          <p:cNvPr id="28" name="Text 24"/>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1800" b="1" dirty="0">
                <a:solidFill>
                  <a:schemeClr val="accent1"/>
                </a:solidFill>
              </a:rPr>
              <a:t>아직 남은 공백</a:t>
            </a:r>
            <a:endParaRPr lang="en-US" sz="1800" dirty="0"/>
          </a:p>
        </p:txBody>
      </p:sp>
      <p:sp>
        <p:nvSpPr>
          <p:cNvPr id="29" name="Text 25"/>
          <p:cNvSpPr txBox="1"/>
          <p:nvPr/>
        </p:nvSpPr>
        <p:spPr>
          <a:xfrm>
            <a:off x="7406640" y="2148840"/>
            <a:ext cx="3931920" cy="365760"/>
          </a:xfrm>
          <a:prstGeom prst="rect">
            <a:avLst/>
          </a:prstGeom>
          <a:noFill/>
          <a:ln/>
        </p:spPr>
        <p:txBody>
          <a:bodyPr wrap="square" lIns="0" tIns="0" rIns="0" bIns="0" rtlCol="0" anchor="ctr"/>
          <a:lstStyle/>
          <a:p>
            <a:pPr indent="0" marL="0">
              <a:buNone/>
            </a:pPr>
            <a:r>
              <a:rPr lang="en-US" sz="1500" b="1" dirty="0">
                <a:solidFill>
                  <a:schemeClr val="bg1"/>
                </a:solidFill>
              </a:rPr>
              <a:t>전용 법이 없다</a:t>
            </a:r>
            <a:endParaRPr lang="en-US" sz="1500" dirty="0"/>
          </a:p>
        </p:txBody>
      </p:sp>
      <p:sp>
        <p:nvSpPr>
          <p:cNvPr id="30" name="Text 26"/>
          <p:cNvSpPr txBox="1"/>
          <p:nvPr/>
        </p:nvSpPr>
        <p:spPr>
          <a:xfrm>
            <a:off x="7406640" y="2532888"/>
            <a:ext cx="3931920" cy="777240"/>
          </a:xfrm>
          <a:prstGeom prst="rect">
            <a:avLst/>
          </a:prstGeom>
          <a:noFill/>
          <a:ln/>
        </p:spPr>
        <p:txBody>
          <a:bodyPr wrap="square" lIns="0" tIns="0" rIns="0" bIns="0" rtlCol="0" anchor="t"/>
          <a:lstStyle/>
          <a:p>
            <a:pPr indent="0" marL="0">
              <a:buNone/>
            </a:pPr>
            <a:r>
              <a:rPr lang="en-US" sz="1300" dirty="0">
                <a:solidFill>
                  <a:schemeClr val="accent3"/>
                </a:solidFill>
              </a:rPr>
              <a:t>가정폭력처벌법은 부부·가족 중심이라 연인 사이는 보호조치 적용이 어렵습니다</a:t>
            </a:r>
            <a:endParaRPr lang="en-US" sz="1300" dirty="0"/>
          </a:p>
        </p:txBody>
      </p:sp>
      <p:sp>
        <p:nvSpPr>
          <p:cNvPr id="31" name="Text 27"/>
          <p:cNvSpPr txBox="1"/>
          <p:nvPr/>
        </p:nvSpPr>
        <p:spPr>
          <a:xfrm>
            <a:off x="7406640" y="3383280"/>
            <a:ext cx="3931920" cy="365760"/>
          </a:xfrm>
          <a:prstGeom prst="rect">
            <a:avLst/>
          </a:prstGeom>
          <a:noFill/>
          <a:ln/>
        </p:spPr>
        <p:txBody>
          <a:bodyPr wrap="square" lIns="0" tIns="0" rIns="0" bIns="0" rtlCol="0" anchor="ctr"/>
          <a:lstStyle/>
          <a:p>
            <a:pPr indent="0" marL="0">
              <a:buNone/>
            </a:pPr>
            <a:r>
              <a:rPr lang="en-US" sz="1500" b="1" dirty="0">
                <a:solidFill>
                  <a:schemeClr val="bg1"/>
                </a:solidFill>
              </a:rPr>
              <a:t>반의사불벌</a:t>
            </a:r>
            <a:endParaRPr lang="en-US" sz="1500" dirty="0"/>
          </a:p>
        </p:txBody>
      </p:sp>
      <p:sp>
        <p:nvSpPr>
          <p:cNvPr id="32" name="Text 28"/>
          <p:cNvSpPr txBox="1"/>
          <p:nvPr/>
        </p:nvSpPr>
        <p:spPr>
          <a:xfrm>
            <a:off x="7406640" y="3767328"/>
            <a:ext cx="3931920" cy="777240"/>
          </a:xfrm>
          <a:prstGeom prst="rect">
            <a:avLst/>
          </a:prstGeom>
          <a:noFill/>
          <a:ln/>
        </p:spPr>
        <p:txBody>
          <a:bodyPr wrap="square" lIns="0" tIns="0" rIns="0" bIns="0" rtlCol="0" anchor="t"/>
          <a:lstStyle/>
          <a:p>
            <a:pPr indent="0" marL="0">
              <a:buNone/>
            </a:pPr>
            <a:r>
              <a:rPr lang="en-US" sz="1300" dirty="0">
                <a:solidFill>
                  <a:schemeClr val="accent3"/>
                </a:solidFill>
              </a:rPr>
              <a:t>교제폭력(폭행·협박)은 여전히 피해자가 원치 않으면 처벌 불가</a:t>
            </a:r>
            <a:endParaRPr lang="en-US" sz="1300" dirty="0"/>
          </a:p>
        </p:txBody>
      </p:sp>
      <p:sp>
        <p:nvSpPr>
          <p:cNvPr id="33" name="Text 29"/>
          <p:cNvSpPr txBox="1"/>
          <p:nvPr/>
        </p:nvSpPr>
        <p:spPr>
          <a:xfrm>
            <a:off x="7406640" y="4617720"/>
            <a:ext cx="3931920" cy="365760"/>
          </a:xfrm>
          <a:prstGeom prst="rect">
            <a:avLst/>
          </a:prstGeom>
          <a:noFill/>
          <a:ln/>
        </p:spPr>
        <p:txBody>
          <a:bodyPr wrap="square" lIns="0" tIns="0" rIns="0" bIns="0" rtlCol="0" anchor="ctr"/>
          <a:lstStyle/>
          <a:p>
            <a:pPr indent="0" marL="0">
              <a:buNone/>
            </a:pPr>
            <a:r>
              <a:rPr lang="en-US" sz="1500" b="1" dirty="0">
                <a:solidFill>
                  <a:schemeClr val="bg1"/>
                </a:solidFill>
              </a:rPr>
              <a:t>법안 7건 계류</a:t>
            </a:r>
            <a:endParaRPr lang="en-US" sz="1500" dirty="0"/>
          </a:p>
        </p:txBody>
      </p:sp>
      <p:sp>
        <p:nvSpPr>
          <p:cNvPr id="34" name="Text 30"/>
          <p:cNvSpPr txBox="1"/>
          <p:nvPr/>
        </p:nvSpPr>
        <p:spPr>
          <a:xfrm>
            <a:off x="7406640" y="5001768"/>
            <a:ext cx="3931920" cy="777240"/>
          </a:xfrm>
          <a:prstGeom prst="rect">
            <a:avLst/>
          </a:prstGeom>
          <a:noFill/>
          <a:ln/>
        </p:spPr>
        <p:txBody>
          <a:bodyPr wrap="square" lIns="0" tIns="0" rIns="0" bIns="0" rtlCol="0" anchor="t"/>
          <a:lstStyle/>
          <a:p>
            <a:pPr indent="0" marL="0">
              <a:buNone/>
            </a:pPr>
            <a:r>
              <a:rPr lang="en-US" sz="1300" dirty="0">
                <a:solidFill>
                  <a:schemeClr val="accent3"/>
                </a:solidFill>
              </a:rPr>
              <a:t>교제폭력 특례법안 4건 · 가정폭력처벌법 전부개정안 3건 (2026.10)</a:t>
            </a:r>
            <a:endParaRPr lang="en-US" sz="1300" dirty="0"/>
          </a:p>
        </p:txBody>
      </p:sp>
      <p:sp>
        <p:nvSpPr>
          <p:cNvPr id="35" name="Source"/>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출처: 형법 · 스토킹처벌법(2023.7 개정) · 성폭력처벌법 제14조 · 시대일보 2026.10.19 · 경향신문 2023.10.12(신당역 사건 확정)</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건강한 관계 기술: 말하기와 헤어지기</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5. 노력과 다짐</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3566160" cy="4526280"/>
          </a:xfrm>
          <a:prstGeom prst="roundRect">
            <a:avLst>
              <a:gd name="adj" fmla="val 5128"/>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Text 3"/>
          <p:cNvSpPr txBox="1"/>
          <p:nvPr/>
        </p:nvSpPr>
        <p:spPr>
          <a:xfrm>
            <a:off x="822960" y="1600200"/>
            <a:ext cx="3017520" cy="457200"/>
          </a:xfrm>
          <a:prstGeom prst="rect">
            <a:avLst/>
          </a:prstGeom>
          <a:noFill/>
          <a:ln/>
        </p:spPr>
        <p:txBody>
          <a:bodyPr wrap="square" lIns="0" tIns="0" rIns="0" bIns="0" rtlCol="0" anchor="ctr"/>
          <a:lstStyle/>
          <a:p>
            <a:pPr indent="0" marL="0">
              <a:buNone/>
            </a:pPr>
            <a:r>
              <a:rPr lang="en-US" sz="1900" b="1" dirty="0">
                <a:solidFill>
                  <a:schemeClr val="accent1"/>
                </a:solidFill>
              </a:rPr>
              <a:t>나-전달법</a:t>
            </a:r>
            <a:endParaRPr lang="en-US" sz="1900" dirty="0"/>
          </a:p>
        </p:txBody>
      </p:sp>
      <p:sp>
        <p:nvSpPr>
          <p:cNvPr id="8" name="Text 4"/>
          <p:cNvSpPr txBox="1"/>
          <p:nvPr/>
        </p:nvSpPr>
        <p:spPr>
          <a:xfrm>
            <a:off x="822960" y="2194560"/>
            <a:ext cx="3017520" cy="731520"/>
          </a:xfrm>
          <a:prstGeom prst="rect">
            <a:avLst/>
          </a:prstGeom>
          <a:noFill/>
          <a:ln/>
        </p:spPr>
        <p:txBody>
          <a:bodyPr wrap="square" lIns="0" tIns="0" rIns="0" bIns="0" rtlCol="0" anchor="t"/>
          <a:lstStyle/>
          <a:p>
            <a:pPr indent="0" marL="0">
              <a:buNone/>
            </a:pPr>
            <a:r>
              <a:rPr lang="en-US" sz="1400" dirty="0">
                <a:solidFill>
                  <a:schemeClr val="accent6"/>
                </a:solidFill>
              </a:rPr>
              <a:t>✕  “너는 왜 맨날 연락이 없어?”</a:t>
            </a:r>
            <a:endParaRPr lang="en-US" sz="1400" dirty="0"/>
          </a:p>
        </p:txBody>
      </p:sp>
      <p:sp>
        <p:nvSpPr>
          <p:cNvPr id="9" name="Text 5"/>
          <p:cNvSpPr txBox="1"/>
          <p:nvPr/>
        </p:nvSpPr>
        <p:spPr>
          <a:xfrm>
            <a:off x="822960" y="2971800"/>
            <a:ext cx="3017520" cy="1188720"/>
          </a:xfrm>
          <a:prstGeom prst="rect">
            <a:avLst/>
          </a:prstGeom>
          <a:noFill/>
          <a:ln/>
        </p:spPr>
        <p:txBody>
          <a:bodyPr wrap="square" lIns="0" tIns="0" rIns="0" bIns="0" rtlCol="0" anchor="t"/>
          <a:lstStyle/>
          <a:p>
            <a:pPr indent="0" marL="0">
              <a:buNone/>
            </a:pPr>
            <a:r>
              <a:rPr lang="en-US" sz="1500" b="1" dirty="0">
                <a:solidFill>
                  <a:schemeClr val="tx1"/>
                </a:solidFill>
              </a:rPr>
              <a:t>○  “약속 시간에 연락이 없으면 나는 걱정돼. 늦으면 미리 말해 줄래?”</a:t>
            </a:r>
            <a:endParaRPr lang="en-US" sz="1500" dirty="0"/>
          </a:p>
        </p:txBody>
      </p:sp>
      <p:sp>
        <p:nvSpPr>
          <p:cNvPr id="10" name="Text 6"/>
          <p:cNvSpPr txBox="1"/>
          <p:nvPr/>
        </p:nvSpPr>
        <p:spPr>
          <a:xfrm>
            <a:off x="822960" y="5303520"/>
            <a:ext cx="3017520" cy="457200"/>
          </a:xfrm>
          <a:prstGeom prst="rect">
            <a:avLst/>
          </a:prstGeom>
          <a:noFill/>
          <a:ln/>
        </p:spPr>
        <p:txBody>
          <a:bodyPr wrap="square" lIns="0" tIns="0" rIns="0" bIns="0" rtlCol="0" anchor="ctr"/>
          <a:lstStyle/>
          <a:p>
            <a:pPr indent="0" marL="0">
              <a:buNone/>
            </a:pPr>
            <a:r>
              <a:rPr lang="en-US" sz="1400" b="1" dirty="0">
                <a:solidFill>
                  <a:schemeClr val="accent5"/>
                </a:solidFill>
              </a:rPr>
              <a:t>상황 + 내 감정 + 부탁</a:t>
            </a:r>
            <a:endParaRPr lang="en-US" sz="1400" dirty="0"/>
          </a:p>
        </p:txBody>
      </p:sp>
      <p:sp>
        <p:nvSpPr>
          <p:cNvPr id="11" name="Card"/>
          <p:cNvSpPr/>
          <p:nvPr/>
        </p:nvSpPr>
        <p:spPr>
          <a:xfrm>
            <a:off x="4297680" y="1417320"/>
            <a:ext cx="3566160" cy="4526280"/>
          </a:xfrm>
          <a:prstGeom prst="roundRect">
            <a:avLst>
              <a:gd name="adj" fmla="val 5128"/>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2" name="Text 8"/>
          <p:cNvSpPr txBox="1"/>
          <p:nvPr/>
        </p:nvSpPr>
        <p:spPr>
          <a:xfrm>
            <a:off x="4572000" y="1600200"/>
            <a:ext cx="3017520" cy="457200"/>
          </a:xfrm>
          <a:prstGeom prst="rect">
            <a:avLst/>
          </a:prstGeom>
          <a:noFill/>
          <a:ln/>
        </p:spPr>
        <p:txBody>
          <a:bodyPr wrap="square" lIns="0" tIns="0" rIns="0" bIns="0" rtlCol="0" anchor="ctr"/>
          <a:lstStyle/>
          <a:p>
            <a:pPr indent="0" marL="0">
              <a:buNone/>
            </a:pPr>
            <a:r>
              <a:rPr lang="en-US" sz="1900" b="1" dirty="0">
                <a:solidFill>
                  <a:schemeClr val="accent1"/>
                </a:solidFill>
              </a:rPr>
              <a:t>경계 말하기</a:t>
            </a:r>
            <a:endParaRPr lang="en-US" sz="1900" dirty="0"/>
          </a:p>
        </p:txBody>
      </p:sp>
      <p:sp>
        <p:nvSpPr>
          <p:cNvPr id="13" name="Text 9"/>
          <p:cNvSpPr txBox="1"/>
          <p:nvPr/>
        </p:nvSpPr>
        <p:spPr>
          <a:xfrm>
            <a:off x="4572000" y="2194560"/>
            <a:ext cx="3017520" cy="1463040"/>
          </a:xfrm>
          <a:prstGeom prst="rect">
            <a:avLst/>
          </a:prstGeom>
          <a:noFill/>
          <a:ln/>
        </p:spPr>
        <p:txBody>
          <a:bodyPr wrap="square" lIns="0" tIns="0" rIns="0" bIns="0" rtlCol="0" anchor="t"/>
          <a:lstStyle/>
          <a:p>
            <a:pPr indent="0" marL="0">
              <a:buNone/>
            </a:pPr>
            <a:r>
              <a:rPr lang="en-US" sz="1500" b="1" dirty="0">
                <a:solidFill>
                  <a:schemeClr val="tx1"/>
                </a:solidFill>
              </a:rPr>
              <a:t>“비밀번호는 공유하고 싶지 않아. 너를 못 믿어서가 아니라 나만의 공간이 필요해서야.”</a:t>
            </a:r>
            <a:endParaRPr lang="en-US" sz="1500" dirty="0"/>
          </a:p>
        </p:txBody>
      </p:sp>
      <p:sp>
        <p:nvSpPr>
          <p:cNvPr id="14" name="Text 10"/>
          <p:cNvSpPr txBox="1"/>
          <p:nvPr/>
        </p:nvSpPr>
        <p:spPr>
          <a:xfrm>
            <a:off x="4572000" y="3703320"/>
            <a:ext cx="3017520" cy="822960"/>
          </a:xfrm>
          <a:prstGeom prst="rect">
            <a:avLst/>
          </a:prstGeom>
          <a:noFill/>
          <a:ln/>
        </p:spPr>
        <p:txBody>
          <a:bodyPr wrap="square" lIns="0" tIns="0" rIns="0" bIns="0" rtlCol="0" anchor="t"/>
          <a:lstStyle/>
          <a:p>
            <a:pPr indent="0" marL="0">
              <a:buNone/>
            </a:pPr>
            <a:r>
              <a:rPr lang="en-US" sz="1500" b="1" dirty="0">
                <a:solidFill>
                  <a:schemeClr val="tx1"/>
                </a:solidFill>
              </a:rPr>
              <a:t>“지금은 싫어. 내가 괜찮을 때 말할게.”</a:t>
            </a:r>
            <a:endParaRPr lang="en-US" sz="1500" dirty="0"/>
          </a:p>
        </p:txBody>
      </p:sp>
      <p:sp>
        <p:nvSpPr>
          <p:cNvPr id="15" name="Text 11"/>
          <p:cNvSpPr txBox="1"/>
          <p:nvPr/>
        </p:nvSpPr>
        <p:spPr>
          <a:xfrm>
            <a:off x="4572000" y="5303520"/>
            <a:ext cx="3017520" cy="457200"/>
          </a:xfrm>
          <a:prstGeom prst="rect">
            <a:avLst/>
          </a:prstGeom>
          <a:noFill/>
          <a:ln/>
        </p:spPr>
        <p:txBody>
          <a:bodyPr wrap="square" lIns="0" tIns="0" rIns="0" bIns="0" rtlCol="0" anchor="ctr"/>
          <a:lstStyle/>
          <a:p>
            <a:pPr indent="0" marL="0">
              <a:buNone/>
            </a:pPr>
            <a:r>
              <a:rPr lang="en-US" sz="1400" b="1" dirty="0">
                <a:solidFill>
                  <a:schemeClr val="accent5"/>
                </a:solidFill>
              </a:rPr>
              <a:t>거절해도 관계는 무너지지 않습니다</a:t>
            </a:r>
            <a:endParaRPr lang="en-US" sz="1400" dirty="0"/>
          </a:p>
        </p:txBody>
      </p:sp>
      <p:sp>
        <p:nvSpPr>
          <p:cNvPr id="16" name="Card"/>
          <p:cNvSpPr/>
          <p:nvPr/>
        </p:nvSpPr>
        <p:spPr>
          <a:xfrm>
            <a:off x="8046720" y="1417320"/>
            <a:ext cx="3566160" cy="4526280"/>
          </a:xfrm>
          <a:prstGeom prst="roundRect">
            <a:avLst>
              <a:gd name="adj" fmla="val 5128"/>
            </a:avLst>
          </a:prstGeom>
          <a:solidFill>
            <a:schemeClr val="tx2"/>
          </a:solidFill>
          <a:ln/>
          <a:effectLst>
            <a:outerShdw sx="100000" sy="100000" kx="0" ky="0" algn="bl" rotWithShape="0" blurRad="101600" dist="25400" dir="5400000">
              <a:srgbClr val="4A1D3F">
                <a:alpha val="28000"/>
              </a:srgbClr>
            </a:outerShdw>
          </a:effectLst>
        </p:spPr>
      </p:sp>
      <p:sp>
        <p:nvSpPr>
          <p:cNvPr id="17" name="Text 13"/>
          <p:cNvSpPr txBox="1"/>
          <p:nvPr/>
        </p:nvSpPr>
        <p:spPr>
          <a:xfrm>
            <a:off x="8321040" y="1600200"/>
            <a:ext cx="3017520" cy="457200"/>
          </a:xfrm>
          <a:prstGeom prst="rect">
            <a:avLst/>
          </a:prstGeom>
          <a:noFill/>
          <a:ln/>
        </p:spPr>
        <p:txBody>
          <a:bodyPr wrap="square" lIns="0" tIns="0" rIns="0" bIns="0" rtlCol="0" anchor="ctr"/>
          <a:lstStyle/>
          <a:p>
            <a:pPr indent="0" marL="0">
              <a:buNone/>
            </a:pPr>
            <a:r>
              <a:rPr lang="en-US" sz="1900" b="1" dirty="0">
                <a:solidFill>
                  <a:schemeClr val="accent1"/>
                </a:solidFill>
              </a:rPr>
              <a:t>안전한 이별 수칙</a:t>
            </a:r>
            <a:endParaRPr lang="en-US" sz="1900" dirty="0"/>
          </a:p>
        </p:txBody>
      </p:sp>
      <p:sp>
        <p:nvSpPr>
          <p:cNvPr id="18" name="Text 14"/>
          <p:cNvSpPr txBox="1"/>
          <p:nvPr/>
        </p:nvSpPr>
        <p:spPr>
          <a:xfrm>
            <a:off x="8321040" y="2194560"/>
            <a:ext cx="3108960" cy="3657600"/>
          </a:xfrm>
          <a:prstGeom prst="rect">
            <a:avLst/>
          </a:prstGeom>
          <a:noFill/>
          <a:ln/>
        </p:spPr>
        <p:txBody>
          <a:bodyPr wrap="square" rtlCol="0" anchor="t"/>
          <a:lstStyle/>
          <a:p>
            <a:pPr marL="342900" indent="-342900">
              <a:spcAft>
                <a:spcPts val="1000"/>
              </a:spcAft>
              <a:buSzPct val="100000"/>
              <a:buChar char="•"/>
            </a:pPr>
            <a:r>
              <a:rPr lang="en-US" sz="1400" dirty="0">
                <a:solidFill>
                  <a:schemeClr val="bg1"/>
                </a:solidFill>
              </a:rPr>
              <a:t>이별은 사람 많은 공개 장소에서</a:t>
            </a:r>
            <a:endParaRPr lang="en-US" sz="1400" dirty="0"/>
          </a:p>
          <a:p>
            <a:pPr marL="342900" indent="-342900">
              <a:spcAft>
                <a:spcPts val="1000"/>
              </a:spcAft>
              <a:buSzPct val="100000"/>
              <a:buChar char="•"/>
            </a:pPr>
            <a:r>
              <a:rPr lang="en-US" sz="1400" dirty="0">
                <a:solidFill>
                  <a:schemeClr val="bg1"/>
                </a:solidFill>
              </a:rPr>
              <a:t>만나기 전 친구·보호자에게 알리기</a:t>
            </a:r>
            <a:endParaRPr lang="en-US" sz="1400" dirty="0"/>
          </a:p>
          <a:p>
            <a:pPr marL="342900" indent="-342900">
              <a:spcAft>
                <a:spcPts val="1000"/>
              </a:spcAft>
              <a:buSzPct val="100000"/>
              <a:buChar char="•"/>
            </a:pPr>
            <a:r>
              <a:rPr lang="en-US" sz="1400" dirty="0">
                <a:solidFill>
                  <a:schemeClr val="bg1"/>
                </a:solidFill>
              </a:rPr>
              <a:t>‘마지막으로 한 번만’ 단둘이 만남 거절</a:t>
            </a:r>
            <a:endParaRPr lang="en-US" sz="1400" dirty="0"/>
          </a:p>
          <a:p>
            <a:pPr marL="342900" indent="-342900">
              <a:spcAft>
                <a:spcPts val="1000"/>
              </a:spcAft>
              <a:buSzPct val="100000"/>
              <a:buChar char="•"/>
            </a:pPr>
            <a:r>
              <a:rPr lang="en-US" sz="1400" dirty="0">
                <a:solidFill>
                  <a:schemeClr val="bg1"/>
                </a:solidFill>
              </a:rPr>
              <a:t>협박 메시지는 지우지 말고 보관</a:t>
            </a:r>
            <a:endParaRPr lang="en-US" sz="1400" dirty="0"/>
          </a:p>
          <a:p>
            <a:pPr marL="342900" indent="-342900">
              <a:spcAft>
                <a:spcPts val="1000"/>
              </a:spcAft>
              <a:buSzPct val="100000"/>
              <a:buChar char="•"/>
            </a:pPr>
            <a:r>
              <a:rPr lang="en-US" sz="1400" dirty="0">
                <a:solidFill>
                  <a:schemeClr val="bg1"/>
                </a:solidFill>
              </a:rPr>
              <a:t>위협이 있으면 바로 112·117</a:t>
            </a:r>
            <a:endParaRPr lang="en-US" sz="14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나는 좋은 연인일까? 스스로 점검해요</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5. 노력과 다짐</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5394960" cy="1024128"/>
          </a:xfrm>
          <a:prstGeom prst="roundRect">
            <a:avLst>
              <a:gd name="adj" fmla="val 1785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Checkbox"/>
          <p:cNvSpPr/>
          <p:nvPr/>
        </p:nvSpPr>
        <p:spPr>
          <a:xfrm>
            <a:off x="822960" y="1719072"/>
            <a:ext cx="420624" cy="420624"/>
          </a:xfrm>
          <a:prstGeom prst="roundRect">
            <a:avLst>
              <a:gd name="adj" fmla="val 13043"/>
            </a:avLst>
          </a:prstGeom>
          <a:solidFill>
            <a:schemeClr val="bg1"/>
          </a:solidFill>
          <a:ln w="19050">
            <a:solidFill>
              <a:schemeClr val="accent5"/>
            </a:solidFill>
            <a:prstDash val="solid"/>
          </a:ln>
        </p:spPr>
      </p:sp>
      <p:sp>
        <p:nvSpPr>
          <p:cNvPr id="8" name="Text 4"/>
          <p:cNvSpPr txBox="1"/>
          <p:nvPr/>
        </p:nvSpPr>
        <p:spPr>
          <a:xfrm>
            <a:off x="1463040" y="1417320"/>
            <a:ext cx="4297680" cy="1024128"/>
          </a:xfrm>
          <a:prstGeom prst="rect">
            <a:avLst/>
          </a:prstGeom>
          <a:noFill/>
          <a:ln/>
        </p:spPr>
        <p:txBody>
          <a:bodyPr wrap="square" lIns="0" tIns="0" rIns="0" bIns="0" rtlCol="0" anchor="ctr"/>
          <a:lstStyle/>
          <a:p>
            <a:pPr indent="0" marL="0">
              <a:buNone/>
            </a:pPr>
            <a:r>
              <a:rPr lang="en-US" sz="1600" dirty="0">
                <a:solidFill>
                  <a:schemeClr val="tx1"/>
                </a:solidFill>
              </a:rPr>
              <a:t>상대가 친구를 만나도 불안해하지 않는다</a:t>
            </a:r>
            <a:endParaRPr lang="en-US" sz="1600" dirty="0"/>
          </a:p>
        </p:txBody>
      </p:sp>
      <p:sp>
        <p:nvSpPr>
          <p:cNvPr id="9" name="Card"/>
          <p:cNvSpPr/>
          <p:nvPr/>
        </p:nvSpPr>
        <p:spPr>
          <a:xfrm>
            <a:off x="6217920" y="1417320"/>
            <a:ext cx="5394960" cy="1024128"/>
          </a:xfrm>
          <a:prstGeom prst="roundRect">
            <a:avLst>
              <a:gd name="adj" fmla="val 1785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0" name="Checkbox"/>
          <p:cNvSpPr/>
          <p:nvPr/>
        </p:nvSpPr>
        <p:spPr>
          <a:xfrm>
            <a:off x="6492240" y="1719072"/>
            <a:ext cx="420624" cy="420624"/>
          </a:xfrm>
          <a:prstGeom prst="roundRect">
            <a:avLst>
              <a:gd name="adj" fmla="val 13043"/>
            </a:avLst>
          </a:prstGeom>
          <a:solidFill>
            <a:schemeClr val="bg1"/>
          </a:solidFill>
          <a:ln w="19050">
            <a:solidFill>
              <a:schemeClr val="accent5"/>
            </a:solidFill>
            <a:prstDash val="solid"/>
          </a:ln>
        </p:spPr>
      </p:sp>
      <p:sp>
        <p:nvSpPr>
          <p:cNvPr id="11" name="Text 7"/>
          <p:cNvSpPr txBox="1"/>
          <p:nvPr/>
        </p:nvSpPr>
        <p:spPr>
          <a:xfrm>
            <a:off x="7132320" y="1417320"/>
            <a:ext cx="4297680" cy="1024128"/>
          </a:xfrm>
          <a:prstGeom prst="rect">
            <a:avLst/>
          </a:prstGeom>
          <a:noFill/>
          <a:ln/>
        </p:spPr>
        <p:txBody>
          <a:bodyPr wrap="square" lIns="0" tIns="0" rIns="0" bIns="0" rtlCol="0" anchor="ctr"/>
          <a:lstStyle/>
          <a:p>
            <a:pPr indent="0" marL="0">
              <a:buNone/>
            </a:pPr>
            <a:r>
              <a:rPr lang="en-US" sz="1600" dirty="0">
                <a:solidFill>
                  <a:schemeClr val="tx1"/>
                </a:solidFill>
              </a:rPr>
              <a:t>연락이 늦어도 기다려 줄 수 있다</a:t>
            </a:r>
            <a:endParaRPr lang="en-US" sz="1600" dirty="0"/>
          </a:p>
        </p:txBody>
      </p:sp>
      <p:sp>
        <p:nvSpPr>
          <p:cNvPr id="12" name="Card"/>
          <p:cNvSpPr/>
          <p:nvPr/>
        </p:nvSpPr>
        <p:spPr>
          <a:xfrm>
            <a:off x="548640" y="2651760"/>
            <a:ext cx="5394960" cy="1024128"/>
          </a:xfrm>
          <a:prstGeom prst="roundRect">
            <a:avLst>
              <a:gd name="adj" fmla="val 1785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3" name="Checkbox"/>
          <p:cNvSpPr/>
          <p:nvPr/>
        </p:nvSpPr>
        <p:spPr>
          <a:xfrm>
            <a:off x="822960" y="2953512"/>
            <a:ext cx="420624" cy="420624"/>
          </a:xfrm>
          <a:prstGeom prst="roundRect">
            <a:avLst>
              <a:gd name="adj" fmla="val 13043"/>
            </a:avLst>
          </a:prstGeom>
          <a:solidFill>
            <a:schemeClr val="bg1"/>
          </a:solidFill>
          <a:ln w="19050">
            <a:solidFill>
              <a:schemeClr val="accent5"/>
            </a:solidFill>
            <a:prstDash val="solid"/>
          </a:ln>
        </p:spPr>
      </p:sp>
      <p:sp>
        <p:nvSpPr>
          <p:cNvPr id="14" name="Text 10"/>
          <p:cNvSpPr txBox="1"/>
          <p:nvPr/>
        </p:nvSpPr>
        <p:spPr>
          <a:xfrm>
            <a:off x="1463040" y="2651760"/>
            <a:ext cx="4297680" cy="1024128"/>
          </a:xfrm>
          <a:prstGeom prst="rect">
            <a:avLst/>
          </a:prstGeom>
          <a:noFill/>
          <a:ln/>
        </p:spPr>
        <p:txBody>
          <a:bodyPr wrap="square" lIns="0" tIns="0" rIns="0" bIns="0" rtlCol="0" anchor="ctr"/>
          <a:lstStyle/>
          <a:p>
            <a:pPr indent="0" marL="0">
              <a:buNone/>
            </a:pPr>
            <a:r>
              <a:rPr lang="en-US" sz="1600" dirty="0">
                <a:solidFill>
                  <a:schemeClr val="tx1"/>
                </a:solidFill>
              </a:rPr>
              <a:t>스킨십 전에 상대의 마음을 묻는다</a:t>
            </a:r>
            <a:endParaRPr lang="en-US" sz="1600" dirty="0"/>
          </a:p>
        </p:txBody>
      </p:sp>
      <p:sp>
        <p:nvSpPr>
          <p:cNvPr id="15" name="Card"/>
          <p:cNvSpPr/>
          <p:nvPr/>
        </p:nvSpPr>
        <p:spPr>
          <a:xfrm>
            <a:off x="6217920" y="2651760"/>
            <a:ext cx="5394960" cy="1024128"/>
          </a:xfrm>
          <a:prstGeom prst="roundRect">
            <a:avLst>
              <a:gd name="adj" fmla="val 1785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6" name="Checkbox"/>
          <p:cNvSpPr/>
          <p:nvPr/>
        </p:nvSpPr>
        <p:spPr>
          <a:xfrm>
            <a:off x="6492240" y="2953512"/>
            <a:ext cx="420624" cy="420624"/>
          </a:xfrm>
          <a:prstGeom prst="roundRect">
            <a:avLst>
              <a:gd name="adj" fmla="val 13043"/>
            </a:avLst>
          </a:prstGeom>
          <a:solidFill>
            <a:schemeClr val="bg1"/>
          </a:solidFill>
          <a:ln w="19050">
            <a:solidFill>
              <a:schemeClr val="accent5"/>
            </a:solidFill>
            <a:prstDash val="solid"/>
          </a:ln>
        </p:spPr>
      </p:sp>
      <p:sp>
        <p:nvSpPr>
          <p:cNvPr id="17" name="Text 13"/>
          <p:cNvSpPr txBox="1"/>
          <p:nvPr/>
        </p:nvSpPr>
        <p:spPr>
          <a:xfrm>
            <a:off x="7132320" y="2651760"/>
            <a:ext cx="4297680" cy="1024128"/>
          </a:xfrm>
          <a:prstGeom prst="rect">
            <a:avLst/>
          </a:prstGeom>
          <a:noFill/>
          <a:ln/>
        </p:spPr>
        <p:txBody>
          <a:bodyPr wrap="square" lIns="0" tIns="0" rIns="0" bIns="0" rtlCol="0" anchor="ctr"/>
          <a:lstStyle/>
          <a:p>
            <a:pPr indent="0" marL="0">
              <a:buNone/>
            </a:pPr>
            <a:r>
              <a:rPr lang="en-US" sz="1600" dirty="0">
                <a:solidFill>
                  <a:schemeClr val="tx1"/>
                </a:solidFill>
              </a:rPr>
              <a:t>화가 나면 잠시 멈추고 말로 표현한다</a:t>
            </a:r>
            <a:endParaRPr lang="en-US" sz="1600" dirty="0"/>
          </a:p>
        </p:txBody>
      </p:sp>
      <p:sp>
        <p:nvSpPr>
          <p:cNvPr id="18" name="Card"/>
          <p:cNvSpPr/>
          <p:nvPr/>
        </p:nvSpPr>
        <p:spPr>
          <a:xfrm>
            <a:off x="548640" y="3886200"/>
            <a:ext cx="5394960" cy="1024128"/>
          </a:xfrm>
          <a:prstGeom prst="roundRect">
            <a:avLst>
              <a:gd name="adj" fmla="val 1785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9" name="Checkbox"/>
          <p:cNvSpPr/>
          <p:nvPr/>
        </p:nvSpPr>
        <p:spPr>
          <a:xfrm>
            <a:off x="822960" y="4187952"/>
            <a:ext cx="420624" cy="420624"/>
          </a:xfrm>
          <a:prstGeom prst="roundRect">
            <a:avLst>
              <a:gd name="adj" fmla="val 13043"/>
            </a:avLst>
          </a:prstGeom>
          <a:solidFill>
            <a:schemeClr val="bg1"/>
          </a:solidFill>
          <a:ln w="19050">
            <a:solidFill>
              <a:schemeClr val="accent5"/>
            </a:solidFill>
            <a:prstDash val="solid"/>
          </a:ln>
        </p:spPr>
      </p:sp>
      <p:sp>
        <p:nvSpPr>
          <p:cNvPr id="20" name="Text 16"/>
          <p:cNvSpPr txBox="1"/>
          <p:nvPr/>
        </p:nvSpPr>
        <p:spPr>
          <a:xfrm>
            <a:off x="1463040" y="3886200"/>
            <a:ext cx="4297680" cy="1024128"/>
          </a:xfrm>
          <a:prstGeom prst="rect">
            <a:avLst/>
          </a:prstGeom>
          <a:noFill/>
          <a:ln/>
        </p:spPr>
        <p:txBody>
          <a:bodyPr wrap="square" lIns="0" tIns="0" rIns="0" bIns="0" rtlCol="0" anchor="ctr"/>
          <a:lstStyle/>
          <a:p>
            <a:pPr indent="0" marL="0">
              <a:buNone/>
            </a:pPr>
            <a:r>
              <a:rPr lang="en-US" sz="1600" dirty="0">
                <a:solidFill>
                  <a:schemeClr val="tx1"/>
                </a:solidFill>
              </a:rPr>
              <a:t>상대의 휴대폰을 몰래 보지 않는다</a:t>
            </a:r>
            <a:endParaRPr lang="en-US" sz="1600" dirty="0"/>
          </a:p>
        </p:txBody>
      </p:sp>
      <p:sp>
        <p:nvSpPr>
          <p:cNvPr id="21" name="Card"/>
          <p:cNvSpPr/>
          <p:nvPr/>
        </p:nvSpPr>
        <p:spPr>
          <a:xfrm>
            <a:off x="6217920" y="3886200"/>
            <a:ext cx="5394960" cy="1024128"/>
          </a:xfrm>
          <a:prstGeom prst="roundRect">
            <a:avLst>
              <a:gd name="adj" fmla="val 17857"/>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Checkbox"/>
          <p:cNvSpPr/>
          <p:nvPr/>
        </p:nvSpPr>
        <p:spPr>
          <a:xfrm>
            <a:off x="6492240" y="4187952"/>
            <a:ext cx="420624" cy="420624"/>
          </a:xfrm>
          <a:prstGeom prst="roundRect">
            <a:avLst>
              <a:gd name="adj" fmla="val 13043"/>
            </a:avLst>
          </a:prstGeom>
          <a:solidFill>
            <a:schemeClr val="bg1"/>
          </a:solidFill>
          <a:ln w="19050">
            <a:solidFill>
              <a:schemeClr val="accent5"/>
            </a:solidFill>
            <a:prstDash val="solid"/>
          </a:ln>
        </p:spPr>
      </p:sp>
      <p:sp>
        <p:nvSpPr>
          <p:cNvPr id="23" name="Text 19"/>
          <p:cNvSpPr txBox="1"/>
          <p:nvPr/>
        </p:nvSpPr>
        <p:spPr>
          <a:xfrm>
            <a:off x="7132320" y="3886200"/>
            <a:ext cx="4297680" cy="1024128"/>
          </a:xfrm>
          <a:prstGeom prst="rect">
            <a:avLst/>
          </a:prstGeom>
          <a:noFill/>
          <a:ln/>
        </p:spPr>
        <p:txBody>
          <a:bodyPr wrap="square" lIns="0" tIns="0" rIns="0" bIns="0" rtlCol="0" anchor="ctr"/>
          <a:lstStyle/>
          <a:p>
            <a:pPr indent="0" marL="0">
              <a:buNone/>
            </a:pPr>
            <a:r>
              <a:rPr lang="en-US" sz="1600" dirty="0">
                <a:solidFill>
                  <a:schemeClr val="tx1"/>
                </a:solidFill>
              </a:rPr>
              <a:t>헤어지자는 말도 존중할 수 있다</a:t>
            </a:r>
            <a:endParaRPr lang="en-US" sz="1600" dirty="0"/>
          </a:p>
        </p:txBody>
      </p:sp>
      <p:sp>
        <p:nvSpPr>
          <p:cNvPr id="24" name="Tagline"/>
          <p:cNvSpPr txBox="1"/>
          <p:nvPr/>
        </p:nvSpPr>
        <p:spPr>
          <a:xfrm>
            <a:off x="548640" y="5257800"/>
            <a:ext cx="11064240" cy="365760"/>
          </a:xfrm>
          <a:prstGeom prst="rect">
            <a:avLst/>
          </a:prstGeom>
          <a:noFill/>
          <a:ln/>
        </p:spPr>
        <p:txBody>
          <a:bodyPr wrap="square" lIns="0" tIns="0" rIns="0" bIns="0" rtlCol="0" anchor="ctr"/>
          <a:lstStyle/>
          <a:p>
            <a:pPr indent="0" marL="0">
              <a:buNone/>
            </a:pPr>
            <a:r>
              <a:rPr lang="en-US" sz="1500" b="1" i="1" dirty="0">
                <a:solidFill>
                  <a:schemeClr val="accent1"/>
                </a:solidFill>
              </a:rPr>
              <a:t>체크하지 못한 항목이 바로 내가 연습할 부분입니다</a:t>
            </a:r>
            <a:endParaRPr lang="en-US" sz="15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3" name="Promise icon" descr="preencoded.png">    </p:cNvPr>
          <p:cNvPicPr>
            <a:picLocks noChangeAspect="1"/>
          </p:cNvPicPr>
          <p:nvPr/>
        </p:nvPicPr>
        <p:blipFill>
          <a:blip r:embed="rId1"/>
          <a:stretch>
            <a:fillRect/>
          </a:stretch>
        </p:blipFill>
        <p:spPr>
          <a:xfrm>
            <a:off x="731520" y="640080"/>
            <a:ext cx="914400" cy="914400"/>
          </a:xfrm>
          <a:prstGeom prst="rect">
            <a:avLst/>
          </a:prstGeom>
        </p:spPr>
      </p:pic>
      <p:sp>
        <p:nvSpPr>
          <p:cNvPr id="4" name="Illustration frame"/>
          <p:cNvSpPr/>
          <p:nvPr/>
        </p:nvSpPr>
        <p:spPr>
          <a:xfrm>
            <a:off x="9098280" y="1828800"/>
            <a:ext cx="2651760" cy="2651760"/>
          </a:xfrm>
          <a:prstGeom prst="ellipse">
            <a:avLst/>
          </a:prstGeom>
          <a:solidFill>
            <a:schemeClr val="bg1">
              <a:alpha val="12000"/>
            </a:schemeClr>
          </a:solidFill>
          <a:ln w="19050">
            <a:solidFill>
              <a:schemeClr val="accent3"/>
            </a:solidFill>
            <a:prstDash val="dash"/>
          </a:ln>
        </p:spPr>
      </p:sp>
      <p:pic>
        <p:nvPicPr>
          <p:cNvPr id="5" name="Illustration" descr="preencoded.png">    </p:cNvPr>
          <p:cNvPicPr>
            <a:picLocks noChangeAspect="1"/>
          </p:cNvPicPr>
          <p:nvPr/>
        </p:nvPicPr>
        <p:blipFill>
          <a:blip r:embed="rId2"/>
          <a:stretch>
            <a:fillRect/>
          </a:stretch>
        </p:blipFill>
        <p:spPr>
          <a:xfrm>
            <a:off x="9509760" y="2240280"/>
            <a:ext cx="1828800" cy="1828800"/>
          </a:xfrm>
          <a:prstGeom prst="rect">
            <a:avLst/>
          </a:prstGeom>
        </p:spPr>
      </p:pic>
      <p:sp>
        <p:nvSpPr>
          <p:cNvPr id="6" name="Text 1"/>
          <p:cNvSpPr txBox="1"/>
          <p:nvPr/>
        </p:nvSpPr>
        <p:spPr>
          <a:xfrm>
            <a:off x="1828800" y="640080"/>
            <a:ext cx="8229600" cy="914400"/>
          </a:xfrm>
          <a:prstGeom prst="rect">
            <a:avLst/>
          </a:prstGeom>
          <a:noFill/>
          <a:ln/>
        </p:spPr>
        <p:txBody>
          <a:bodyPr wrap="square" lIns="0" tIns="0" rIns="0" bIns="0" rtlCol="0" anchor="ctr"/>
          <a:lstStyle/>
          <a:p>
            <a:pPr indent="0" marL="0">
              <a:buNone/>
            </a:pPr>
            <a:r>
              <a:rPr lang="en-US" sz="3600" b="1" dirty="0">
                <a:solidFill>
                  <a:schemeClr val="bg1"/>
                </a:solidFill>
              </a:rPr>
              <a:t>나의 약속</a:t>
            </a:r>
            <a:endParaRPr lang="en-US" sz="3600" dirty="0"/>
          </a:p>
        </p:txBody>
      </p:sp>
      <p:sp>
        <p:nvSpPr>
          <p:cNvPr id="7" name="Text 2"/>
          <p:cNvSpPr txBox="1"/>
          <p:nvPr/>
        </p:nvSpPr>
        <p:spPr>
          <a:xfrm>
            <a:off x="731520" y="1828800"/>
            <a:ext cx="548640" cy="594360"/>
          </a:xfrm>
          <a:prstGeom prst="rect">
            <a:avLst/>
          </a:prstGeom>
          <a:noFill/>
          <a:ln/>
        </p:spPr>
        <p:txBody>
          <a:bodyPr wrap="square" lIns="0" tIns="0" rIns="0" bIns="0" rtlCol="0" anchor="ctr"/>
          <a:lstStyle/>
          <a:p>
            <a:pPr indent="0" marL="0">
              <a:buNone/>
            </a:pPr>
            <a:r>
              <a:rPr lang="en-US" sz="2200" b="1" dirty="0">
                <a:solidFill>
                  <a:schemeClr val="accent1"/>
                </a:solidFill>
              </a:rPr>
              <a:t>1</a:t>
            </a:r>
            <a:endParaRPr lang="en-US" sz="2200" dirty="0"/>
          </a:p>
        </p:txBody>
      </p:sp>
      <p:sp>
        <p:nvSpPr>
          <p:cNvPr id="8" name="Text 3"/>
          <p:cNvSpPr txBox="1"/>
          <p:nvPr/>
        </p:nvSpPr>
        <p:spPr>
          <a:xfrm>
            <a:off x="1371600" y="1828800"/>
            <a:ext cx="7589520" cy="594360"/>
          </a:xfrm>
          <a:prstGeom prst="rect">
            <a:avLst/>
          </a:prstGeom>
          <a:noFill/>
          <a:ln/>
        </p:spPr>
        <p:txBody>
          <a:bodyPr wrap="square" lIns="0" tIns="0" rIns="0" bIns="0" rtlCol="0" anchor="ctr"/>
          <a:lstStyle/>
          <a:p>
            <a:pPr indent="0" marL="0">
              <a:buNone/>
            </a:pPr>
            <a:r>
              <a:rPr lang="en-US" sz="1700" dirty="0">
                <a:solidFill>
                  <a:schemeClr val="bg1"/>
                </a:solidFill>
              </a:rPr>
              <a:t>나는 사랑을 이유로 상대를 통제하거나 감시하지 않겠습니다.</a:t>
            </a:r>
            <a:endParaRPr lang="en-US" sz="1700" dirty="0"/>
          </a:p>
        </p:txBody>
      </p:sp>
      <p:sp>
        <p:nvSpPr>
          <p:cNvPr id="9" name="Text 4"/>
          <p:cNvSpPr txBox="1"/>
          <p:nvPr/>
        </p:nvSpPr>
        <p:spPr>
          <a:xfrm>
            <a:off x="731520" y="2578608"/>
            <a:ext cx="548640" cy="594360"/>
          </a:xfrm>
          <a:prstGeom prst="rect">
            <a:avLst/>
          </a:prstGeom>
          <a:noFill/>
          <a:ln/>
        </p:spPr>
        <p:txBody>
          <a:bodyPr wrap="square" lIns="0" tIns="0" rIns="0" bIns="0" rtlCol="0" anchor="ctr"/>
          <a:lstStyle/>
          <a:p>
            <a:pPr indent="0" marL="0">
              <a:buNone/>
            </a:pPr>
            <a:r>
              <a:rPr lang="en-US" sz="2200" b="1" dirty="0">
                <a:solidFill>
                  <a:schemeClr val="accent1"/>
                </a:solidFill>
              </a:rPr>
              <a:t>2</a:t>
            </a:r>
            <a:endParaRPr lang="en-US" sz="2200" dirty="0"/>
          </a:p>
        </p:txBody>
      </p:sp>
      <p:sp>
        <p:nvSpPr>
          <p:cNvPr id="10" name="Text 5"/>
          <p:cNvSpPr txBox="1"/>
          <p:nvPr/>
        </p:nvSpPr>
        <p:spPr>
          <a:xfrm>
            <a:off x="1371600" y="2578608"/>
            <a:ext cx="7589520" cy="594360"/>
          </a:xfrm>
          <a:prstGeom prst="rect">
            <a:avLst/>
          </a:prstGeom>
          <a:noFill/>
          <a:ln/>
        </p:spPr>
        <p:txBody>
          <a:bodyPr wrap="square" lIns="0" tIns="0" rIns="0" bIns="0" rtlCol="0" anchor="ctr"/>
          <a:lstStyle/>
          <a:p>
            <a:pPr indent="0" marL="0">
              <a:buNone/>
            </a:pPr>
            <a:r>
              <a:rPr lang="en-US" sz="1700" dirty="0">
                <a:solidFill>
                  <a:schemeClr val="bg1"/>
                </a:solidFill>
              </a:rPr>
              <a:t>나는 상대의 ‘싫어’를 존중하고, 동의 없는 행동을 하지 않겠습니다.</a:t>
            </a:r>
            <a:endParaRPr lang="en-US" sz="1700" dirty="0"/>
          </a:p>
        </p:txBody>
      </p:sp>
      <p:sp>
        <p:nvSpPr>
          <p:cNvPr id="11" name="Text 6"/>
          <p:cNvSpPr txBox="1"/>
          <p:nvPr/>
        </p:nvSpPr>
        <p:spPr>
          <a:xfrm>
            <a:off x="731520" y="3328416"/>
            <a:ext cx="548640" cy="594360"/>
          </a:xfrm>
          <a:prstGeom prst="rect">
            <a:avLst/>
          </a:prstGeom>
          <a:noFill/>
          <a:ln/>
        </p:spPr>
        <p:txBody>
          <a:bodyPr wrap="square" lIns="0" tIns="0" rIns="0" bIns="0" rtlCol="0" anchor="ctr"/>
          <a:lstStyle/>
          <a:p>
            <a:pPr indent="0" marL="0">
              <a:buNone/>
            </a:pPr>
            <a:r>
              <a:rPr lang="en-US" sz="2200" b="1" dirty="0">
                <a:solidFill>
                  <a:schemeClr val="accent1"/>
                </a:solidFill>
              </a:rPr>
              <a:t>3</a:t>
            </a:r>
            <a:endParaRPr lang="en-US" sz="2200" dirty="0"/>
          </a:p>
        </p:txBody>
      </p:sp>
      <p:sp>
        <p:nvSpPr>
          <p:cNvPr id="12" name="Text 7"/>
          <p:cNvSpPr txBox="1"/>
          <p:nvPr/>
        </p:nvSpPr>
        <p:spPr>
          <a:xfrm>
            <a:off x="1371600" y="3328416"/>
            <a:ext cx="7589520" cy="594360"/>
          </a:xfrm>
          <a:prstGeom prst="rect">
            <a:avLst/>
          </a:prstGeom>
          <a:noFill/>
          <a:ln/>
        </p:spPr>
        <p:txBody>
          <a:bodyPr wrap="square" lIns="0" tIns="0" rIns="0" bIns="0" rtlCol="0" anchor="ctr"/>
          <a:lstStyle/>
          <a:p>
            <a:pPr indent="0" marL="0">
              <a:buNone/>
            </a:pPr>
            <a:r>
              <a:rPr lang="en-US" sz="1700" dirty="0">
                <a:solidFill>
                  <a:schemeClr val="bg1"/>
                </a:solidFill>
              </a:rPr>
              <a:t>나는 화가 나도 폭력이 아닌 대화로 갈등을 풀겠습니다.</a:t>
            </a:r>
            <a:endParaRPr lang="en-US" sz="1700" dirty="0"/>
          </a:p>
        </p:txBody>
      </p:sp>
      <p:sp>
        <p:nvSpPr>
          <p:cNvPr id="13" name="Text 8"/>
          <p:cNvSpPr txBox="1"/>
          <p:nvPr/>
        </p:nvSpPr>
        <p:spPr>
          <a:xfrm>
            <a:off x="731520" y="4078224"/>
            <a:ext cx="548640" cy="594360"/>
          </a:xfrm>
          <a:prstGeom prst="rect">
            <a:avLst/>
          </a:prstGeom>
          <a:noFill/>
          <a:ln/>
        </p:spPr>
        <p:txBody>
          <a:bodyPr wrap="square" lIns="0" tIns="0" rIns="0" bIns="0" rtlCol="0" anchor="ctr"/>
          <a:lstStyle/>
          <a:p>
            <a:pPr indent="0" marL="0">
              <a:buNone/>
            </a:pPr>
            <a:r>
              <a:rPr lang="en-US" sz="2200" b="1" dirty="0">
                <a:solidFill>
                  <a:schemeClr val="accent1"/>
                </a:solidFill>
              </a:rPr>
              <a:t>4</a:t>
            </a:r>
            <a:endParaRPr lang="en-US" sz="2200" dirty="0"/>
          </a:p>
        </p:txBody>
      </p:sp>
      <p:sp>
        <p:nvSpPr>
          <p:cNvPr id="14" name="Text 9"/>
          <p:cNvSpPr txBox="1"/>
          <p:nvPr/>
        </p:nvSpPr>
        <p:spPr>
          <a:xfrm>
            <a:off x="1371600" y="4078224"/>
            <a:ext cx="7589520" cy="594360"/>
          </a:xfrm>
          <a:prstGeom prst="rect">
            <a:avLst/>
          </a:prstGeom>
          <a:noFill/>
          <a:ln/>
        </p:spPr>
        <p:txBody>
          <a:bodyPr wrap="square" lIns="0" tIns="0" rIns="0" bIns="0" rtlCol="0" anchor="ctr"/>
          <a:lstStyle/>
          <a:p>
            <a:pPr indent="0" marL="0">
              <a:buNone/>
            </a:pPr>
            <a:r>
              <a:rPr lang="en-US" sz="1700" dirty="0">
                <a:solidFill>
                  <a:schemeClr val="bg1"/>
                </a:solidFill>
              </a:rPr>
              <a:t>나는 이별을 받아들이고, 상대의 선택을 존중하겠습니다.</a:t>
            </a:r>
            <a:endParaRPr lang="en-US" sz="1700" dirty="0"/>
          </a:p>
        </p:txBody>
      </p:sp>
      <p:sp>
        <p:nvSpPr>
          <p:cNvPr id="15" name="Text 10"/>
          <p:cNvSpPr txBox="1"/>
          <p:nvPr/>
        </p:nvSpPr>
        <p:spPr>
          <a:xfrm>
            <a:off x="731520" y="4828032"/>
            <a:ext cx="548640" cy="594360"/>
          </a:xfrm>
          <a:prstGeom prst="rect">
            <a:avLst/>
          </a:prstGeom>
          <a:noFill/>
          <a:ln/>
        </p:spPr>
        <p:txBody>
          <a:bodyPr wrap="square" lIns="0" tIns="0" rIns="0" bIns="0" rtlCol="0" anchor="ctr"/>
          <a:lstStyle/>
          <a:p>
            <a:pPr indent="0" marL="0">
              <a:buNone/>
            </a:pPr>
            <a:r>
              <a:rPr lang="en-US" sz="2200" b="1" dirty="0">
                <a:solidFill>
                  <a:schemeClr val="accent1"/>
                </a:solidFill>
              </a:rPr>
              <a:t>5</a:t>
            </a:r>
            <a:endParaRPr lang="en-US" sz="2200" dirty="0"/>
          </a:p>
        </p:txBody>
      </p:sp>
      <p:sp>
        <p:nvSpPr>
          <p:cNvPr id="16" name="Text 11"/>
          <p:cNvSpPr txBox="1"/>
          <p:nvPr/>
        </p:nvSpPr>
        <p:spPr>
          <a:xfrm>
            <a:off x="1371600" y="4828032"/>
            <a:ext cx="7589520" cy="594360"/>
          </a:xfrm>
          <a:prstGeom prst="rect">
            <a:avLst/>
          </a:prstGeom>
          <a:noFill/>
          <a:ln/>
        </p:spPr>
        <p:txBody>
          <a:bodyPr wrap="square" lIns="0" tIns="0" rIns="0" bIns="0" rtlCol="0" anchor="ctr"/>
          <a:lstStyle/>
          <a:p>
            <a:pPr indent="0" marL="0">
              <a:buNone/>
            </a:pPr>
            <a:r>
              <a:rPr lang="en-US" sz="1700" dirty="0">
                <a:solidFill>
                  <a:schemeClr val="bg1"/>
                </a:solidFill>
              </a:rPr>
              <a:t>나와 친구가 폭력을 겪으면 침묵하지 않고 도움을 요청하겠습니다.</a:t>
            </a:r>
            <a:endParaRPr lang="en-US" sz="1700" dirty="0"/>
          </a:p>
        </p:txBody>
      </p:sp>
      <p:sp>
        <p:nvSpPr>
          <p:cNvPr id="17" name="Text 12"/>
          <p:cNvSpPr txBox="1"/>
          <p:nvPr/>
        </p:nvSpPr>
        <p:spPr>
          <a:xfrm>
            <a:off x="6217920" y="5806440"/>
            <a:ext cx="5120640" cy="457200"/>
          </a:xfrm>
          <a:prstGeom prst="rect">
            <a:avLst/>
          </a:prstGeom>
          <a:noFill/>
          <a:ln/>
        </p:spPr>
        <p:txBody>
          <a:bodyPr wrap="square" lIns="0" tIns="0" rIns="0" bIns="0" rtlCol="0" anchor="ctr"/>
          <a:lstStyle/>
          <a:p>
            <a:pPr algn="r" indent="0" marL="0">
              <a:buNone/>
            </a:pPr>
            <a:r>
              <a:rPr lang="en-US" sz="1600" dirty="0">
                <a:solidFill>
                  <a:schemeClr val="accent3"/>
                </a:solidFill>
              </a:rPr>
              <a:t>다짐한 사람: ______________ (서명)</a:t>
            </a:r>
            <a:endParaRPr lang="en-US" sz="16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참고 영상과 생각해 볼 질문</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6. 참고 영상</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Card"/>
          <p:cNvSpPr/>
          <p:nvPr/>
        </p:nvSpPr>
        <p:spPr>
          <a:xfrm>
            <a:off x="548640" y="1417320"/>
            <a:ext cx="3474720" cy="2331720"/>
          </a:xfrm>
          <a:prstGeom prst="roundRect">
            <a:avLst>
              <a:gd name="adj" fmla="val 784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7" name="Video thumbnail"/>
          <p:cNvSpPr/>
          <p:nvPr/>
        </p:nvSpPr>
        <p:spPr>
          <a:xfrm>
            <a:off x="731520" y="1572768"/>
            <a:ext cx="822960" cy="822960"/>
          </a:xfrm>
          <a:prstGeom prst="roundRect">
            <a:avLst>
              <a:gd name="adj" fmla="val 11111"/>
            </a:avLst>
          </a:prstGeom>
          <a:solidFill>
            <a:schemeClr val="tx2"/>
          </a:solidFill>
          <a:ln/>
        </p:spPr>
      </p:sp>
      <p:sp>
        <p:nvSpPr>
          <p:cNvPr id="8" name="Icon circle"/>
          <p:cNvSpPr/>
          <p:nvPr/>
        </p:nvSpPr>
        <p:spPr>
          <a:xfrm>
            <a:off x="868680" y="1709928"/>
            <a:ext cx="548640" cy="548640"/>
          </a:xfrm>
          <a:prstGeom prst="ellipse">
            <a:avLst/>
          </a:prstGeom>
          <a:solidFill>
            <a:schemeClr val="accent1"/>
          </a:solidFill>
          <a:ln/>
        </p:spPr>
      </p:sp>
      <p:pic>
        <p:nvPicPr>
          <p:cNvPr id="9" name="Icon" descr="preencoded.png">    </p:cNvPr>
          <p:cNvPicPr>
            <a:picLocks noChangeAspect="1"/>
          </p:cNvPicPr>
          <p:nvPr/>
        </p:nvPicPr>
        <p:blipFill>
          <a:blip r:embed="rId2"/>
          <a:stretch>
            <a:fillRect/>
          </a:stretch>
        </p:blipFill>
        <p:spPr>
          <a:xfrm>
            <a:off x="1022299" y="1863547"/>
            <a:ext cx="241402" cy="241402"/>
          </a:xfrm>
          <a:prstGeom prst="rect">
            <a:avLst/>
          </a:prstGeom>
        </p:spPr>
      </p:pic>
      <p:sp>
        <p:nvSpPr>
          <p:cNvPr id="10" name="Text 5"/>
          <p:cNvSpPr txBox="1"/>
          <p:nvPr/>
        </p:nvSpPr>
        <p:spPr>
          <a:xfrm>
            <a:off x="1691640" y="1572768"/>
            <a:ext cx="2103120" cy="822960"/>
          </a:xfrm>
          <a:prstGeom prst="rect">
            <a:avLst/>
          </a:prstGeom>
          <a:noFill/>
          <a:ln/>
        </p:spPr>
        <p:txBody>
          <a:bodyPr wrap="square" lIns="0" tIns="0" rIns="0" bIns="0" rtlCol="0" anchor="ctr"/>
          <a:lstStyle/>
          <a:p>
            <a:pPr indent="0" marL="0">
              <a:buNone/>
            </a:pPr>
            <a:r>
              <a:rPr lang="en-US" sz="2600" b="1" dirty="0">
                <a:solidFill>
                  <a:schemeClr val="accent1"/>
                </a:solidFill>
              </a:rPr>
              <a:t>①</a:t>
            </a:r>
            <a:endParaRPr lang="en-US" sz="2600" dirty="0"/>
          </a:p>
        </p:txBody>
      </p:sp>
      <p:sp>
        <p:nvSpPr>
          <p:cNvPr id="11" name="Text 6"/>
          <p:cNvSpPr txBox="1"/>
          <p:nvPr/>
        </p:nvSpPr>
        <p:spPr>
          <a:xfrm>
            <a:off x="731520" y="2514600"/>
            <a:ext cx="3108960" cy="777240"/>
          </a:xfrm>
          <a:prstGeom prst="rect">
            <a:avLst/>
          </a:prstGeom>
          <a:noFill/>
          <a:ln/>
        </p:spPr>
        <p:txBody>
          <a:bodyPr wrap="square" lIns="0" tIns="0" rIns="0" bIns="0" rtlCol="0" anchor="t"/>
          <a:lstStyle/>
          <a:p>
            <a:pPr indent="0" marL="0">
              <a:buNone/>
            </a:pPr>
            <a:r>
              <a:rPr lang="en-US" sz="1500" b="1" u="sng" dirty="0">
                <a:solidFill>
                  <a:schemeClr val="tx2"/>
                </a:solidFill>
                <a:hlinkClick r:id="rId3" invalidUrl="" action="" tgtFrame="" tooltip="" history="1" highlightClick="0" endSnd="0">
                  <a:extLst>
                    <a:ext uri="{A12FA001-AC4F-418D-AE19-62706E023703}">
                      <ahyp:hlinkClr xmlns:ahyp="http://schemas.microsoft.com/office/drawing/2018/hyperlinkcolor" val="tx"/>
                    </a:ext>
                  </a:extLst>
                </a:hlinkClick>
              </a:rPr>
              <a:t>어디까지가 사랑이고 어디부터가 폭력일까? _Love or Not</a:t>
            </a:r>
            <a:endParaRPr lang="en-US" sz="1500" dirty="0"/>
          </a:p>
        </p:txBody>
      </p:sp>
      <p:sp>
        <p:nvSpPr>
          <p:cNvPr id="12" name="Text 7"/>
          <p:cNvSpPr txBox="1"/>
          <p:nvPr/>
        </p:nvSpPr>
        <p:spPr>
          <a:xfrm>
            <a:off x="731520" y="3337560"/>
            <a:ext cx="3108960" cy="320040"/>
          </a:xfrm>
          <a:prstGeom prst="rect">
            <a:avLst/>
          </a:prstGeom>
          <a:noFill/>
          <a:ln/>
        </p:spPr>
        <p:txBody>
          <a:bodyPr wrap="square" lIns="0" tIns="0" rIns="0" bIns="0" rtlCol="0" anchor="ctr"/>
          <a:lstStyle/>
          <a:p>
            <a:pPr indent="0" marL="0">
              <a:buNone/>
            </a:pPr>
            <a:r>
              <a:rPr lang="en-US" sz="1100" dirty="0">
                <a:solidFill>
                  <a:schemeClr val="accent6"/>
                </a:solidFill>
              </a:rPr>
              <a:t>성평등가족부 교육자료실 (2025)</a:t>
            </a:r>
            <a:endParaRPr lang="en-US" sz="1100" dirty="0"/>
          </a:p>
        </p:txBody>
      </p:sp>
      <p:sp>
        <p:nvSpPr>
          <p:cNvPr id="13" name="Card"/>
          <p:cNvSpPr/>
          <p:nvPr/>
        </p:nvSpPr>
        <p:spPr>
          <a:xfrm>
            <a:off x="4297680" y="1417320"/>
            <a:ext cx="3474720" cy="2331720"/>
          </a:xfrm>
          <a:prstGeom prst="roundRect">
            <a:avLst>
              <a:gd name="adj" fmla="val 784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4" name="Video thumbnail"/>
          <p:cNvSpPr/>
          <p:nvPr/>
        </p:nvSpPr>
        <p:spPr>
          <a:xfrm>
            <a:off x="4480560" y="1572768"/>
            <a:ext cx="822960" cy="822960"/>
          </a:xfrm>
          <a:prstGeom prst="roundRect">
            <a:avLst>
              <a:gd name="adj" fmla="val 11111"/>
            </a:avLst>
          </a:prstGeom>
          <a:solidFill>
            <a:schemeClr val="tx2"/>
          </a:solidFill>
          <a:ln/>
        </p:spPr>
      </p:sp>
      <p:sp>
        <p:nvSpPr>
          <p:cNvPr id="15" name="Icon circle"/>
          <p:cNvSpPr/>
          <p:nvPr/>
        </p:nvSpPr>
        <p:spPr>
          <a:xfrm>
            <a:off x="4617720" y="1709928"/>
            <a:ext cx="548640" cy="548640"/>
          </a:xfrm>
          <a:prstGeom prst="ellipse">
            <a:avLst/>
          </a:prstGeom>
          <a:solidFill>
            <a:schemeClr val="accent1"/>
          </a:solidFill>
          <a:ln/>
        </p:spPr>
      </p:sp>
      <p:pic>
        <p:nvPicPr>
          <p:cNvPr id="16" name="Icon" descr="preencoded.png">    </p:cNvPr>
          <p:cNvPicPr>
            <a:picLocks noChangeAspect="1"/>
          </p:cNvPicPr>
          <p:nvPr/>
        </p:nvPicPr>
        <p:blipFill>
          <a:blip r:embed="rId4"/>
          <a:stretch>
            <a:fillRect/>
          </a:stretch>
        </p:blipFill>
        <p:spPr>
          <a:xfrm>
            <a:off x="4771339" y="1863547"/>
            <a:ext cx="241402" cy="241402"/>
          </a:xfrm>
          <a:prstGeom prst="rect">
            <a:avLst/>
          </a:prstGeom>
        </p:spPr>
      </p:pic>
      <p:sp>
        <p:nvSpPr>
          <p:cNvPr id="17" name="Text 11"/>
          <p:cNvSpPr txBox="1"/>
          <p:nvPr/>
        </p:nvSpPr>
        <p:spPr>
          <a:xfrm>
            <a:off x="5440680" y="1572768"/>
            <a:ext cx="2103120" cy="822960"/>
          </a:xfrm>
          <a:prstGeom prst="rect">
            <a:avLst/>
          </a:prstGeom>
          <a:noFill/>
          <a:ln/>
        </p:spPr>
        <p:txBody>
          <a:bodyPr wrap="square" lIns="0" tIns="0" rIns="0" bIns="0" rtlCol="0" anchor="ctr"/>
          <a:lstStyle/>
          <a:p>
            <a:pPr indent="0" marL="0">
              <a:buNone/>
            </a:pPr>
            <a:r>
              <a:rPr lang="en-US" sz="2600" b="1" dirty="0">
                <a:solidFill>
                  <a:schemeClr val="accent1"/>
                </a:solidFill>
              </a:rPr>
              <a:t>②</a:t>
            </a:r>
            <a:endParaRPr lang="en-US" sz="2600" dirty="0"/>
          </a:p>
        </p:txBody>
      </p:sp>
      <p:sp>
        <p:nvSpPr>
          <p:cNvPr id="18" name="Text 12"/>
          <p:cNvSpPr txBox="1"/>
          <p:nvPr/>
        </p:nvSpPr>
        <p:spPr>
          <a:xfrm>
            <a:off x="4480560" y="2514600"/>
            <a:ext cx="3108960" cy="777240"/>
          </a:xfrm>
          <a:prstGeom prst="rect">
            <a:avLst/>
          </a:prstGeom>
          <a:noFill/>
          <a:ln/>
        </p:spPr>
        <p:txBody>
          <a:bodyPr wrap="square" lIns="0" tIns="0" rIns="0" bIns="0" rtlCol="0" anchor="t"/>
          <a:lstStyle/>
          <a:p>
            <a:pPr indent="0" marL="0">
              <a:buNone/>
            </a:pPr>
            <a:r>
              <a:rPr lang="en-US" sz="1500" b="1" u="sng" dirty="0">
                <a:solidFill>
                  <a:schemeClr val="tx2"/>
                </a:solidFill>
                <a:hlinkClick r:id="rId5" invalidUrl="" action="" tgtFrame="" tooltip="" history="1" highlightClick="0" endSnd="0">
                  <a:extLst>
                    <a:ext uri="{A12FA001-AC4F-418D-AE19-62706E023703}">
                      <ahyp:hlinkClr xmlns:ahyp="http://schemas.microsoft.com/office/drawing/2018/hyperlinkcolor" val="tx"/>
                    </a:ext>
                  </a:extLst>
                </a:hlinkClick>
              </a:rPr>
              <a:t>‘강남 교제 살인’ 의대생 징역 30년 확정</a:t>
            </a:r>
            <a:endParaRPr lang="en-US" sz="1500" dirty="0"/>
          </a:p>
        </p:txBody>
      </p:sp>
      <p:sp>
        <p:nvSpPr>
          <p:cNvPr id="19" name="Text 13"/>
          <p:cNvSpPr txBox="1"/>
          <p:nvPr/>
        </p:nvSpPr>
        <p:spPr>
          <a:xfrm>
            <a:off x="4480560" y="3337560"/>
            <a:ext cx="3108960" cy="320040"/>
          </a:xfrm>
          <a:prstGeom prst="rect">
            <a:avLst/>
          </a:prstGeom>
          <a:noFill/>
          <a:ln/>
        </p:spPr>
        <p:txBody>
          <a:bodyPr wrap="square" lIns="0" tIns="0" rIns="0" bIns="0" rtlCol="0" anchor="ctr"/>
          <a:lstStyle/>
          <a:p>
            <a:pPr indent="0" marL="0">
              <a:buNone/>
            </a:pPr>
            <a:r>
              <a:rPr lang="en-US" sz="1100" dirty="0">
                <a:solidFill>
                  <a:schemeClr val="accent6"/>
                </a:solidFill>
              </a:rPr>
              <a:t>연합뉴스TV (2025.9)</a:t>
            </a:r>
            <a:endParaRPr lang="en-US" sz="1100" dirty="0"/>
          </a:p>
        </p:txBody>
      </p:sp>
      <p:sp>
        <p:nvSpPr>
          <p:cNvPr id="20" name="Card"/>
          <p:cNvSpPr/>
          <p:nvPr/>
        </p:nvSpPr>
        <p:spPr>
          <a:xfrm>
            <a:off x="8046720" y="1417320"/>
            <a:ext cx="3474720" cy="2331720"/>
          </a:xfrm>
          <a:prstGeom prst="roundRect">
            <a:avLst>
              <a:gd name="adj" fmla="val 7843"/>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1" name="Video thumbnail"/>
          <p:cNvSpPr/>
          <p:nvPr/>
        </p:nvSpPr>
        <p:spPr>
          <a:xfrm>
            <a:off x="8229600" y="1572768"/>
            <a:ext cx="822960" cy="822960"/>
          </a:xfrm>
          <a:prstGeom prst="roundRect">
            <a:avLst>
              <a:gd name="adj" fmla="val 11111"/>
            </a:avLst>
          </a:prstGeom>
          <a:solidFill>
            <a:schemeClr val="tx2"/>
          </a:solidFill>
          <a:ln/>
        </p:spPr>
      </p:sp>
      <p:sp>
        <p:nvSpPr>
          <p:cNvPr id="22" name="Icon circle"/>
          <p:cNvSpPr/>
          <p:nvPr/>
        </p:nvSpPr>
        <p:spPr>
          <a:xfrm>
            <a:off x="8366760" y="1709928"/>
            <a:ext cx="548640" cy="548640"/>
          </a:xfrm>
          <a:prstGeom prst="ellipse">
            <a:avLst/>
          </a:prstGeom>
          <a:solidFill>
            <a:schemeClr val="accent1"/>
          </a:solidFill>
          <a:ln/>
        </p:spPr>
      </p:sp>
      <p:pic>
        <p:nvPicPr>
          <p:cNvPr id="23" name="Icon" descr="preencoded.png">    </p:cNvPr>
          <p:cNvPicPr>
            <a:picLocks noChangeAspect="1"/>
          </p:cNvPicPr>
          <p:nvPr/>
        </p:nvPicPr>
        <p:blipFill>
          <a:blip r:embed="rId6"/>
          <a:stretch>
            <a:fillRect/>
          </a:stretch>
        </p:blipFill>
        <p:spPr>
          <a:xfrm>
            <a:off x="8520379" y="1863547"/>
            <a:ext cx="241402" cy="241402"/>
          </a:xfrm>
          <a:prstGeom prst="rect">
            <a:avLst/>
          </a:prstGeom>
        </p:spPr>
      </p:pic>
      <p:sp>
        <p:nvSpPr>
          <p:cNvPr id="24" name="Text 17"/>
          <p:cNvSpPr txBox="1"/>
          <p:nvPr/>
        </p:nvSpPr>
        <p:spPr>
          <a:xfrm>
            <a:off x="9189720" y="1572768"/>
            <a:ext cx="2103120" cy="822960"/>
          </a:xfrm>
          <a:prstGeom prst="rect">
            <a:avLst/>
          </a:prstGeom>
          <a:noFill/>
          <a:ln/>
        </p:spPr>
        <p:txBody>
          <a:bodyPr wrap="square" lIns="0" tIns="0" rIns="0" bIns="0" rtlCol="0" anchor="ctr"/>
          <a:lstStyle/>
          <a:p>
            <a:pPr indent="0" marL="0">
              <a:buNone/>
            </a:pPr>
            <a:r>
              <a:rPr lang="en-US" sz="2600" b="1" dirty="0">
                <a:solidFill>
                  <a:schemeClr val="accent1"/>
                </a:solidFill>
              </a:rPr>
              <a:t>③</a:t>
            </a:r>
            <a:endParaRPr lang="en-US" sz="2600" dirty="0"/>
          </a:p>
        </p:txBody>
      </p:sp>
      <p:sp>
        <p:nvSpPr>
          <p:cNvPr id="25" name="Text 18"/>
          <p:cNvSpPr txBox="1"/>
          <p:nvPr/>
        </p:nvSpPr>
        <p:spPr>
          <a:xfrm>
            <a:off x="8229600" y="2514600"/>
            <a:ext cx="3108960" cy="777240"/>
          </a:xfrm>
          <a:prstGeom prst="rect">
            <a:avLst/>
          </a:prstGeom>
          <a:noFill/>
          <a:ln/>
        </p:spPr>
        <p:txBody>
          <a:bodyPr wrap="square" lIns="0" tIns="0" rIns="0" bIns="0" rtlCol="0" anchor="t"/>
          <a:lstStyle/>
          <a:p>
            <a:pPr indent="0" marL="0">
              <a:buNone/>
            </a:pPr>
            <a:r>
              <a:rPr lang="en-US" sz="1500" b="1" u="sng" dirty="0">
                <a:solidFill>
                  <a:schemeClr val="tx2"/>
                </a:solidFill>
                <a:hlinkClick r:id="rId7" invalidUrl="" action="" tgtFrame="" tooltip="" history="1" highlightClick="0" endSnd="0">
                  <a:extLst>
                    <a:ext uri="{A12FA001-AC4F-418D-AE19-62706E023703}">
                      <ahyp:hlinkClr xmlns:ahyp="http://schemas.microsoft.com/office/drawing/2018/hyperlinkcolor" val="tx"/>
                    </a:ext>
                  </a:extLst>
                </a:hlinkClick>
              </a:rPr>
              <a:t>서울시 데이트폭력 예방 숏폼 1편</a:t>
            </a:r>
            <a:endParaRPr lang="en-US" sz="1500" dirty="0"/>
          </a:p>
        </p:txBody>
      </p:sp>
      <p:sp>
        <p:nvSpPr>
          <p:cNvPr id="26" name="Text 19"/>
          <p:cNvSpPr txBox="1"/>
          <p:nvPr/>
        </p:nvSpPr>
        <p:spPr>
          <a:xfrm>
            <a:off x="8229600" y="3337560"/>
            <a:ext cx="3108960" cy="320040"/>
          </a:xfrm>
          <a:prstGeom prst="rect">
            <a:avLst/>
          </a:prstGeom>
          <a:noFill/>
          <a:ln/>
        </p:spPr>
        <p:txBody>
          <a:bodyPr wrap="square" lIns="0" tIns="0" rIns="0" bIns="0" rtlCol="0" anchor="ctr"/>
          <a:lstStyle/>
          <a:p>
            <a:pPr indent="0" marL="0">
              <a:buNone/>
            </a:pPr>
            <a:r>
              <a:rPr lang="en-US" sz="1100" dirty="0">
                <a:solidFill>
                  <a:schemeClr val="accent6"/>
                </a:solidFill>
              </a:rPr>
              <a:t>서울시 찾아가는 폭력예방교육 (2025)</a:t>
            </a:r>
            <a:endParaRPr lang="en-US" sz="1100" dirty="0"/>
          </a:p>
        </p:txBody>
      </p:sp>
      <p:sp>
        <p:nvSpPr>
          <p:cNvPr id="27" name="Question circle"/>
          <p:cNvSpPr/>
          <p:nvPr/>
        </p:nvSpPr>
        <p:spPr>
          <a:xfrm>
            <a:off x="548640" y="3977640"/>
            <a:ext cx="502920" cy="502920"/>
          </a:xfrm>
          <a:prstGeom prst="ellipse">
            <a:avLst/>
          </a:prstGeom>
          <a:solidFill>
            <a:schemeClr val="tx2"/>
          </a:solidFill>
          <a:ln/>
        </p:spPr>
      </p:sp>
      <p:sp>
        <p:nvSpPr>
          <p:cNvPr id="28" name="Text 21"/>
          <p:cNvSpPr txBox="1"/>
          <p:nvPr/>
        </p:nvSpPr>
        <p:spPr>
          <a:xfrm>
            <a:off x="548640" y="397764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29" name="Text 22"/>
          <p:cNvSpPr txBox="1"/>
          <p:nvPr/>
        </p:nvSpPr>
        <p:spPr>
          <a:xfrm>
            <a:off x="1234440" y="3931920"/>
            <a:ext cx="10332720" cy="594360"/>
          </a:xfrm>
          <a:prstGeom prst="rect">
            <a:avLst/>
          </a:prstGeom>
          <a:noFill/>
          <a:ln/>
        </p:spPr>
        <p:txBody>
          <a:bodyPr wrap="square" lIns="0" tIns="0" rIns="0" bIns="0" rtlCol="0" anchor="ctr"/>
          <a:lstStyle/>
          <a:p>
            <a:pPr indent="0" marL="0">
              <a:buNone/>
            </a:pPr>
            <a:r>
              <a:rPr lang="en-US" sz="1500" dirty="0">
                <a:solidFill>
                  <a:schemeClr val="tx1"/>
                </a:solidFill>
              </a:rPr>
              <a:t>영상 속에서 ‘폭력’이라고 느낀 장면은? 처음부터 폭력이라고 알아차렸나요?</a:t>
            </a:r>
            <a:endParaRPr lang="en-US" sz="1500" dirty="0"/>
          </a:p>
        </p:txBody>
      </p:sp>
      <p:sp>
        <p:nvSpPr>
          <p:cNvPr id="30" name="Question circle"/>
          <p:cNvSpPr/>
          <p:nvPr/>
        </p:nvSpPr>
        <p:spPr>
          <a:xfrm>
            <a:off x="548640" y="4663440"/>
            <a:ext cx="502920" cy="502920"/>
          </a:xfrm>
          <a:prstGeom prst="ellipse">
            <a:avLst/>
          </a:prstGeom>
          <a:solidFill>
            <a:schemeClr val="tx2"/>
          </a:solidFill>
          <a:ln/>
        </p:spPr>
      </p:sp>
      <p:sp>
        <p:nvSpPr>
          <p:cNvPr id="31" name="Text 24"/>
          <p:cNvSpPr txBox="1"/>
          <p:nvPr/>
        </p:nvSpPr>
        <p:spPr>
          <a:xfrm>
            <a:off x="548640" y="466344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32" name="Text 25"/>
          <p:cNvSpPr txBox="1"/>
          <p:nvPr/>
        </p:nvSpPr>
        <p:spPr>
          <a:xfrm>
            <a:off x="1234440" y="4617720"/>
            <a:ext cx="10332720" cy="594360"/>
          </a:xfrm>
          <a:prstGeom prst="rect">
            <a:avLst/>
          </a:prstGeom>
          <a:noFill/>
          <a:ln/>
        </p:spPr>
        <p:txBody>
          <a:bodyPr wrap="square" lIns="0" tIns="0" rIns="0" bIns="0" rtlCol="0" anchor="ctr"/>
          <a:lstStyle/>
          <a:p>
            <a:pPr indent="0" marL="0">
              <a:buNone/>
            </a:pPr>
            <a:r>
              <a:rPr lang="en-US" sz="1500" dirty="0">
                <a:solidFill>
                  <a:schemeClr val="tx1"/>
                </a:solidFill>
              </a:rPr>
              <a:t>피해자가 바로 도움을 요청하지 못한 이유는 무엇이었을까요?</a:t>
            </a:r>
            <a:endParaRPr lang="en-US" sz="1500" dirty="0"/>
          </a:p>
        </p:txBody>
      </p:sp>
      <p:sp>
        <p:nvSpPr>
          <p:cNvPr id="33" name="Question circle"/>
          <p:cNvSpPr/>
          <p:nvPr/>
        </p:nvSpPr>
        <p:spPr>
          <a:xfrm>
            <a:off x="548640" y="5349240"/>
            <a:ext cx="502920" cy="502920"/>
          </a:xfrm>
          <a:prstGeom prst="ellipse">
            <a:avLst/>
          </a:prstGeom>
          <a:solidFill>
            <a:schemeClr val="tx2"/>
          </a:solidFill>
          <a:ln/>
        </p:spPr>
      </p:sp>
      <p:sp>
        <p:nvSpPr>
          <p:cNvPr id="34" name="Text 27"/>
          <p:cNvSpPr txBox="1"/>
          <p:nvPr/>
        </p:nvSpPr>
        <p:spPr>
          <a:xfrm>
            <a:off x="548640" y="534924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35" name="Text 28"/>
          <p:cNvSpPr txBox="1"/>
          <p:nvPr/>
        </p:nvSpPr>
        <p:spPr>
          <a:xfrm>
            <a:off x="1234440" y="5303520"/>
            <a:ext cx="10332720" cy="594360"/>
          </a:xfrm>
          <a:prstGeom prst="rect">
            <a:avLst/>
          </a:prstGeom>
          <a:noFill/>
          <a:ln/>
        </p:spPr>
        <p:txBody>
          <a:bodyPr wrap="square" lIns="0" tIns="0" rIns="0" bIns="0" rtlCol="0" anchor="ctr"/>
          <a:lstStyle/>
          <a:p>
            <a:pPr indent="0" marL="0">
              <a:buNone/>
            </a:pPr>
            <a:r>
              <a:rPr lang="en-US" sz="1500" dirty="0">
                <a:solidFill>
                  <a:schemeClr val="tx1"/>
                </a:solidFill>
              </a:rPr>
              <a:t>내가 그 친구의 친구였다면 5D 중 무엇을 할 수 있을까요?</a:t>
            </a:r>
            <a:endParaRPr lang="en-US" sz="1500" dirty="0"/>
          </a:p>
        </p:txBody>
      </p:sp>
      <p:sp>
        <p:nvSpPr>
          <p:cNvPr id="36" name="Text 29"/>
          <p:cNvSpPr txBox="1"/>
          <p:nvPr/>
        </p:nvSpPr>
        <p:spPr>
          <a:xfrm>
            <a:off x="548640" y="6053328"/>
            <a:ext cx="11064240" cy="274320"/>
          </a:xfrm>
          <a:prstGeom prst="rect">
            <a:avLst/>
          </a:prstGeom>
          <a:noFill/>
          <a:ln/>
        </p:spPr>
        <p:txBody>
          <a:bodyPr wrap="square" lIns="0" tIns="0" rIns="0" bIns="0" rtlCol="0" anchor="ctr"/>
          <a:lstStyle/>
          <a:p>
            <a:pPr indent="0" marL="0">
              <a:buNone/>
            </a:pPr>
            <a:r>
              <a:rPr lang="en-US" sz="1000" dirty="0">
                <a:solidFill>
                  <a:schemeClr val="accent6"/>
                </a:solidFill>
              </a:rPr>
              <a:t>※ 제목을 클릭하면 영상 페이지로 이동합니다. ①은 교육자료실에서 제목으로 검색하세요</a:t>
            </a:r>
            <a:endParaRPr lang="en-US" sz="10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9692640" cy="822960"/>
          </a:xfrm>
          <a:prstGeom prst="rect">
            <a:avLst/>
          </a:prstGeom>
          <a:noFill/>
          <a:ln/>
        </p:spPr>
        <p:txBody>
          <a:bodyPr wrap="square" rtlCol="0" anchor="ctr"/>
          <a:lstStyle/>
          <a:p>
            <a:pPr algn="l" indent="0" marL="0">
              <a:buNone/>
            </a:pPr>
            <a:r>
              <a:rPr lang="en-US" sz="3000" b="1" dirty="0">
                <a:solidFill>
                  <a:schemeClr val="tx2"/>
                </a:solidFill>
              </a:rPr>
              <a:t>학생들에게 꼭 전하고 싶은 5가지</a:t>
            </a:r>
            <a:endParaRPr lang="en-US" sz="3000" dirty="0"/>
          </a:p>
        </p:txBody>
      </p:sp>
      <p:sp>
        <p:nvSpPr>
          <p:cNvPr id="3" name="Section tag"/>
          <p:cNvSpPr txBox="1"/>
          <p:nvPr/>
        </p:nvSpPr>
        <p:spPr>
          <a:xfrm>
            <a:off x="548640" y="109728"/>
            <a:ext cx="7315200" cy="292608"/>
          </a:xfrm>
          <a:prstGeom prst="rect">
            <a:avLst/>
          </a:prstGeom>
          <a:noFill/>
          <a:ln/>
        </p:spPr>
        <p:txBody>
          <a:bodyPr wrap="square" lIns="0" tIns="0" rIns="0" bIns="0" rtlCol="0" anchor="ctr"/>
          <a:lstStyle/>
          <a:p>
            <a:pPr indent="0" marL="0">
              <a:buNone/>
            </a:pPr>
            <a:r>
              <a:rPr lang="en-US" sz="1200" b="1" dirty="0">
                <a:solidFill>
                  <a:schemeClr val="accent1"/>
                </a:solidFill>
              </a:rPr>
              <a:t>7. 내가 강사라면</a:t>
            </a:r>
            <a:endParaRPr lang="en-US" sz="1200" dirty="0"/>
          </a:p>
        </p:txBody>
      </p:sp>
      <p:pic>
        <p:nvPicPr>
          <p:cNvPr id="4" name="Illustration" descr="preencoded.png">    </p:cNvPr>
          <p:cNvPicPr>
            <a:picLocks noChangeAspect="1"/>
          </p:cNvPicPr>
          <p:nvPr/>
        </p:nvPicPr>
        <p:blipFill>
          <a:blip r:embed="rId1"/>
          <a:stretch>
            <a:fillRect/>
          </a:stretch>
        </p:blipFill>
        <p:spPr>
          <a:xfrm>
            <a:off x="10744200" y="256032"/>
            <a:ext cx="868680" cy="868680"/>
          </a:xfrm>
          <a:prstGeom prst="rect">
            <a:avLst/>
          </a:prstGeom>
        </p:spPr>
      </p:pic>
      <p:sp>
        <p:nvSpPr>
          <p:cNvPr id="6" name="Icon circle"/>
          <p:cNvSpPr/>
          <p:nvPr/>
        </p:nvSpPr>
        <p:spPr>
          <a:xfrm>
            <a:off x="548640" y="1463040"/>
            <a:ext cx="1188720" cy="1188720"/>
          </a:xfrm>
          <a:prstGeom prst="ellipse">
            <a:avLst/>
          </a:prstGeom>
          <a:solidFill>
            <a:schemeClr val="tx2"/>
          </a:solidFill>
          <a:ln/>
        </p:spPr>
      </p:sp>
      <p:pic>
        <p:nvPicPr>
          <p:cNvPr id="7" name="Icon" descr="preencoded.png">    </p:cNvPr>
          <p:cNvPicPr>
            <a:picLocks noChangeAspect="1"/>
          </p:cNvPicPr>
          <p:nvPr/>
        </p:nvPicPr>
        <p:blipFill>
          <a:blip r:embed="rId2"/>
          <a:stretch>
            <a:fillRect/>
          </a:stretch>
        </p:blipFill>
        <p:spPr>
          <a:xfrm>
            <a:off x="881482" y="1795882"/>
            <a:ext cx="523037" cy="523037"/>
          </a:xfrm>
          <a:prstGeom prst="rect">
            <a:avLst/>
          </a:prstGeom>
        </p:spPr>
      </p:pic>
      <p:sp>
        <p:nvSpPr>
          <p:cNvPr id="8" name="Text 3"/>
          <p:cNvSpPr txBox="1"/>
          <p:nvPr/>
        </p:nvSpPr>
        <p:spPr>
          <a:xfrm>
            <a:off x="548640" y="2834640"/>
            <a:ext cx="3291840" cy="1280160"/>
          </a:xfrm>
          <a:prstGeom prst="rect">
            <a:avLst/>
          </a:prstGeom>
          <a:noFill/>
          <a:ln/>
        </p:spPr>
        <p:txBody>
          <a:bodyPr wrap="square" lIns="0" tIns="0" rIns="0" bIns="0" rtlCol="0" anchor="t"/>
          <a:lstStyle/>
          <a:p>
            <a:pPr indent="0" marL="0">
              <a:buNone/>
            </a:pPr>
            <a:r>
              <a:rPr lang="en-US" sz="2000" b="1" i="1" dirty="0">
                <a:solidFill>
                  <a:schemeClr val="accent1"/>
                </a:solidFill>
              </a:rPr>
              <a:t>“사랑은 소유가 아니라 존중입니다”</a:t>
            </a:r>
            <a:endParaRPr lang="en-US" sz="2000" dirty="0"/>
          </a:p>
        </p:txBody>
      </p:sp>
      <p:sp>
        <p:nvSpPr>
          <p:cNvPr id="9" name="Card"/>
          <p:cNvSpPr/>
          <p:nvPr/>
        </p:nvSpPr>
        <p:spPr>
          <a:xfrm>
            <a:off x="4114800" y="1371600"/>
            <a:ext cx="7498080" cy="841248"/>
          </a:xfrm>
          <a:prstGeom prst="roundRect">
            <a:avLst>
              <a:gd name="adj" fmla="val 2173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0" name="Text 5"/>
          <p:cNvSpPr txBox="1"/>
          <p:nvPr/>
        </p:nvSpPr>
        <p:spPr>
          <a:xfrm>
            <a:off x="4297680" y="1371600"/>
            <a:ext cx="411480" cy="841248"/>
          </a:xfrm>
          <a:prstGeom prst="rect">
            <a:avLst/>
          </a:prstGeom>
          <a:noFill/>
          <a:ln/>
        </p:spPr>
        <p:txBody>
          <a:bodyPr wrap="square" lIns="0" tIns="0" rIns="0" bIns="0" rtlCol="0" anchor="ctr"/>
          <a:lstStyle/>
          <a:p>
            <a:pPr indent="0" marL="0">
              <a:buNone/>
            </a:pPr>
            <a:r>
              <a:rPr lang="en-US" sz="2200" b="1" dirty="0">
                <a:solidFill>
                  <a:schemeClr val="accent1"/>
                </a:solidFill>
              </a:rPr>
              <a:t>1</a:t>
            </a:r>
            <a:endParaRPr lang="en-US" sz="2200" dirty="0"/>
          </a:p>
        </p:txBody>
      </p:sp>
      <p:sp>
        <p:nvSpPr>
          <p:cNvPr id="11" name="Text 6"/>
          <p:cNvSpPr txBox="1"/>
          <p:nvPr/>
        </p:nvSpPr>
        <p:spPr>
          <a:xfrm>
            <a:off x="4754880" y="1371600"/>
            <a:ext cx="2423160" cy="841248"/>
          </a:xfrm>
          <a:prstGeom prst="rect">
            <a:avLst/>
          </a:prstGeom>
          <a:noFill/>
          <a:ln/>
        </p:spPr>
        <p:txBody>
          <a:bodyPr wrap="square" lIns="0" tIns="0" rIns="0" bIns="0" rtlCol="0" anchor="ctr"/>
          <a:lstStyle/>
          <a:p>
            <a:pPr indent="0" marL="0">
              <a:buNone/>
            </a:pPr>
            <a:r>
              <a:rPr lang="en-US" sz="1500" b="1" dirty="0">
                <a:solidFill>
                  <a:schemeClr val="tx2"/>
                </a:solidFill>
              </a:rPr>
              <a:t>동의는 매번, 분명하게</a:t>
            </a:r>
            <a:endParaRPr lang="en-US" sz="1500" dirty="0"/>
          </a:p>
        </p:txBody>
      </p:sp>
      <p:sp>
        <p:nvSpPr>
          <p:cNvPr id="12" name="Text 7"/>
          <p:cNvSpPr txBox="1"/>
          <p:nvPr/>
        </p:nvSpPr>
        <p:spPr>
          <a:xfrm>
            <a:off x="7223760" y="1371600"/>
            <a:ext cx="4251960" cy="841248"/>
          </a:xfrm>
          <a:prstGeom prst="rect">
            <a:avLst/>
          </a:prstGeom>
          <a:noFill/>
          <a:ln/>
        </p:spPr>
        <p:txBody>
          <a:bodyPr wrap="square" lIns="0" tIns="0" rIns="0" bIns="0" rtlCol="0" anchor="ctr"/>
          <a:lstStyle/>
          <a:p>
            <a:pPr indent="0" marL="0">
              <a:buNone/>
            </a:pPr>
            <a:r>
              <a:rPr lang="en-US" sz="1300" dirty="0">
                <a:solidFill>
                  <a:schemeClr val="tx1"/>
                </a:solidFill>
              </a:rPr>
              <a:t>침묵·망설임은 동의가 아닙니다. 청소년 성적 촬영물은 요구만으로도 범죄입니다.</a:t>
            </a:r>
            <a:endParaRPr lang="en-US" sz="1300" dirty="0"/>
          </a:p>
        </p:txBody>
      </p:sp>
      <p:sp>
        <p:nvSpPr>
          <p:cNvPr id="13" name="Card"/>
          <p:cNvSpPr/>
          <p:nvPr/>
        </p:nvSpPr>
        <p:spPr>
          <a:xfrm>
            <a:off x="4114800" y="2322576"/>
            <a:ext cx="7498080" cy="841248"/>
          </a:xfrm>
          <a:prstGeom prst="roundRect">
            <a:avLst>
              <a:gd name="adj" fmla="val 2173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4" name="Text 9"/>
          <p:cNvSpPr txBox="1"/>
          <p:nvPr/>
        </p:nvSpPr>
        <p:spPr>
          <a:xfrm>
            <a:off x="4297680" y="2322576"/>
            <a:ext cx="411480" cy="841248"/>
          </a:xfrm>
          <a:prstGeom prst="rect">
            <a:avLst/>
          </a:prstGeom>
          <a:noFill/>
          <a:ln/>
        </p:spPr>
        <p:txBody>
          <a:bodyPr wrap="square" lIns="0" tIns="0" rIns="0" bIns="0" rtlCol="0" anchor="ctr"/>
          <a:lstStyle/>
          <a:p>
            <a:pPr indent="0" marL="0">
              <a:buNone/>
            </a:pPr>
            <a:r>
              <a:rPr lang="en-US" sz="2200" b="1" dirty="0">
                <a:solidFill>
                  <a:schemeClr val="accent1"/>
                </a:solidFill>
              </a:rPr>
              <a:t>2</a:t>
            </a:r>
            <a:endParaRPr lang="en-US" sz="2200" dirty="0"/>
          </a:p>
        </p:txBody>
      </p:sp>
      <p:sp>
        <p:nvSpPr>
          <p:cNvPr id="15" name="Text 10"/>
          <p:cNvSpPr txBox="1"/>
          <p:nvPr/>
        </p:nvSpPr>
        <p:spPr>
          <a:xfrm>
            <a:off x="4754880" y="2322576"/>
            <a:ext cx="2423160" cy="841248"/>
          </a:xfrm>
          <a:prstGeom prst="rect">
            <a:avLst/>
          </a:prstGeom>
          <a:noFill/>
          <a:ln/>
        </p:spPr>
        <p:txBody>
          <a:bodyPr wrap="square" lIns="0" tIns="0" rIns="0" bIns="0" rtlCol="0" anchor="ctr"/>
          <a:lstStyle/>
          <a:p>
            <a:pPr indent="0" marL="0">
              <a:buNone/>
            </a:pPr>
            <a:r>
              <a:rPr lang="en-US" sz="1500" b="1" dirty="0">
                <a:solidFill>
                  <a:schemeClr val="tx2"/>
                </a:solidFill>
              </a:rPr>
              <a:t>질투·집착 ≠ 사랑</a:t>
            </a:r>
            <a:endParaRPr lang="en-US" sz="1500" dirty="0"/>
          </a:p>
        </p:txBody>
      </p:sp>
      <p:sp>
        <p:nvSpPr>
          <p:cNvPr id="16" name="Text 11"/>
          <p:cNvSpPr txBox="1"/>
          <p:nvPr/>
        </p:nvSpPr>
        <p:spPr>
          <a:xfrm>
            <a:off x="7223760" y="2322576"/>
            <a:ext cx="4251960" cy="841248"/>
          </a:xfrm>
          <a:prstGeom prst="rect">
            <a:avLst/>
          </a:prstGeom>
          <a:noFill/>
          <a:ln/>
        </p:spPr>
        <p:txBody>
          <a:bodyPr wrap="square" lIns="0" tIns="0" rIns="0" bIns="0" rtlCol="0" anchor="ctr"/>
          <a:lstStyle/>
          <a:p>
            <a:pPr indent="0" marL="0">
              <a:buNone/>
            </a:pPr>
            <a:r>
              <a:rPr lang="en-US" sz="1300" dirty="0">
                <a:solidFill>
                  <a:schemeClr val="tx1"/>
                </a:solidFill>
              </a:rPr>
              <a:t>감시·고립은 강압적 통제입니다. 강남역·거제 사건 모두 이별 과정에서 일어났습니다.</a:t>
            </a:r>
            <a:endParaRPr lang="en-US" sz="1300" dirty="0"/>
          </a:p>
        </p:txBody>
      </p:sp>
      <p:sp>
        <p:nvSpPr>
          <p:cNvPr id="17" name="Card"/>
          <p:cNvSpPr/>
          <p:nvPr/>
        </p:nvSpPr>
        <p:spPr>
          <a:xfrm>
            <a:off x="4114800" y="3273552"/>
            <a:ext cx="7498080" cy="841248"/>
          </a:xfrm>
          <a:prstGeom prst="roundRect">
            <a:avLst>
              <a:gd name="adj" fmla="val 2173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18" name="Text 13"/>
          <p:cNvSpPr txBox="1"/>
          <p:nvPr/>
        </p:nvSpPr>
        <p:spPr>
          <a:xfrm>
            <a:off x="4297680" y="3273552"/>
            <a:ext cx="411480" cy="841248"/>
          </a:xfrm>
          <a:prstGeom prst="rect">
            <a:avLst/>
          </a:prstGeom>
          <a:noFill/>
          <a:ln/>
        </p:spPr>
        <p:txBody>
          <a:bodyPr wrap="square" lIns="0" tIns="0" rIns="0" bIns="0" rtlCol="0" anchor="ctr"/>
          <a:lstStyle/>
          <a:p>
            <a:pPr indent="0" marL="0">
              <a:buNone/>
            </a:pPr>
            <a:r>
              <a:rPr lang="en-US" sz="2200" b="1" dirty="0">
                <a:solidFill>
                  <a:schemeClr val="accent1"/>
                </a:solidFill>
              </a:rPr>
              <a:t>3</a:t>
            </a:r>
            <a:endParaRPr lang="en-US" sz="2200" dirty="0"/>
          </a:p>
        </p:txBody>
      </p:sp>
      <p:sp>
        <p:nvSpPr>
          <p:cNvPr id="19" name="Text 14"/>
          <p:cNvSpPr txBox="1"/>
          <p:nvPr/>
        </p:nvSpPr>
        <p:spPr>
          <a:xfrm>
            <a:off x="4754880" y="3273552"/>
            <a:ext cx="2423160" cy="841248"/>
          </a:xfrm>
          <a:prstGeom prst="rect">
            <a:avLst/>
          </a:prstGeom>
          <a:noFill/>
          <a:ln/>
        </p:spPr>
        <p:txBody>
          <a:bodyPr wrap="square" lIns="0" tIns="0" rIns="0" bIns="0" rtlCol="0" anchor="ctr"/>
          <a:lstStyle/>
          <a:p>
            <a:pPr indent="0" marL="0">
              <a:buNone/>
            </a:pPr>
            <a:r>
              <a:rPr lang="en-US" sz="1500" b="1" dirty="0">
                <a:solidFill>
                  <a:schemeClr val="tx2"/>
                </a:solidFill>
              </a:rPr>
              <a:t>피해자의 잘못은 없다</a:t>
            </a:r>
            <a:endParaRPr lang="en-US" sz="1500" dirty="0"/>
          </a:p>
        </p:txBody>
      </p:sp>
      <p:sp>
        <p:nvSpPr>
          <p:cNvPr id="20" name="Text 15"/>
          <p:cNvSpPr txBox="1"/>
          <p:nvPr/>
        </p:nvSpPr>
        <p:spPr>
          <a:xfrm>
            <a:off x="7223760" y="3273552"/>
            <a:ext cx="4251960" cy="841248"/>
          </a:xfrm>
          <a:prstGeom prst="rect">
            <a:avLst/>
          </a:prstGeom>
          <a:noFill/>
          <a:ln/>
        </p:spPr>
        <p:txBody>
          <a:bodyPr wrap="square" lIns="0" tIns="0" rIns="0" bIns="0" rtlCol="0" anchor="ctr"/>
          <a:lstStyle/>
          <a:p>
            <a:pPr indent="0" marL="0">
              <a:buNone/>
            </a:pPr>
            <a:r>
              <a:rPr lang="en-US" sz="1300" dirty="0">
                <a:solidFill>
                  <a:schemeClr val="tx1"/>
                </a:solidFill>
              </a:rPr>
              <a:t>피해자 80.9%가 도움을 청하지 못합니다. “괜찮아? 도와줄게”가 먼저입니다.</a:t>
            </a:r>
            <a:endParaRPr lang="en-US" sz="1300" dirty="0"/>
          </a:p>
        </p:txBody>
      </p:sp>
      <p:sp>
        <p:nvSpPr>
          <p:cNvPr id="21" name="Card"/>
          <p:cNvSpPr/>
          <p:nvPr/>
        </p:nvSpPr>
        <p:spPr>
          <a:xfrm>
            <a:off x="4114800" y="4224528"/>
            <a:ext cx="7498080" cy="841248"/>
          </a:xfrm>
          <a:prstGeom prst="roundRect">
            <a:avLst>
              <a:gd name="adj" fmla="val 2173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2" name="Text 17"/>
          <p:cNvSpPr txBox="1"/>
          <p:nvPr/>
        </p:nvSpPr>
        <p:spPr>
          <a:xfrm>
            <a:off x="4297680" y="4224528"/>
            <a:ext cx="411480" cy="841248"/>
          </a:xfrm>
          <a:prstGeom prst="rect">
            <a:avLst/>
          </a:prstGeom>
          <a:noFill/>
          <a:ln/>
        </p:spPr>
        <p:txBody>
          <a:bodyPr wrap="square" lIns="0" tIns="0" rIns="0" bIns="0" rtlCol="0" anchor="ctr"/>
          <a:lstStyle/>
          <a:p>
            <a:pPr indent="0" marL="0">
              <a:buNone/>
            </a:pPr>
            <a:r>
              <a:rPr lang="en-US" sz="2200" b="1" dirty="0">
                <a:solidFill>
                  <a:schemeClr val="accent1"/>
                </a:solidFill>
              </a:rPr>
              <a:t>4</a:t>
            </a:r>
            <a:endParaRPr lang="en-US" sz="2200" dirty="0"/>
          </a:p>
        </p:txBody>
      </p:sp>
      <p:sp>
        <p:nvSpPr>
          <p:cNvPr id="23" name="Text 18"/>
          <p:cNvSpPr txBox="1"/>
          <p:nvPr/>
        </p:nvSpPr>
        <p:spPr>
          <a:xfrm>
            <a:off x="4754880" y="4224528"/>
            <a:ext cx="2423160" cy="841248"/>
          </a:xfrm>
          <a:prstGeom prst="rect">
            <a:avLst/>
          </a:prstGeom>
          <a:noFill/>
          <a:ln/>
        </p:spPr>
        <p:txBody>
          <a:bodyPr wrap="square" lIns="0" tIns="0" rIns="0" bIns="0" rtlCol="0" anchor="ctr"/>
          <a:lstStyle/>
          <a:p>
            <a:pPr indent="0" marL="0">
              <a:buNone/>
            </a:pPr>
            <a:r>
              <a:rPr lang="en-US" sz="1500" b="1" dirty="0">
                <a:solidFill>
                  <a:schemeClr val="tx2"/>
                </a:solidFill>
              </a:rPr>
              <a:t>방관하지 않는 친구 되기</a:t>
            </a:r>
            <a:endParaRPr lang="en-US" sz="1500" dirty="0"/>
          </a:p>
        </p:txBody>
      </p:sp>
      <p:sp>
        <p:nvSpPr>
          <p:cNvPr id="24" name="Text 19"/>
          <p:cNvSpPr txBox="1"/>
          <p:nvPr/>
        </p:nvSpPr>
        <p:spPr>
          <a:xfrm>
            <a:off x="7223760" y="4224528"/>
            <a:ext cx="4251960" cy="841248"/>
          </a:xfrm>
          <a:prstGeom prst="rect">
            <a:avLst/>
          </a:prstGeom>
          <a:noFill/>
          <a:ln/>
        </p:spPr>
        <p:txBody>
          <a:bodyPr wrap="square" lIns="0" tIns="0" rIns="0" bIns="0" rtlCol="0" anchor="ctr"/>
          <a:lstStyle/>
          <a:p>
            <a:pPr indent="0" marL="0">
              <a:buNone/>
            </a:pPr>
            <a:r>
              <a:rPr lang="en-US" sz="1300" dirty="0">
                <a:solidFill>
                  <a:schemeClr val="tx1"/>
                </a:solidFill>
              </a:rPr>
              <a:t>직접 맞서지 않아도 됩니다. 5D 중 내가 할 수 있는 한 가지를 하세요.</a:t>
            </a:r>
            <a:endParaRPr lang="en-US" sz="1300" dirty="0"/>
          </a:p>
        </p:txBody>
      </p:sp>
      <p:sp>
        <p:nvSpPr>
          <p:cNvPr id="25" name="Card"/>
          <p:cNvSpPr/>
          <p:nvPr/>
        </p:nvSpPr>
        <p:spPr>
          <a:xfrm>
            <a:off x="4114800" y="5175504"/>
            <a:ext cx="7498080" cy="841248"/>
          </a:xfrm>
          <a:prstGeom prst="roundRect">
            <a:avLst>
              <a:gd name="adj" fmla="val 21739"/>
            </a:avLst>
          </a:prstGeom>
          <a:solidFill>
            <a:schemeClr val="bg2"/>
          </a:solidFill>
          <a:ln w="12700">
            <a:solidFill>
              <a:srgbClr val="E7CFDD"/>
            </a:solidFill>
            <a:prstDash val="solid"/>
          </a:ln>
          <a:effectLst>
            <a:outerShdw sx="100000" sy="100000" kx="0" ky="0" algn="bl" rotWithShape="0" blurRad="101600" dist="25400" dir="5400000">
              <a:srgbClr val="4A1D3F">
                <a:alpha val="10000"/>
              </a:srgbClr>
            </a:outerShdw>
          </a:effectLst>
        </p:spPr>
      </p:sp>
      <p:sp>
        <p:nvSpPr>
          <p:cNvPr id="26" name="Text 21"/>
          <p:cNvSpPr txBox="1"/>
          <p:nvPr/>
        </p:nvSpPr>
        <p:spPr>
          <a:xfrm>
            <a:off x="4297680" y="5175504"/>
            <a:ext cx="411480" cy="841248"/>
          </a:xfrm>
          <a:prstGeom prst="rect">
            <a:avLst/>
          </a:prstGeom>
          <a:noFill/>
          <a:ln/>
        </p:spPr>
        <p:txBody>
          <a:bodyPr wrap="square" lIns="0" tIns="0" rIns="0" bIns="0" rtlCol="0" anchor="ctr"/>
          <a:lstStyle/>
          <a:p>
            <a:pPr indent="0" marL="0">
              <a:buNone/>
            </a:pPr>
            <a:r>
              <a:rPr lang="en-US" sz="2200" b="1" dirty="0">
                <a:solidFill>
                  <a:schemeClr val="accent1"/>
                </a:solidFill>
              </a:rPr>
              <a:t>5</a:t>
            </a:r>
            <a:endParaRPr lang="en-US" sz="2200" dirty="0"/>
          </a:p>
        </p:txBody>
      </p:sp>
      <p:sp>
        <p:nvSpPr>
          <p:cNvPr id="27" name="Text 22"/>
          <p:cNvSpPr txBox="1"/>
          <p:nvPr/>
        </p:nvSpPr>
        <p:spPr>
          <a:xfrm>
            <a:off x="4754880" y="5175504"/>
            <a:ext cx="2423160" cy="841248"/>
          </a:xfrm>
          <a:prstGeom prst="rect">
            <a:avLst/>
          </a:prstGeom>
          <a:noFill/>
          <a:ln/>
        </p:spPr>
        <p:txBody>
          <a:bodyPr wrap="square" lIns="0" tIns="0" rIns="0" bIns="0" rtlCol="0" anchor="ctr"/>
          <a:lstStyle/>
          <a:p>
            <a:pPr indent="0" marL="0">
              <a:buNone/>
            </a:pPr>
            <a:r>
              <a:rPr lang="en-US" sz="1500" b="1" dirty="0">
                <a:solidFill>
                  <a:schemeClr val="tx2"/>
                </a:solidFill>
              </a:rPr>
              <a:t>도움 요청은 용기</a:t>
            </a:r>
            <a:endParaRPr lang="en-US" sz="1500" dirty="0"/>
          </a:p>
        </p:txBody>
      </p:sp>
      <p:sp>
        <p:nvSpPr>
          <p:cNvPr id="28" name="Text 23"/>
          <p:cNvSpPr txBox="1"/>
          <p:nvPr/>
        </p:nvSpPr>
        <p:spPr>
          <a:xfrm>
            <a:off x="7223760" y="5175504"/>
            <a:ext cx="4251960" cy="841248"/>
          </a:xfrm>
          <a:prstGeom prst="rect">
            <a:avLst/>
          </a:prstGeom>
          <a:noFill/>
          <a:ln/>
        </p:spPr>
        <p:txBody>
          <a:bodyPr wrap="square" lIns="0" tIns="0" rIns="0" bIns="0" rtlCol="0" anchor="ctr"/>
          <a:lstStyle/>
          <a:p>
            <a:pPr indent="0" marL="0">
              <a:buNone/>
            </a:pPr>
            <a:r>
              <a:rPr lang="en-US" sz="1300" dirty="0">
                <a:solidFill>
                  <a:schemeClr val="tx1"/>
                </a:solidFill>
              </a:rPr>
              <a:t>신고 후에도 위험하면 접근금지까지 요청하세요. 112 · 117 · 1388</a:t>
            </a:r>
            <a:endParaRPr lang="en-US" sz="13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3" name="Illustration" descr="preencoded.png">    </p:cNvPr>
          <p:cNvPicPr>
            <a:picLocks noChangeAspect="1"/>
          </p:cNvPicPr>
          <p:nvPr/>
        </p:nvPicPr>
        <p:blipFill>
          <a:blip r:embed="rId1"/>
          <a:stretch>
            <a:fillRect/>
          </a:stretch>
        </p:blipFill>
        <p:spPr>
          <a:xfrm>
            <a:off x="731520" y="731520"/>
            <a:ext cx="914400" cy="914400"/>
          </a:xfrm>
          <a:prstGeom prst="rect">
            <a:avLst/>
          </a:prstGeom>
        </p:spPr>
      </p:pic>
      <p:pic>
        <p:nvPicPr>
          <p:cNvPr id="4" name="Illustration" descr="preencoded.png">    </p:cNvPr>
          <p:cNvPicPr>
            <a:picLocks noChangeAspect="1"/>
          </p:cNvPicPr>
          <p:nvPr/>
        </p:nvPicPr>
        <p:blipFill>
          <a:blip r:embed="rId2"/>
          <a:stretch>
            <a:fillRect/>
          </a:stretch>
        </p:blipFill>
        <p:spPr>
          <a:xfrm>
            <a:off x="5029200" y="4434840"/>
            <a:ext cx="1280160" cy="1280160"/>
          </a:xfrm>
          <a:prstGeom prst="rect">
            <a:avLst/>
          </a:prstGeom>
        </p:spPr>
      </p:pic>
      <p:sp>
        <p:nvSpPr>
          <p:cNvPr id="5" name="Text 0"/>
          <p:cNvSpPr txBox="1"/>
          <p:nvPr/>
        </p:nvSpPr>
        <p:spPr>
          <a:xfrm>
            <a:off x="731520" y="1828800"/>
            <a:ext cx="5669280" cy="1828800"/>
          </a:xfrm>
          <a:prstGeom prst="rect">
            <a:avLst/>
          </a:prstGeom>
          <a:noFill/>
          <a:ln/>
        </p:spPr>
        <p:txBody>
          <a:bodyPr wrap="square" lIns="0" tIns="0" rIns="0" bIns="0" rtlCol="0" anchor="t"/>
          <a:lstStyle/>
          <a:p>
            <a:pPr indent="0" marL="0">
              <a:buNone/>
            </a:pPr>
            <a:r>
              <a:rPr lang="en-US" sz="3600" b="1" dirty="0">
                <a:solidFill>
                  <a:schemeClr val="bg1"/>
                </a:solidFill>
              </a:rPr>
              <a:t>사랑은 통제가 아니라</a:t>
            </a:r>
            <a:endParaRPr lang="en-US" sz="3600" dirty="0"/>
          </a:p>
          <a:p>
            <a:pPr indent="0" marL="0">
              <a:buNone/>
            </a:pPr>
            <a:r>
              <a:rPr lang="en-US" sz="3600" b="1" dirty="0">
                <a:solidFill>
                  <a:schemeClr val="bg1"/>
                </a:solidFill>
              </a:rPr>
              <a:t>존중입니다</a:t>
            </a:r>
            <a:endParaRPr lang="en-US" sz="3600" dirty="0"/>
          </a:p>
        </p:txBody>
      </p:sp>
      <p:sp>
        <p:nvSpPr>
          <p:cNvPr id="6" name="Text 1"/>
          <p:cNvSpPr txBox="1"/>
          <p:nvPr/>
        </p:nvSpPr>
        <p:spPr>
          <a:xfrm>
            <a:off x="731520" y="3749040"/>
            <a:ext cx="5669280" cy="548640"/>
          </a:xfrm>
          <a:prstGeom prst="rect">
            <a:avLst/>
          </a:prstGeom>
          <a:noFill/>
          <a:ln/>
        </p:spPr>
        <p:txBody>
          <a:bodyPr wrap="square" lIns="0" tIns="0" rIns="0" bIns="0" rtlCol="0" anchor="ctr"/>
          <a:lstStyle/>
          <a:p>
            <a:pPr indent="0" marL="0">
              <a:buNone/>
            </a:pPr>
            <a:r>
              <a:rPr lang="en-US" sz="1800" dirty="0">
                <a:solidFill>
                  <a:schemeClr val="accent3"/>
                </a:solidFill>
              </a:rPr>
              <a:t>지켜진 약속이 건강한 관계를 만듭니다</a:t>
            </a:r>
            <a:endParaRPr lang="en-US" sz="1800" dirty="0"/>
          </a:p>
        </p:txBody>
      </p:sp>
      <p:sp>
        <p:nvSpPr>
          <p:cNvPr id="7" name="Text 2"/>
          <p:cNvSpPr txBox="1"/>
          <p:nvPr/>
        </p:nvSpPr>
        <p:spPr>
          <a:xfrm>
            <a:off x="731520" y="4937760"/>
            <a:ext cx="5669280" cy="548640"/>
          </a:xfrm>
          <a:prstGeom prst="rect">
            <a:avLst/>
          </a:prstGeom>
          <a:noFill/>
          <a:ln/>
        </p:spPr>
        <p:txBody>
          <a:bodyPr wrap="square" lIns="0" tIns="0" rIns="0" bIns="0" rtlCol="0" anchor="ctr"/>
          <a:lstStyle/>
          <a:p>
            <a:pPr indent="0" marL="0">
              <a:buNone/>
            </a:pPr>
            <a:r>
              <a:rPr lang="en-US" sz="2400" b="1" dirty="0">
                <a:solidFill>
                  <a:schemeClr val="accent1"/>
                </a:solidFill>
              </a:rPr>
              <a:t>112 · 117 · 1388 · 1366</a:t>
            </a:r>
            <a:endParaRPr lang="en-US" sz="2400" dirty="0"/>
          </a:p>
        </p:txBody>
      </p:sp>
      <p:sp>
        <p:nvSpPr>
          <p:cNvPr id="8" name="Text 3"/>
          <p:cNvSpPr txBox="1"/>
          <p:nvPr/>
        </p:nvSpPr>
        <p:spPr>
          <a:xfrm>
            <a:off x="6949440" y="731520"/>
            <a:ext cx="4572000" cy="457200"/>
          </a:xfrm>
          <a:prstGeom prst="rect">
            <a:avLst/>
          </a:prstGeom>
          <a:noFill/>
          <a:ln/>
        </p:spPr>
        <p:txBody>
          <a:bodyPr wrap="square" lIns="0" tIns="0" rIns="0" bIns="0" rtlCol="0" anchor="ctr"/>
          <a:lstStyle/>
          <a:p>
            <a:pPr indent="0" marL="0">
              <a:buNone/>
            </a:pPr>
            <a:r>
              <a:rPr lang="en-US" sz="1600" b="1" dirty="0">
                <a:solidFill>
                  <a:schemeClr val="accent3"/>
                </a:solidFill>
              </a:rPr>
              <a:t>참고 자료</a:t>
            </a:r>
            <a:endParaRPr lang="en-US" sz="1600" dirty="0"/>
          </a:p>
        </p:txBody>
      </p:sp>
      <p:sp>
        <p:nvSpPr>
          <p:cNvPr id="9" name="Text 4"/>
          <p:cNvSpPr txBox="1"/>
          <p:nvPr/>
        </p:nvSpPr>
        <p:spPr>
          <a:xfrm>
            <a:off x="6949440" y="1234440"/>
            <a:ext cx="4663440" cy="4937760"/>
          </a:xfrm>
          <a:prstGeom prst="rect">
            <a:avLst/>
          </a:prstGeom>
          <a:noFill/>
          <a:ln/>
        </p:spPr>
        <p:txBody>
          <a:bodyPr wrap="square" rtlCol="0" anchor="t"/>
          <a:lstStyle/>
          <a:p>
            <a:pPr marL="342900" indent="-342900">
              <a:spcAft>
                <a:spcPts val="400"/>
              </a:spcAft>
              <a:buSzPct val="100000"/>
              <a:buChar char="•"/>
            </a:pPr>
            <a:r>
              <a:rPr lang="en-US" sz="1100" dirty="0">
                <a:solidFill>
                  <a:schemeClr val="bg1"/>
                </a:solidFill>
              </a:rPr>
              <a:t>경찰청 교제폭력·스토킹 통계(국회 행안위 박정현 의원실, 2026)</a:t>
            </a:r>
            <a:endParaRPr lang="en-US" sz="1100" dirty="0"/>
          </a:p>
          <a:p>
            <a:pPr marL="342900" indent="-342900">
              <a:spcAft>
                <a:spcPts val="400"/>
              </a:spcAft>
              <a:buSzPct val="100000"/>
              <a:buChar char="•"/>
            </a:pPr>
            <a:r>
              <a:rPr lang="en-US" sz="1100" dirty="0">
                <a:solidFill>
                  <a:schemeClr val="bg1"/>
                </a:solidFill>
              </a:rPr>
              <a:t>성평등가족부 「2025 성폭력 안전실태조사」, 「2025 가정폭력 실태조사」</a:t>
            </a:r>
            <a:endParaRPr lang="en-US" sz="1100" dirty="0"/>
          </a:p>
          <a:p>
            <a:pPr marL="342900" indent="-342900">
              <a:spcAft>
                <a:spcPts val="400"/>
              </a:spcAft>
              <a:buSzPct val="100000"/>
              <a:buChar char="•"/>
            </a:pPr>
            <a:r>
              <a:rPr lang="en-US" sz="1100" dirty="0">
                <a:solidFill>
                  <a:schemeClr val="bg1"/>
                </a:solidFill>
              </a:rPr>
              <a:t>여성가족부 「2024 디지털성범죄 피해지원 보고서」</a:t>
            </a:r>
            <a:endParaRPr lang="en-US" sz="1100" dirty="0"/>
          </a:p>
          <a:p>
            <a:pPr marL="342900" indent="-342900">
              <a:spcAft>
                <a:spcPts val="400"/>
              </a:spcAft>
              <a:buSzPct val="100000"/>
              <a:buChar char="•"/>
            </a:pPr>
            <a:r>
              <a:rPr lang="en-US" sz="1100" dirty="0">
                <a:solidFill>
                  <a:schemeClr val="bg1"/>
                </a:solidFill>
              </a:rPr>
              <a:t>한국여성의전화 「2024 분노의 게이지」</a:t>
            </a:r>
            <a:endParaRPr lang="en-US" sz="1100" dirty="0"/>
          </a:p>
          <a:p>
            <a:pPr marL="342900" indent="-342900">
              <a:spcAft>
                <a:spcPts val="400"/>
              </a:spcAft>
              <a:buSzPct val="100000"/>
              <a:buChar char="•"/>
            </a:pPr>
            <a:r>
              <a:rPr lang="en-US" sz="1100" dirty="0">
                <a:solidFill>
                  <a:schemeClr val="bg1"/>
                </a:solidFill>
              </a:rPr>
              <a:t>경찰청 국가수사본부 딥페이크 집중단속 결과(2025.11)</a:t>
            </a:r>
            <a:endParaRPr lang="en-US" sz="1100" dirty="0"/>
          </a:p>
          <a:p>
            <a:pPr marL="342900" indent="-342900">
              <a:spcAft>
                <a:spcPts val="400"/>
              </a:spcAft>
              <a:buSzPct val="100000"/>
              <a:buChar char="•"/>
            </a:pPr>
            <a:r>
              <a:rPr lang="en-US" sz="1100" dirty="0">
                <a:solidFill>
                  <a:schemeClr val="bg1"/>
                </a:solidFill>
              </a:rPr>
              <a:t>국회입법조사처 교제폭력 현장 종결 분석</a:t>
            </a:r>
            <a:endParaRPr lang="en-US" sz="1100" dirty="0"/>
          </a:p>
          <a:p>
            <a:pPr marL="342900" indent="-342900">
              <a:spcAft>
                <a:spcPts val="400"/>
              </a:spcAft>
              <a:buSzPct val="100000"/>
              <a:buChar char="•"/>
            </a:pPr>
            <a:r>
              <a:rPr lang="en-US" sz="1100" dirty="0">
                <a:solidFill>
                  <a:schemeClr val="bg1"/>
                </a:solidFill>
              </a:rPr>
              <a:t>WHO(2002) World report on violence and health</a:t>
            </a:r>
            <a:endParaRPr lang="en-US" sz="1100" dirty="0"/>
          </a:p>
          <a:p>
            <a:pPr marL="342900" indent="-342900">
              <a:spcAft>
                <a:spcPts val="400"/>
              </a:spcAft>
              <a:buSzPct val="100000"/>
              <a:buChar char="•"/>
            </a:pPr>
            <a:r>
              <a:rPr lang="en-US" sz="1100" dirty="0">
                <a:solidFill>
                  <a:schemeClr val="bg1"/>
                </a:solidFill>
              </a:rPr>
              <a:t>Stark, E.(2007) Coercive Control</a:t>
            </a:r>
            <a:endParaRPr lang="en-US" sz="1100" dirty="0"/>
          </a:p>
          <a:p>
            <a:pPr marL="342900" indent="-342900">
              <a:spcAft>
                <a:spcPts val="400"/>
              </a:spcAft>
              <a:buSzPct val="100000"/>
              <a:buChar char="•"/>
            </a:pPr>
            <a:r>
              <a:rPr lang="en-US" sz="1100" dirty="0">
                <a:solidFill>
                  <a:schemeClr val="bg1"/>
                </a:solidFill>
              </a:rPr>
              <a:t>Walker, L. E.(1979) The Battered Woman</a:t>
            </a:r>
            <a:endParaRPr lang="en-US" sz="1100" dirty="0"/>
          </a:p>
          <a:p>
            <a:pPr marL="342900" indent="-342900">
              <a:spcAft>
                <a:spcPts val="400"/>
              </a:spcAft>
              <a:buSzPct val="100000"/>
              <a:buChar char="•"/>
            </a:pPr>
            <a:r>
              <a:rPr lang="en-US" sz="1100" dirty="0">
                <a:solidFill>
                  <a:schemeClr val="bg1"/>
                </a:solidFill>
              </a:rPr>
              <a:t>DAIP Power and Control Wheel(Duluth)</a:t>
            </a:r>
            <a:endParaRPr lang="en-US" sz="1100" dirty="0"/>
          </a:p>
          <a:p>
            <a:pPr marL="342900" indent="-342900">
              <a:spcAft>
                <a:spcPts val="400"/>
              </a:spcAft>
              <a:buSzPct val="100000"/>
              <a:buChar char="•"/>
            </a:pPr>
            <a:r>
              <a:rPr lang="en-US" sz="1100" dirty="0">
                <a:solidFill>
                  <a:schemeClr val="bg1"/>
                </a:solidFill>
              </a:rPr>
              <a:t>형법, 청소년성보호법, 성폭력처벌법, 스토킹처벌법, 학교폭력예방법</a:t>
            </a:r>
            <a:endParaRPr lang="en-US" sz="1100" dirty="0"/>
          </a:p>
        </p:txBody>
      </p:sp>
      <p:sp>
        <p:nvSpPr>
          <p:cNvPr id="25" name="Slide Number Placeholder 0"/>
          <p:cNvSpPr>
            <a:spLocks noGrp="1"/>
          </p:cNvSpPr>
          <p:nvPr>
            <p:ph type="sldNum" sz="quarter" idx="4294967295"/>
          </p:nvPr>
        </p:nvSpPr>
        <p:spPr>
          <a:xfrm>
            <a:off x="11247120"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Promise">
  <a:themeElements>
    <a:clrScheme name="Promise">
      <a:dk1>
        <a:srgbClr val="2B1B2E"/>
      </a:dk1>
      <a:lt1>
        <a:srgbClr val="FFFFFF"/>
      </a:lt1>
      <a:dk2>
        <a:srgbClr val="4A1D3F"/>
      </a:dk2>
      <a:lt2>
        <a:srgbClr val="F6EEF3"/>
      </a:lt2>
      <a:accent1>
        <a:srgbClr val="E8505B"/>
      </a:accent1>
      <a:accent2>
        <a:srgbClr val="4A1D3F"/>
      </a:accent2>
      <a:accent3>
        <a:srgbClr val="B98AA8"/>
      </a:accent3>
      <a:accent4>
        <a:srgbClr val="F2A541"/>
      </a:accent4>
      <a:accent5>
        <a:srgbClr val="3E8E7E"/>
      </a:accent5>
      <a:accent6>
        <a:srgbClr val="7A6C80"/>
      </a:accent6>
      <a:hlink>
        <a:srgbClr val="E8505B"/>
      </a:hlink>
      <a:folHlink>
        <a:srgbClr val="B98AA8"/>
      </a:folHlink>
    </a:clrScheme>
    <a:fontScheme name="Promis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데이트(교제)폭력과 약속</dc:title>
  <dc:subject>중·고등학생 대상 성폭력·교제폭력 예방교육</dc:subject>
  <dc:creator>PptxGenJS</dc:creator>
  <cp:lastModifiedBy>PptxGenJS</cp:lastModifiedBy>
  <cp:revision>1</cp:revision>
  <dcterms:created xsi:type="dcterms:W3CDTF">2026-10-25T23:48:15Z</dcterms:created>
  <dcterms:modified xsi:type="dcterms:W3CDTF">2026-10-25T23:48:15Z</dcterms:modified>
</cp:coreProperties>
</file>