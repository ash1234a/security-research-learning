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afed3445-f2ec-e611-85e6-28feb1bdcc41}">
          <p14:sldIdLst>
            <p14:sldId id="256"/>
          </p14:sldIdLst>
        </p14:section>
        <p14:section name="목차" id="{70effdf3-4e93-e437-88b5-db4b80b2a70a}">
          <p14:sldIdLst>
            <p14:sldId id="257"/>
          </p14:sldIdLst>
        </p14:section>
        <p14:section name="1. 목적·정의·필요성" id="{179468a8-5108-dc17-fc35-ae5f79cc08ed}">
          <p14:sldIdLst>
            <p14:sldId id="258"/>
            <p14:sldId id="259"/>
            <p14:sldId id="260"/>
          </p14:sldIdLst>
        </p14:section>
        <p14:section name="2. 늘어나는 이유" id="{48101b62-3655-855e-51ed-35ebabb9429b}">
          <p14:sldIdLst>
            <p14:sldId id="261"/>
            <p14:sldId id="262"/>
          </p14:sldIdLst>
        </p14:section>
        <p14:section name="3. 폭력 유형" id="{796ff749-b766-108c-f7ba-694b988f229e}">
          <p14:sldIdLst>
            <p14:sldId id="263"/>
            <p14:sldId id="264"/>
            <p14:sldId id="265"/>
          </p14:sldIdLst>
        </p14:section>
        <p14:section name="4. 대처·예방·신고" id="{38bf563d-9122-89ac-5c67-00653373044d}">
          <p14:sldIdLst>
            <p14:sldId id="266"/>
            <p14:sldId id="267"/>
            <p14:sldId id="268"/>
            <p14:sldId id="269"/>
          </p14:sldIdLst>
        </p14:section>
        <p14:section name="5. 노력과 다짐" id="{768cbb0b-6d26-2992-9fb7-f0c259ad93f0}">
          <p14:sldIdLst>
            <p14:sldId id="270"/>
            <p14:sldId id="271"/>
            <p14:sldId id="272"/>
          </p14:sldIdLst>
        </p14:section>
        <p14:section name="6. 참고 영상" id="{0fb3e872-8e91-0518-be3e-709efecc5c96}">
          <p14:sldIdLst>
            <p14:sldId id="273"/>
            <p14:sldId id="274"/>
          </p14:sldIdLst>
        </p14:section>
        <p14:section name="7. 내가 강사라면" id="{1a6f87c2-9ba6-0420-84f6-be87e27cc1a0}">
          <p14:sldIdLst>
            <p14:sldId id="275"/>
            <p14:sldId id="276"/>
          </p14:sldIdLst>
        </p14:section>
        <p14:section name="마무리" id="{cc3cf168-8d8a-9737-eeba-254ad7fcf120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4A1D3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4A1D3F"/>
                </a:solidFill>
                <a:latin typeface="+mn-lt"/>
              </a:rPr>
              <a:t>교제폭력 112 신고 건수 (경찰청)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신고 건수</c:v>
                </c:pt>
              </c:strCache>
            </c:strRef>
          </c:tx>
          <c:spPr>
            <a:solidFill>
              <a:srgbClr val="E850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B1B2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2022년</c:v>
                  </c:pt>
                  <c:pt idx="1">
                    <c:v>2023년</c:v>
                  </c:pt>
                  <c:pt idx="2">
                    <c:v>2024년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70790</c:v>
                </c:pt>
                <c:pt idx="1">
                  <c:v>77150</c:v>
                </c:pt>
                <c:pt idx="2">
                  <c:v>88394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B1B2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7A6C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6C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데이트(교제)폭력과 약속 · 성폭력예방교육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omi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229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데이트(교제)폭력과 약속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4747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3"/>
                </a:solidFill>
              </a:rPr>
              <a:t>성폭력예방교육 · 존중으로 지키는 관계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669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발표자: ____________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오늘 함께 이야기할 내용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554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554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성폭력예방교육의 목적·정의·필요성</a:t>
            </a:r>
            <a:endParaRPr lang="en-US" sz="1800" dirty="0"/>
          </a:p>
        </p:txBody>
      </p:sp>
      <p:sp>
        <p:nvSpPr>
          <p:cNvPr id="6" name="Card"/>
          <p:cNvSpPr/>
          <p:nvPr/>
        </p:nvSpPr>
        <p:spPr>
          <a:xfrm>
            <a:off x="548640" y="2697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97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97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데이트(교제)폭력이 늘어나는 이유</a:t>
            </a:r>
            <a:endParaRPr lang="en-US" sz="1800" dirty="0"/>
          </a:p>
        </p:txBody>
      </p:sp>
      <p:sp>
        <p:nvSpPr>
          <p:cNvPr id="9" name="Card"/>
          <p:cNvSpPr/>
          <p:nvPr/>
        </p:nvSpPr>
        <p:spPr>
          <a:xfrm>
            <a:off x="548640" y="3840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840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840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데이트폭력의 유형</a:t>
            </a:r>
            <a:endParaRPr lang="en-US" sz="1800" dirty="0"/>
          </a:p>
        </p:txBody>
      </p:sp>
      <p:sp>
        <p:nvSpPr>
          <p:cNvPr id="12" name="Card"/>
          <p:cNvSpPr/>
          <p:nvPr/>
        </p:nvSpPr>
        <p:spPr>
          <a:xfrm>
            <a:off x="548640" y="4983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983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4983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대처·예방 방법과 신고</a:t>
            </a:r>
            <a:endParaRPr lang="en-US" sz="1800" dirty="0"/>
          </a:p>
        </p:txBody>
      </p:sp>
      <p:sp>
        <p:nvSpPr>
          <p:cNvPr id="15" name="Card"/>
          <p:cNvSpPr/>
          <p:nvPr/>
        </p:nvSpPr>
        <p:spPr>
          <a:xfrm>
            <a:off x="6217920" y="1554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46520" y="1554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1554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아름다운 이성교제를 위한 노력과 다짐</a:t>
            </a:r>
            <a:endParaRPr lang="en-US" sz="1800" dirty="0"/>
          </a:p>
        </p:txBody>
      </p:sp>
      <p:sp>
        <p:nvSpPr>
          <p:cNvPr id="18" name="Card"/>
          <p:cNvSpPr/>
          <p:nvPr/>
        </p:nvSpPr>
        <p:spPr>
          <a:xfrm>
            <a:off x="6217920" y="2697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46520" y="2697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2697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참고 영상</a:t>
            </a:r>
            <a:endParaRPr lang="en-US" sz="1800" dirty="0"/>
          </a:p>
        </p:txBody>
      </p:sp>
      <p:sp>
        <p:nvSpPr>
          <p:cNvPr id="21" name="Card"/>
          <p:cNvSpPr/>
          <p:nvPr/>
        </p:nvSpPr>
        <p:spPr>
          <a:xfrm>
            <a:off x="6217920" y="3840480"/>
            <a:ext cx="5394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46520" y="384048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07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38404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내가 성폭력 예방강사라면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731520" y="1280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01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성폭력예방교육의 목적·정의·필요성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왜 우리는 이 교육을 받아야 할까요?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성폭력예방교육의 목적과 정의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4" name="Icon circle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3389" y="1967789"/>
            <a:ext cx="362102" cy="3621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7373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교육의 목적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43200"/>
            <a:ext cx="49377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성폭력이 무엇인지 정확히 알고 가해·피해를 예방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상대의 몸과 마음, 결정을 존중하는 태도 기르기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피해가 생겼을 때 대처·신고·도움 요청 방법 익히기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법적 근거: 「성폭력방지 및 피해자보호 등에 관한 법률」 제5조 — 학교·공공기관 등은 매년 예방교육을 실시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17920" y="146304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9224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성폭력이란?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1031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상대방의 동의 없이 성적인 말·행동을 하거나 강요하여 신체적·정신적 피해를 주는 모든 행위 (성희롱, 성추행, 강간, 디지털 성범죄 등 포함)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217920" y="388620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92240" y="40233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데이트(교제)폭력이란?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452628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사귀는 사이 또는 사귀었던 사이에서 상대를 통제하고 상처 주는 신체적·정서적·언어적·성적·경제적 폭력과 스토킹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왜 지금 이 교육이 필요할까요?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55448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Icon circle"/>
          <p:cNvSpPr/>
          <p:nvPr/>
        </p:nvSpPr>
        <p:spPr>
          <a:xfrm>
            <a:off x="1828800" y="18288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832" y="208483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926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친밀해서 더 보이지 않아요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84048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‘사랑해서 그래’라는 말로 폭력이 포장되어 피해자도 폭력인지 알아차리기 어렵습니다.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297680" y="155448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Icon circle"/>
          <p:cNvSpPr/>
          <p:nvPr/>
        </p:nvSpPr>
        <p:spPr>
          <a:xfrm>
            <a:off x="5577840" y="18288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872" y="2084832"/>
            <a:ext cx="402336" cy="4023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926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점점 심해지는 특징이 있어요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384048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집착·통제로 시작해 폭언, 폭행, 스토킹, 심하면 교제살인까지 이어질 수 있습니다.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8046720" y="155448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Icon circle"/>
          <p:cNvSpPr/>
          <p:nvPr/>
        </p:nvSpPr>
        <p:spPr>
          <a:xfrm>
            <a:off x="9326880" y="18288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2912" y="2084832"/>
            <a:ext cx="402336" cy="40233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926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누구나 겪을 수 있어요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84048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나이·성별과 상관없이 일어나며 청소년·청년 시기의 첫 연애에서도 많이 발생합니다.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731520" y="1280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02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요즘 데이트(교제)폭력이 늘어나는 이유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숫자로 보는 현실과 그 배경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교제폭력 신고, 3년 연속 늘었습니다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8521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하루 평균 약 242건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766560" y="13716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늘어나는 이유</a:t>
            </a:r>
            <a:endParaRPr lang="en-US" sz="2000" dirty="0"/>
          </a:p>
        </p:txBody>
      </p:sp>
      <p:sp>
        <p:nvSpPr>
          <p:cNvPr id="6" name="Card"/>
          <p:cNvSpPr/>
          <p:nvPr/>
        </p:nvSpPr>
        <p:spPr>
          <a:xfrm>
            <a:off x="6766560" y="1965960"/>
            <a:ext cx="48463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949440" y="20391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SNS·스마트폰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24048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위치 확인, 메시지 감시 등 24시간 통제가 쉬워짐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766560" y="2990088"/>
            <a:ext cx="48463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49440" y="3063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잘못된 연애 인식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949440" y="34290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질투·집착을 ‘사랑’으로 착각하는 문화와 미디어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6766560" y="4014216"/>
            <a:ext cx="48463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949440" y="40873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갈등 해결 능력 부족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4453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분노 조절과 대화로 풀어가는 연습의 부족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766560" y="5038344"/>
            <a:ext cx="484632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949440" y="511149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신고 인식 향상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547725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‘개인 문제’가 아닌 범죄라는 인식이 생겨 신고 증가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6035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출처: 경찰청 집계(세계일보 2025.8.29 보도 인용)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731520" y="1280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데이트폭력 유형에는 어떤 것들이 있을까?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눈에 보이는 폭력부터 보이지 않는 폭력까지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데이트폭력의 6가지 유형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Icon circle"/>
          <p:cNvSpPr/>
          <p:nvPr/>
        </p:nvSpPr>
        <p:spPr>
          <a:xfrm>
            <a:off x="822960" y="173736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587" y="1954987"/>
            <a:ext cx="341986" cy="34198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신체적 폭력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때리기, 밀치기, 물건 던지기, 못 가게 붙잡기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9" name="Icon circle"/>
          <p:cNvSpPr/>
          <p:nvPr/>
        </p:nvSpPr>
        <p:spPr>
          <a:xfrm>
            <a:off x="4572000" y="173736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627" y="1954987"/>
            <a:ext cx="341986" cy="34198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언어·정서적 폭력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6517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욕설, 비하, 무시, 위협, ‘헤어지면 죽겠다’는 협박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04672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4" name="Icon circle"/>
          <p:cNvSpPr/>
          <p:nvPr/>
        </p:nvSpPr>
        <p:spPr>
          <a:xfrm>
            <a:off x="8321040" y="173736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8667" y="1954987"/>
            <a:ext cx="341986" cy="34198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35440" y="17373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성적 폭력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6517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원치 않는 스킨십·성관계 강요, 피임 거부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54864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9" name="Icon circle"/>
          <p:cNvSpPr/>
          <p:nvPr/>
        </p:nvSpPr>
        <p:spPr>
          <a:xfrm>
            <a:off x="822960" y="411480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" y="4332427"/>
            <a:ext cx="341986" cy="34198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37360" y="4114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통제·감시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292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휴대폰 검사, 위치 공유 강요, 친구·옷차림 간섭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429768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4" name="Icon circle"/>
          <p:cNvSpPr/>
          <p:nvPr/>
        </p:nvSpPr>
        <p:spPr>
          <a:xfrm>
            <a:off x="4572000" y="411480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9627" y="4332427"/>
            <a:ext cx="341986" cy="34198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86400" y="4114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경제적 폭력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292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돈 빌리고 안 갚기, 비용 전가, 선물 강요</a:t>
            </a:r>
            <a:endParaRPr lang="en-US" sz="1400" dirty="0"/>
          </a:p>
        </p:txBody>
      </p:sp>
      <p:sp>
        <p:nvSpPr>
          <p:cNvPr id="28" name="Card"/>
          <p:cNvSpPr/>
          <p:nvPr/>
        </p:nvSpPr>
        <p:spPr>
          <a:xfrm>
            <a:off x="804672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9" name="Icon circle"/>
          <p:cNvSpPr/>
          <p:nvPr/>
        </p:nvSpPr>
        <p:spPr>
          <a:xfrm>
            <a:off x="8321040" y="4114800"/>
            <a:ext cx="777240" cy="7772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8667" y="4332427"/>
            <a:ext cx="341986" cy="34198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235440" y="41148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디지털·스토킹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292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사진 유포 협박, 몰래 촬영, 계속 연락·찾아오기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약속과 신뢰를 깨뜨리는 말과 행동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6035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pic>
        <p:nvPicPr>
          <p:cNvPr id="4" name="Quot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19072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4630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“너 때문에 내가 이러는 거잖아.”</a:t>
            </a:r>
            <a:endParaRPr lang="en-US" sz="1700" dirty="0"/>
          </a:p>
        </p:txBody>
      </p:sp>
      <p:sp>
        <p:nvSpPr>
          <p:cNvPr id="6" name="Card"/>
          <p:cNvSpPr/>
          <p:nvPr/>
        </p:nvSpPr>
        <p:spPr>
          <a:xfrm>
            <a:off x="548640" y="2578608"/>
            <a:ext cx="6035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pic>
        <p:nvPicPr>
          <p:cNvPr id="7" name="Quot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34640"/>
            <a:ext cx="411480" cy="411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57860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“비밀번호 알려줘. 숨길 거 없으면.”</a:t>
            </a:r>
            <a:endParaRPr lang="en-US" sz="1700" dirty="0"/>
          </a:p>
        </p:txBody>
      </p:sp>
      <p:sp>
        <p:nvSpPr>
          <p:cNvPr id="9" name="Card"/>
          <p:cNvSpPr/>
          <p:nvPr/>
        </p:nvSpPr>
        <p:spPr>
          <a:xfrm>
            <a:off x="548640" y="3694176"/>
            <a:ext cx="6035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pic>
        <p:nvPicPr>
          <p:cNvPr id="10" name="Quot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8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694176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“걔랑 연락하지 마. 나만 보면 되잖아.”</a:t>
            </a:r>
            <a:endParaRPr lang="en-US" sz="1700" dirty="0"/>
          </a:p>
        </p:txBody>
      </p:sp>
      <p:sp>
        <p:nvSpPr>
          <p:cNvPr id="12" name="Card"/>
          <p:cNvSpPr/>
          <p:nvPr/>
        </p:nvSpPr>
        <p:spPr>
          <a:xfrm>
            <a:off x="548640" y="4809744"/>
            <a:ext cx="60350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pic>
        <p:nvPicPr>
          <p:cNvPr id="13" name="Quote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065776"/>
            <a:ext cx="411480" cy="4114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80974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“헤어지자고 하면 사진 다 올릴 거야.”</a:t>
            </a:r>
            <a:endParaRPr lang="en-US" sz="1700" dirty="0"/>
          </a:p>
        </p:txBody>
      </p:sp>
      <p:sp>
        <p:nvSpPr>
          <p:cNvPr id="15" name="Card"/>
          <p:cNvSpPr/>
          <p:nvPr/>
        </p:nvSpPr>
        <p:spPr>
          <a:xfrm>
            <a:off x="6949440" y="1463040"/>
            <a:ext cx="4663440" cy="4261104"/>
          </a:xfrm>
          <a:prstGeom prst="roundRect">
            <a:avLst>
              <a:gd name="adj" fmla="val 2575"/>
            </a:avLst>
          </a:prstGeom>
          <a:solidFill>
            <a:schemeClr val="tx2"/>
          </a:solidFill>
          <a:ln/>
        </p:spPr>
      </p:sp>
      <p:sp>
        <p:nvSpPr>
          <p:cNvPr id="16" name="Text 10"/>
          <p:cNvSpPr txBox="1"/>
          <p:nvPr/>
        </p:nvSpPr>
        <p:spPr>
          <a:xfrm>
            <a:off x="7223760" y="16916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이런 행동도 신뢰를 깨요</a:t>
            </a:r>
            <a:endParaRPr lang="en-US" sz="1900" dirty="0"/>
          </a:p>
        </p:txBody>
      </p:sp>
      <p:sp>
        <p:nvSpPr>
          <p:cNvPr id="17" name="Text 11"/>
          <p:cNvSpPr txBox="1"/>
          <p:nvPr/>
        </p:nvSpPr>
        <p:spPr>
          <a:xfrm>
            <a:off x="7223760" y="2286000"/>
            <a:ext cx="4206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약속을 반복해서 어기고 사과 없이 넘기기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거짓말, 몰래 휴대폰 보기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“다시는 안 그럴게” 후 같은 폭력 반복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둘만의 비밀·사진을 다른 사람에게 공유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상대의 ‘싫어’를 장난으로 무시하기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사랑한다는 말 뒤에 숨은 ‘통제’도 폭력입니다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731520" y="1280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04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데이트폭력 대처방법, 예방법, 그리고 신고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혼자 참지 말고, 도움을 요청하세요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폭력이 일어났다면 이렇게 대처해요</a:t>
            </a:r>
            <a:endParaRPr lang="en-US" sz="3200" dirty="0"/>
          </a:p>
        </p:txBody>
      </p:sp>
      <p:sp>
        <p:nvSpPr>
          <p:cNvPr id="3" name="Step circle"/>
          <p:cNvSpPr/>
          <p:nvPr/>
        </p:nvSpPr>
        <p:spPr>
          <a:xfrm>
            <a:off x="1463040" y="16459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6304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Step connector"/>
          <p:cNvSpPr/>
          <p:nvPr/>
        </p:nvSpPr>
        <p:spPr>
          <a:xfrm>
            <a:off x="2423160" y="2057400"/>
            <a:ext cx="25603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dash"/>
          </a:ln>
        </p:spPr>
      </p:sp>
      <p:sp>
        <p:nvSpPr>
          <p:cNvPr id="6" name="Card"/>
          <p:cNvSpPr/>
          <p:nvPr/>
        </p:nvSpPr>
        <p:spPr>
          <a:xfrm>
            <a:off x="548640" y="274320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안전 확보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204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위험한 장소를 벗어나고, 사람이 많은 곳으로 이동해요</a:t>
            </a:r>
            <a:endParaRPr lang="en-US" sz="1500" dirty="0"/>
          </a:p>
        </p:txBody>
      </p:sp>
      <p:sp>
        <p:nvSpPr>
          <p:cNvPr id="9" name="Step circle"/>
          <p:cNvSpPr/>
          <p:nvPr/>
        </p:nvSpPr>
        <p:spPr>
          <a:xfrm>
            <a:off x="4297680" y="16459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29768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</a:t>
            </a:r>
            <a:endParaRPr lang="en-US" sz="2600" dirty="0"/>
          </a:p>
        </p:txBody>
      </p:sp>
      <p:sp>
        <p:nvSpPr>
          <p:cNvPr id="11" name="Step connector"/>
          <p:cNvSpPr/>
          <p:nvPr/>
        </p:nvSpPr>
        <p:spPr>
          <a:xfrm>
            <a:off x="5257800" y="2057400"/>
            <a:ext cx="25603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dash"/>
          </a:ln>
        </p:spPr>
      </p:sp>
      <p:sp>
        <p:nvSpPr>
          <p:cNvPr id="12" name="Card"/>
          <p:cNvSpPr/>
          <p:nvPr/>
        </p:nvSpPr>
        <p:spPr>
          <a:xfrm>
            <a:off x="3383280" y="274320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6616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증거 남기기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5204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메시지·통화 캡처, 진단서, 상처 사진, 날짜별 기록</a:t>
            </a:r>
            <a:endParaRPr lang="en-US" sz="1500" dirty="0"/>
          </a:p>
        </p:txBody>
      </p:sp>
      <p:sp>
        <p:nvSpPr>
          <p:cNvPr id="15" name="Step circle"/>
          <p:cNvSpPr/>
          <p:nvPr/>
        </p:nvSpPr>
        <p:spPr>
          <a:xfrm>
            <a:off x="7132320" y="16459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3</a:t>
            </a:r>
            <a:endParaRPr lang="en-US" sz="2600" dirty="0"/>
          </a:p>
        </p:txBody>
      </p:sp>
      <p:sp>
        <p:nvSpPr>
          <p:cNvPr id="17" name="Step connector"/>
          <p:cNvSpPr/>
          <p:nvPr/>
        </p:nvSpPr>
        <p:spPr>
          <a:xfrm>
            <a:off x="8092440" y="2057400"/>
            <a:ext cx="25603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dash"/>
          </a:ln>
        </p:spPr>
      </p:sp>
      <p:sp>
        <p:nvSpPr>
          <p:cNvPr id="18" name="Card"/>
          <p:cNvSpPr/>
          <p:nvPr/>
        </p:nvSpPr>
        <p:spPr>
          <a:xfrm>
            <a:off x="6217920" y="274320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주변에 알리기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35204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부모님·선생님·친구 등 믿을 수 있는 사람에게 말해요</a:t>
            </a:r>
            <a:endParaRPr lang="en-US" sz="1500" dirty="0"/>
          </a:p>
        </p:txBody>
      </p:sp>
      <p:sp>
        <p:nvSpPr>
          <p:cNvPr id="21" name="Step circle"/>
          <p:cNvSpPr/>
          <p:nvPr/>
        </p:nvSpPr>
        <p:spPr>
          <a:xfrm>
            <a:off x="9966960" y="164592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96696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4</a:t>
            </a:r>
            <a:endParaRPr lang="en-US" sz="2600" dirty="0"/>
          </a:p>
        </p:txBody>
      </p:sp>
      <p:sp>
        <p:nvSpPr>
          <p:cNvPr id="23" name="Card"/>
          <p:cNvSpPr/>
          <p:nvPr/>
        </p:nvSpPr>
        <p:spPr>
          <a:xfrm>
            <a:off x="9052560" y="2743200"/>
            <a:ext cx="26517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23544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신고·상담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35204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112 신고, 1366 상담으로 보호조치를 받아요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“내 잘못이 아니다” — 폭력의 책임은 언제나 가해자에게 있습니다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예방하려면: 경고 신호를 알아차려요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56692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이런 신호가 있다면 주의!</a:t>
            </a:r>
            <a:endParaRPr lang="en-US" sz="1900" dirty="0"/>
          </a:p>
        </p:txBody>
      </p:sp>
      <p:sp>
        <p:nvSpPr>
          <p:cNvPr id="5" name="Checkbox"/>
          <p:cNvSpPr/>
          <p:nvPr/>
        </p:nvSpPr>
        <p:spPr>
          <a:xfrm>
            <a:off x="822960" y="2377440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71600" y="22860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연락이 늦으면 화를 내거나 의심한다</a:t>
            </a:r>
            <a:endParaRPr lang="en-US" sz="1500" dirty="0"/>
          </a:p>
        </p:txBody>
      </p:sp>
      <p:sp>
        <p:nvSpPr>
          <p:cNvPr id="7" name="Checkbox"/>
          <p:cNvSpPr/>
          <p:nvPr/>
        </p:nvSpPr>
        <p:spPr>
          <a:xfrm>
            <a:off x="822960" y="3090672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71600" y="299923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친구를 못 만나게 하고 나만 보라고 한다</a:t>
            </a:r>
            <a:endParaRPr lang="en-US" sz="1500" dirty="0"/>
          </a:p>
        </p:txBody>
      </p:sp>
      <p:sp>
        <p:nvSpPr>
          <p:cNvPr id="9" name="Checkbox"/>
          <p:cNvSpPr/>
          <p:nvPr/>
        </p:nvSpPr>
        <p:spPr>
          <a:xfrm>
            <a:off x="822960" y="3803904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371246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옷차림·행동을 정해 준다</a:t>
            </a:r>
            <a:endParaRPr lang="en-US" sz="1500" dirty="0"/>
          </a:p>
        </p:txBody>
      </p:sp>
      <p:sp>
        <p:nvSpPr>
          <p:cNvPr id="11" name="Checkbox"/>
          <p:cNvSpPr/>
          <p:nvPr/>
        </p:nvSpPr>
        <p:spPr>
          <a:xfrm>
            <a:off x="822960" y="4517136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0" y="442569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화가 나면 물건을 던지거나 소리친다</a:t>
            </a:r>
            <a:endParaRPr lang="en-US" sz="1500" dirty="0"/>
          </a:p>
        </p:txBody>
      </p:sp>
      <p:sp>
        <p:nvSpPr>
          <p:cNvPr id="13" name="Checkbox"/>
          <p:cNvSpPr/>
          <p:nvPr/>
        </p:nvSpPr>
        <p:spPr>
          <a:xfrm>
            <a:off x="822960" y="5230368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71600" y="51389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싸운 뒤 지나치게 사과하고 또 반복한다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1463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건강한 관계를 위한 예방 습관</a:t>
            </a:r>
            <a:endParaRPr lang="en-US" sz="1900" dirty="0"/>
          </a:p>
        </p:txBody>
      </p:sp>
      <p:sp>
        <p:nvSpPr>
          <p:cNvPr id="16" name="Icon circle"/>
          <p:cNvSpPr/>
          <p:nvPr/>
        </p:nvSpPr>
        <p:spPr>
          <a:xfrm>
            <a:off x="6583680" y="2130552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4498" y="2271370"/>
            <a:ext cx="221285" cy="22128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269480" y="20574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‘싫어’는 싫다는 뜻 — 동의를 꼭 확인하기</a:t>
            </a:r>
            <a:endParaRPr lang="en-US" sz="1500" dirty="0"/>
          </a:p>
        </p:txBody>
      </p:sp>
      <p:sp>
        <p:nvSpPr>
          <p:cNvPr id="19" name="Icon circle"/>
          <p:cNvSpPr/>
          <p:nvPr/>
        </p:nvSpPr>
        <p:spPr>
          <a:xfrm>
            <a:off x="6583680" y="2916936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3057754"/>
            <a:ext cx="221285" cy="22128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269480" y="2843784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나의 경계를 미리 분명하게 말하기</a:t>
            </a:r>
            <a:endParaRPr lang="en-US" sz="1500" dirty="0"/>
          </a:p>
        </p:txBody>
      </p:sp>
      <p:sp>
        <p:nvSpPr>
          <p:cNvPr id="22" name="Icon circle"/>
          <p:cNvSpPr/>
          <p:nvPr/>
        </p:nvSpPr>
        <p:spPr>
          <a:xfrm>
            <a:off x="6583680" y="370332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3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4498" y="3844138"/>
            <a:ext cx="221285" cy="22128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269480" y="36301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친구·가족과의 관계를 유지하기</a:t>
            </a:r>
            <a:endParaRPr lang="en-US" sz="1500" dirty="0"/>
          </a:p>
        </p:txBody>
      </p:sp>
      <p:sp>
        <p:nvSpPr>
          <p:cNvPr id="25" name="Icon circle"/>
          <p:cNvSpPr/>
          <p:nvPr/>
        </p:nvSpPr>
        <p:spPr>
          <a:xfrm>
            <a:off x="6583680" y="448970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6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30522"/>
            <a:ext cx="221285" cy="22128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269480" y="4416552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만남·이별은 안전한 공개 장소에서</a:t>
            </a:r>
            <a:endParaRPr lang="en-US" sz="1500" dirty="0"/>
          </a:p>
        </p:txBody>
      </p:sp>
      <p:sp>
        <p:nvSpPr>
          <p:cNvPr id="28" name="Icon circle"/>
          <p:cNvSpPr/>
          <p:nvPr/>
        </p:nvSpPr>
        <p:spPr>
          <a:xfrm>
            <a:off x="6583680" y="5276088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9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4498" y="5416906"/>
            <a:ext cx="221285" cy="22128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269480" y="5202936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이상하다 싶으면 혼자 판단하지 말고 상담하기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도움이 필요할 때 연락하세요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112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경찰 긴급 신고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말하기 어려우면 문자 112도 가능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9768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1366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여성긴급전화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24시간 상담·보호시설 연계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146304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21040" y="1645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1388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청소년상담전화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청소년 고민·위기 상담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4864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023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1899-3075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46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해바라기센터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303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의료·상담·수사·법률 통합 지원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29768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0" y="4023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02-735-8994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846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디지털성범죄피해자지원센터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5303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불법촬영물 삭제 지원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8046720" y="3840480"/>
            <a:ext cx="34747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21040" y="4023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117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846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학교폭력 신고센터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5303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학생 간 교제폭력도 상담 가능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731520" y="1280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05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아름다운 이성교제를 위한 나의 노력과 다짐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존중은 약속에서 시작됩니다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건강한 관계를 위한 나의 노력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Keyword circle"/>
          <p:cNvSpPr/>
          <p:nvPr/>
        </p:nvSpPr>
        <p:spPr>
          <a:xfrm>
            <a:off x="868680" y="187452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874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존중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7373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상대의 생각·시간·친구 관계를 인정해요</a:t>
            </a:r>
            <a:endParaRPr lang="en-US" sz="1700" dirty="0"/>
          </a:p>
        </p:txBody>
      </p:sp>
      <p:sp>
        <p:nvSpPr>
          <p:cNvPr id="7" name="Card"/>
          <p:cNvSpPr/>
          <p:nvPr/>
        </p:nvSpPr>
        <p:spPr>
          <a:xfrm>
            <a:off x="6217920" y="1463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8" name="Keyword circle"/>
          <p:cNvSpPr/>
          <p:nvPr/>
        </p:nvSpPr>
        <p:spPr>
          <a:xfrm>
            <a:off x="6537960" y="187452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37960" y="1874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동의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8001000" y="17373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스킨십 전에 묻고, ‘싫어’를 존중해요</a:t>
            </a:r>
            <a:endParaRPr lang="en-US" sz="1700" dirty="0"/>
          </a:p>
        </p:txBody>
      </p:sp>
      <p:sp>
        <p:nvSpPr>
          <p:cNvPr id="11" name="Card"/>
          <p:cNvSpPr/>
          <p:nvPr/>
        </p:nvSpPr>
        <p:spPr>
          <a:xfrm>
            <a:off x="548640" y="3749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2" name="Keyword circle"/>
          <p:cNvSpPr/>
          <p:nvPr/>
        </p:nvSpPr>
        <p:spPr>
          <a:xfrm>
            <a:off x="868680" y="416052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4160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대화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2331720" y="40233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화가 나도 말로, 차분하게 풀어요</a:t>
            </a:r>
            <a:endParaRPr lang="en-US" sz="1700" dirty="0"/>
          </a:p>
        </p:txBody>
      </p:sp>
      <p:sp>
        <p:nvSpPr>
          <p:cNvPr id="15" name="Card"/>
          <p:cNvSpPr/>
          <p:nvPr/>
        </p:nvSpPr>
        <p:spPr>
          <a:xfrm>
            <a:off x="6217920" y="3749040"/>
            <a:ext cx="53949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6" name="Keyword circle"/>
          <p:cNvSpPr/>
          <p:nvPr/>
        </p:nvSpPr>
        <p:spPr>
          <a:xfrm>
            <a:off x="6537960" y="4160520"/>
            <a:ext cx="1188720" cy="11887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37960" y="41605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신뢰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40233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작은 약속부터 지키고, 거짓말하지 않아요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omi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914400" cy="914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나의 약속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182880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나는 사랑을 이유로 상대를 통제하거나 감시하지 않겠습니다.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578608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57860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나는 상대의 ‘싫어’를 존중하고, 동의 없는 행동을 하지 않겠습니다.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328416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3328416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나는 화가 나도 폭력이 아닌 대화로 갈등을 풀겠습니다.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078224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4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4078224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나는 이별을 받아들이고, 상대의 선택을 존중하겠습니다.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828032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5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4828032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나와 친구가 폭력을 겪으면 침묵하지 않고 도움을 요청하겠습니다.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217920" y="58064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다짐한 사람: ______________ (서명)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731520" y="1280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06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해당 참고 영상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영상으로 다시 보는 데이트폭력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함께 보면 좋은 참고 영상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46304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Video thumbnail"/>
          <p:cNvSpPr/>
          <p:nvPr/>
        </p:nvSpPr>
        <p:spPr>
          <a:xfrm>
            <a:off x="777240" y="1691640"/>
            <a:ext cx="301752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5" name="Icon circle"/>
          <p:cNvSpPr/>
          <p:nvPr/>
        </p:nvSpPr>
        <p:spPr>
          <a:xfrm>
            <a:off x="1920240" y="20574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5066" y="2262226"/>
            <a:ext cx="321869" cy="32186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서울시 데이트폭력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예방 숏폼 1편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114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대응의 첫걸음 — 폭력을 알아차리고 도움 요청하기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서울시 ‘찾아가는 폭력예방교육’ (2025)</a:t>
            </a:r>
            <a:endParaRPr lang="en-US" sz="1100" dirty="0"/>
          </a:p>
        </p:txBody>
      </p:sp>
      <p:sp>
        <p:nvSpPr>
          <p:cNvPr id="10" name="Card"/>
          <p:cNvSpPr/>
          <p:nvPr/>
        </p:nvSpPr>
        <p:spPr>
          <a:xfrm>
            <a:off x="4297680" y="146304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1" name="Video thumbnail"/>
          <p:cNvSpPr/>
          <p:nvPr/>
        </p:nvSpPr>
        <p:spPr>
          <a:xfrm>
            <a:off x="4526280" y="1691640"/>
            <a:ext cx="301752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12" name="Icon circle"/>
          <p:cNvSpPr/>
          <p:nvPr/>
        </p:nvSpPr>
        <p:spPr>
          <a:xfrm>
            <a:off x="5669280" y="20574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4106" y="2262226"/>
            <a:ext cx="321869" cy="32186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2628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서울시 데이트폭력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예방 숏폼 2편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4114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평등하고 안전한 관계를 위한 실천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52628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서울시 ‘찾아가는 폭력예방교육’ (2025)</a:t>
            </a:r>
            <a:endParaRPr lang="en-US" sz="1100" dirty="0"/>
          </a:p>
        </p:txBody>
      </p:sp>
      <p:sp>
        <p:nvSpPr>
          <p:cNvPr id="17" name="Card"/>
          <p:cNvSpPr/>
          <p:nvPr/>
        </p:nvSpPr>
        <p:spPr>
          <a:xfrm>
            <a:off x="8046720" y="146304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8" name="Video thumbnail"/>
          <p:cNvSpPr/>
          <p:nvPr/>
        </p:nvSpPr>
        <p:spPr>
          <a:xfrm>
            <a:off x="8275320" y="1691640"/>
            <a:ext cx="3017520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19" name="Icon circle"/>
          <p:cNvSpPr/>
          <p:nvPr/>
        </p:nvSpPr>
        <p:spPr>
          <a:xfrm>
            <a:off x="9418320" y="20574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3146" y="2262226"/>
            <a:ext cx="321869" cy="32186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2753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여성가족부 ‘희망그림’ 캠페인 – 데이트폭력 편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8275320" y="4114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데이트폭력은 가해자의 잘못이라는 메시지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827532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여성가족부 (2021)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※ 유튜브에서 제목으로 검색해 링크를 붙여 넣거나, 영상 썸네일 자리에 직접 삽입하세요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"/>
          <p:cNvSpPr txBox="1"/>
          <p:nvPr/>
        </p:nvSpPr>
        <p:spPr>
          <a:xfrm>
            <a:off x="731520" y="128016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</a:rPr>
              <a:t>07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만약 내가 성폭력 예방강사라면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학생들에게 꼭 전하고 싶은 이야기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학생들에게 꼭 알려주고 싶은 5가지</a:t>
            </a:r>
            <a:endParaRPr lang="en-US" sz="3200" dirty="0"/>
          </a:p>
        </p:txBody>
      </p:sp>
      <p:sp>
        <p:nvSpPr>
          <p:cNvPr id="3" name="Icon circle"/>
          <p:cNvSpPr/>
          <p:nvPr/>
        </p:nvSpPr>
        <p:spPr>
          <a:xfrm>
            <a:off x="548640" y="1554480"/>
            <a:ext cx="1280160" cy="12801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1912925"/>
            <a:ext cx="563270" cy="56327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01752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“사랑은 소유가 아니라 존중입니다”</a:t>
            </a:r>
            <a:endParaRPr lang="en-US" sz="2000" dirty="0"/>
          </a:p>
        </p:txBody>
      </p:sp>
      <p:sp>
        <p:nvSpPr>
          <p:cNvPr id="6" name="Card"/>
          <p:cNvSpPr/>
          <p:nvPr/>
        </p:nvSpPr>
        <p:spPr>
          <a:xfrm>
            <a:off x="4206240" y="1417320"/>
            <a:ext cx="740664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389120" y="1417320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4892040" y="1417320"/>
            <a:ext cx="2514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동의는 매번, 분명하게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1417320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침묵이나 망설임은 동의가 아닙니다. 언제든 마음을 바꿀 수 있어요.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4206240" y="2368296"/>
            <a:ext cx="740664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89120" y="2368296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4892040" y="2368296"/>
            <a:ext cx="2514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질투·집착 ≠ 사랑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2368296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휴대폰 검사, 연락 강요는 관심이 아니라 통제입니다.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4206240" y="3319272"/>
            <a:ext cx="740664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389120" y="3319272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4892040" y="3319272"/>
            <a:ext cx="2514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피해자의 잘못은 없다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452360" y="3319272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“왜 안 헤어졌어?”가 아니라 “괜찮아? 도와줄게”라고 말해 주세요.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270248"/>
            <a:ext cx="740664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389120" y="4270248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892040" y="4270248"/>
            <a:ext cx="2514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방관하지 않는 친구 되기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452360" y="4270248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친구의 이상한 연애를 보면 모른 척하지 말고 함께 어른에게 알려요.</a:t>
            </a:r>
            <a:endParaRPr lang="en-US" sz="1400" dirty="0"/>
          </a:p>
        </p:txBody>
      </p:sp>
      <p:sp>
        <p:nvSpPr>
          <p:cNvPr id="22" name="Card"/>
          <p:cNvSpPr/>
          <p:nvPr/>
        </p:nvSpPr>
        <p:spPr>
          <a:xfrm>
            <a:off x="4206240" y="5221224"/>
            <a:ext cx="740664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389120" y="5221224"/>
            <a:ext cx="457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5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4892040" y="5221224"/>
            <a:ext cx="2514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도움 요청은 용기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452360" y="5221224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112, 1366, 1388 — 혼자 해결하려 하지 않아도 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omi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8229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사랑은 통제가 아니라 존중입니다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4747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3"/>
                </a:solidFill>
              </a:rPr>
              <a:t>지켜진 약속이 건강한 관계를 만듭니다 — 감사합니다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도움이 필요하면  112 · 1366 · 1388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mise">
  <a:themeElements>
    <a:clrScheme name="Promise">
      <a:dk1>
        <a:srgbClr val="2B1B2E"/>
      </a:dk1>
      <a:lt1>
        <a:srgbClr val="FFFFFF"/>
      </a:lt1>
      <a:dk2>
        <a:srgbClr val="4A1D3F"/>
      </a:dk2>
      <a:lt2>
        <a:srgbClr val="F6EEF3"/>
      </a:lt2>
      <a:accent1>
        <a:srgbClr val="E8505B"/>
      </a:accent1>
      <a:accent2>
        <a:srgbClr val="4A1D3F"/>
      </a:accent2>
      <a:accent3>
        <a:srgbClr val="B98AA8"/>
      </a:accent3>
      <a:accent4>
        <a:srgbClr val="F2A541"/>
      </a:accent4>
      <a:accent5>
        <a:srgbClr val="3E8E7E"/>
      </a:accent5>
      <a:accent6>
        <a:srgbClr val="7A6C80"/>
      </a:accent6>
      <a:hlink>
        <a:srgbClr val="E8505B"/>
      </a:hlink>
      <a:folHlink>
        <a:srgbClr val="B98AA8"/>
      </a:folHlink>
    </a:clrScheme>
    <a:fontScheme name="Promis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데이트(교제)폭력과 약속</dc:title>
  <dc:subject>PptxGenJS Presentation</dc:subject>
  <dc:creator>PptxGenJS</dc:creator>
  <cp:lastModifiedBy>PptxGenJS</cp:lastModifiedBy>
  <cp:revision>1</cp:revision>
  <dcterms:created xsi:type="dcterms:W3CDTF">2026-10-25T19:18:36Z</dcterms:created>
  <dcterms:modified xsi:type="dcterms:W3CDTF">2026-10-25T19:18:36Z</dcterms:modified>
</cp:coreProperties>
</file>